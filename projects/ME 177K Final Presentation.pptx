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5143500" type="screen16x9"/>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2400" b="0" u="none" strike="noStrike">
                <a:solidFill>
                  <a:srgbClr val="BE5700"/>
                </a:solidFill>
                <a:effectLst/>
                <a:uFillTx/>
                <a:latin typeface="Arial"/>
              </a:rPr>
              <a:t>Click to move the slide</a:t>
            </a: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u="none" strike="noStrike">
                <a:solidFill>
                  <a:srgbClr val="000000"/>
                </a:solidFill>
                <a:effectLst/>
                <a:uFillTx/>
                <a:latin typeface="Arial"/>
              </a:rPr>
              <a:t>Click to edit the notes format</a:t>
            </a:r>
          </a:p>
        </p:txBody>
      </p:sp>
      <p:sp>
        <p:nvSpPr>
          <p:cNvPr id="10"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11"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2"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3"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3CB0B01-F2D7-4EEF-A95A-18BF62D6CEC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326880" y="700200"/>
            <a:ext cx="6203520" cy="3490560"/>
          </a:xfrm>
          <a:prstGeom prst="rect">
            <a:avLst/>
          </a:prstGeom>
          <a:ln w="0">
            <a:noFill/>
          </a:ln>
        </p:spPr>
      </p:sp>
      <p:sp>
        <p:nvSpPr>
          <p:cNvPr id="336"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37" name="PlaceHolder 3"/>
          <p:cNvSpPr>
            <a:spLocks noGrp="1"/>
          </p:cNvSpPr>
          <p:nvPr>
            <p:ph type="sldNum" idx="4"/>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128F646A-207C-4A65-8B58-4A7A5337B4A3}" type="slidenum">
              <a:rPr lang="en-US" sz="1200" b="0" u="none" strike="noStrike">
                <a:solidFill>
                  <a:srgbClr val="000000"/>
                </a:solidFill>
                <a:effectLst/>
                <a:uFillTx/>
                <a:latin typeface="Arial"/>
                <a:ea typeface="ヒラギノ角ゴ Pro W3"/>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326880" y="700200"/>
            <a:ext cx="6203520" cy="3490560"/>
          </a:xfrm>
          <a:prstGeom prst="rect">
            <a:avLst/>
          </a:prstGeom>
          <a:ln w="0">
            <a:noFill/>
          </a:ln>
        </p:spPr>
      </p:sp>
      <p:sp>
        <p:nvSpPr>
          <p:cNvPr id="339"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40" name="PlaceHolder 3"/>
          <p:cNvSpPr>
            <a:spLocks noGrp="1"/>
          </p:cNvSpPr>
          <p:nvPr>
            <p:ph type="sldNum" idx="5"/>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70F1EEAE-AFAE-4471-918F-ADAB0A6627F2}" type="slidenum">
              <a:rPr lang="en-US" sz="1200" b="0" u="none" strike="noStrike">
                <a:solidFill>
                  <a:srgbClr val="000000"/>
                </a:solidFill>
                <a:effectLst/>
                <a:uFillTx/>
                <a:latin typeface="Arial"/>
                <a:ea typeface="ヒラギノ角ゴ Pro W3"/>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326880" y="700200"/>
            <a:ext cx="6203520" cy="3490560"/>
          </a:xfrm>
          <a:prstGeom prst="rect">
            <a:avLst/>
          </a:prstGeom>
          <a:ln w="0">
            <a:noFill/>
          </a:ln>
        </p:spPr>
      </p:sp>
      <p:sp>
        <p:nvSpPr>
          <p:cNvPr id="342"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43" name="PlaceHolder 3"/>
          <p:cNvSpPr>
            <a:spLocks noGrp="1"/>
          </p:cNvSpPr>
          <p:nvPr>
            <p:ph type="sldNum" idx="6"/>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13A4EB08-07B6-4ACB-8DF9-8248CE564611}" type="slidenum">
              <a:rPr lang="en-US" sz="1200" b="0" u="none" strike="noStrike">
                <a:solidFill>
                  <a:srgbClr val="000000"/>
                </a:solidFill>
                <a:effectLst/>
                <a:uFillTx/>
                <a:latin typeface="Arial"/>
                <a:ea typeface="ヒラギノ角ゴ Pro W3"/>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noRot="1" noChangeAspect="1"/>
          </p:cNvSpPr>
          <p:nvPr>
            <p:ph type="sldImg"/>
          </p:nvPr>
        </p:nvSpPr>
        <p:spPr>
          <a:xfrm>
            <a:off x="326880" y="700200"/>
            <a:ext cx="6203520" cy="3490560"/>
          </a:xfrm>
          <a:prstGeom prst="rect">
            <a:avLst/>
          </a:prstGeom>
          <a:ln w="0">
            <a:noFill/>
          </a:ln>
        </p:spPr>
      </p:sp>
      <p:sp>
        <p:nvSpPr>
          <p:cNvPr id="345"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46" name="PlaceHolder 3"/>
          <p:cNvSpPr>
            <a:spLocks noGrp="1"/>
          </p:cNvSpPr>
          <p:nvPr>
            <p:ph type="sldNum" idx="7"/>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89409972-B3E4-4F62-B413-34070CE2CB53}" type="slidenum">
              <a:rPr lang="en-US" sz="1200" b="0" u="none" strike="noStrike">
                <a:solidFill>
                  <a:srgbClr val="000000"/>
                </a:solidFill>
                <a:effectLst/>
                <a:uFillTx/>
                <a:latin typeface="Arial"/>
                <a:ea typeface="ヒラギノ角ゴ Pro W3"/>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noRot="1" noChangeAspect="1"/>
          </p:cNvSpPr>
          <p:nvPr>
            <p:ph type="sldImg"/>
          </p:nvPr>
        </p:nvSpPr>
        <p:spPr>
          <a:xfrm>
            <a:off x="326880" y="700200"/>
            <a:ext cx="6203520" cy="3490560"/>
          </a:xfrm>
          <a:prstGeom prst="rect">
            <a:avLst/>
          </a:prstGeom>
          <a:ln w="0">
            <a:noFill/>
          </a:ln>
        </p:spPr>
      </p:sp>
      <p:sp>
        <p:nvSpPr>
          <p:cNvPr id="348"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49" name="PlaceHolder 3"/>
          <p:cNvSpPr>
            <a:spLocks noGrp="1"/>
          </p:cNvSpPr>
          <p:nvPr>
            <p:ph type="sldNum" idx="8"/>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9CD3BD36-DA32-4D9F-B648-AEB970EC99D7}" type="slidenum">
              <a:rPr lang="en-US" sz="1200" b="0" u="none" strike="noStrike">
                <a:solidFill>
                  <a:srgbClr val="000000"/>
                </a:solidFill>
                <a:effectLst/>
                <a:uFillTx/>
                <a:latin typeface="Arial"/>
                <a:ea typeface="ヒラギノ角ゴ Pro W3"/>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noRot="1" noChangeAspect="1"/>
          </p:cNvSpPr>
          <p:nvPr>
            <p:ph type="sldImg"/>
          </p:nvPr>
        </p:nvSpPr>
        <p:spPr>
          <a:xfrm>
            <a:off x="326880" y="700200"/>
            <a:ext cx="6203520" cy="3490560"/>
          </a:xfrm>
          <a:prstGeom prst="rect">
            <a:avLst/>
          </a:prstGeom>
          <a:ln w="0">
            <a:noFill/>
          </a:ln>
        </p:spPr>
      </p:sp>
      <p:sp>
        <p:nvSpPr>
          <p:cNvPr id="351"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52" name="PlaceHolder 3"/>
          <p:cNvSpPr>
            <a:spLocks noGrp="1"/>
          </p:cNvSpPr>
          <p:nvPr>
            <p:ph type="sldNum" idx="9"/>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2118C29F-6250-457A-987E-FE5DDCE33378}" type="slidenum">
              <a:rPr lang="en-US" sz="1200" b="0" u="none" strike="noStrike">
                <a:solidFill>
                  <a:srgbClr val="000000"/>
                </a:solidFill>
                <a:effectLst/>
                <a:uFillTx/>
                <a:latin typeface="Arial"/>
                <a:ea typeface="ヒラギノ角ゴ Pro W3"/>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noRot="1" noChangeAspect="1"/>
          </p:cNvSpPr>
          <p:nvPr>
            <p:ph type="sldImg"/>
          </p:nvPr>
        </p:nvSpPr>
        <p:spPr>
          <a:xfrm>
            <a:off x="327025" y="700088"/>
            <a:ext cx="6203950" cy="3490912"/>
          </a:xfrm>
          <a:prstGeom prst="rect">
            <a:avLst/>
          </a:prstGeom>
          <a:ln w="0">
            <a:noFill/>
          </a:ln>
        </p:spPr>
      </p:sp>
      <p:sp>
        <p:nvSpPr>
          <p:cNvPr id="354" name="PlaceHolder 2"/>
          <p:cNvSpPr>
            <a:spLocks noGrp="1"/>
          </p:cNvSpPr>
          <p:nvPr>
            <p:ph type="body"/>
          </p:nvPr>
        </p:nvSpPr>
        <p:spPr>
          <a:xfrm>
            <a:off x="685800" y="4424040"/>
            <a:ext cx="5486040" cy="4190760"/>
          </a:xfrm>
          <a:prstGeom prst="rect">
            <a:avLst/>
          </a:prstGeom>
          <a:noFill/>
          <a:ln w="9360">
            <a:noFill/>
          </a:ln>
        </p:spPr>
        <p:txBody>
          <a:bodyPr lIns="91440" tIns="45720" rIns="91440" bIns="45720" numCol="1" spcCol="0" anchor="t">
            <a:noAutofit/>
          </a:bodyPr>
          <a:lstStyle/>
          <a:p>
            <a:pPr marL="216000" indent="-216000">
              <a:buNone/>
            </a:pPr>
            <a:endParaRPr lang="en-US" sz="1800" b="0" u="none" strike="noStrike">
              <a:solidFill>
                <a:srgbClr val="000000"/>
              </a:solidFill>
              <a:effectLst/>
              <a:uFillTx/>
              <a:latin typeface="Arial"/>
            </a:endParaRPr>
          </a:p>
        </p:txBody>
      </p:sp>
      <p:sp>
        <p:nvSpPr>
          <p:cNvPr id="355" name="PlaceHolder 3"/>
          <p:cNvSpPr>
            <a:spLocks noGrp="1"/>
          </p:cNvSpPr>
          <p:nvPr>
            <p:ph type="sldNum" idx="10"/>
          </p:nvPr>
        </p:nvSpPr>
        <p:spPr>
          <a:xfrm>
            <a:off x="3884760" y="8846640"/>
            <a:ext cx="2971440" cy="465480"/>
          </a:xfrm>
          <a:prstGeom prst="rect">
            <a:avLst/>
          </a:prstGeom>
          <a:noFill/>
          <a:ln w="936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Arial"/>
                <a:ea typeface="ヒラギノ角ゴ Pro W3"/>
              </a:defRPr>
            </a:lvl1pPr>
          </a:lstStyle>
          <a:p>
            <a:pPr indent="0" algn="r">
              <a:lnSpc>
                <a:spcPct val="100000"/>
              </a:lnSpc>
              <a:buNone/>
            </a:pPr>
            <a:fld id="{000CA963-C218-4C5D-B804-C6650B3F5444}" type="slidenum">
              <a:rPr lang="en-US" sz="1200" b="0" u="none" strike="noStrike">
                <a:solidFill>
                  <a:srgbClr val="000000"/>
                </a:solidFill>
                <a:effectLst/>
                <a:uFillTx/>
                <a:latin typeface="Arial"/>
                <a:ea typeface="ヒラギノ角ゴ Pro W3"/>
              </a:rPr>
              <a:t>53</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ection Header">
    <p:bg>
      <p:bgPr>
        <a:blipFill rotWithShape="0">
          <a:blip r:embed="rId2"/>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lstStyle/>
          <a:p>
            <a:pPr indent="0">
              <a:lnSpc>
                <a:spcPct val="100000"/>
              </a:lnSpc>
              <a:buNone/>
            </a:pPr>
            <a:r>
              <a:rPr lang="en-US" sz="4000" b="1" u="none" strike="noStrike" cap="all">
                <a:solidFill>
                  <a:srgbClr val="333F48"/>
                </a:solidFill>
                <a:effectLst/>
                <a:uFillTx/>
                <a:latin typeface="Arial"/>
              </a:rPr>
              <a:t>Click to edit Master title style</a:t>
            </a:r>
            <a:endParaRPr lang="en-US" sz="4000" b="0" u="none" strike="noStrike">
              <a:solidFill>
                <a:srgbClr val="BE5700"/>
              </a:solidFill>
              <a:effectLst/>
              <a:uFillTx/>
              <a:latin typeface="Arial"/>
            </a:endParaRPr>
          </a:p>
        </p:txBody>
      </p:sp>
      <p:sp>
        <p:nvSpPr>
          <p:cNvPr id="3" name="PlaceHolder 2"/>
          <p:cNvSpPr>
            <a:spLocks noGrp="1"/>
          </p:cNvSpPr>
          <p:nvPr>
            <p:ph type="body"/>
          </p:nvPr>
        </p:nvSpPr>
        <p:spPr>
          <a:xfrm>
            <a:off x="722160" y="2180160"/>
            <a:ext cx="7772040" cy="1124640"/>
          </a:xfrm>
          <a:prstGeom prst="rect">
            <a:avLst/>
          </a:prstGeom>
          <a:noFill/>
          <a:ln w="0">
            <a:noFill/>
          </a:ln>
        </p:spPr>
        <p:txBody>
          <a:bodyPr lIns="91440" tIns="45720" rIns="91440" bIns="45720" anchor="b">
            <a:noAutofit/>
          </a:bodyPr>
          <a:lstStyle/>
          <a:p>
            <a:pPr marL="432000" indent="-324000">
              <a:lnSpc>
                <a:spcPct val="100000"/>
              </a:lnSpc>
              <a:spcBef>
                <a:spcPts val="400"/>
              </a:spcBef>
              <a:buClr>
                <a:srgbClr val="000000"/>
              </a:buClr>
              <a:buSzPct val="45000"/>
              <a:buFont typeface="Wingdings" charset="2"/>
              <a:buChar char=""/>
              <a:tabLst>
                <a:tab pos="0" algn="l"/>
              </a:tabLst>
            </a:pPr>
            <a:r>
              <a:rPr lang="en-US" sz="2000" b="0" u="none" strike="noStrike">
                <a:solidFill>
                  <a:srgbClr val="333F48"/>
                </a:solidFill>
                <a:effectLst/>
                <a:uFillTx/>
                <a:latin typeface="Aria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Header">
    <p:bg>
      <p:bgPr>
        <a:blipFill rotWithShape="0">
          <a:blip r:embed="rId2"/>
          <a:stretch/>
        </a:blip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22160" y="3305160"/>
            <a:ext cx="7772040" cy="1021320"/>
          </a:xfrm>
          <a:prstGeom prst="rect">
            <a:avLst/>
          </a:prstGeom>
          <a:noFill/>
          <a:ln w="0">
            <a:noFill/>
          </a:ln>
        </p:spPr>
        <p:txBody>
          <a:bodyPr lIns="91440" tIns="45720" rIns="91440" bIns="45720" anchor="t">
            <a:noAutofit/>
          </a:bodyPr>
          <a:lstStyle/>
          <a:p>
            <a:pPr indent="0">
              <a:lnSpc>
                <a:spcPct val="100000"/>
              </a:lnSpc>
              <a:buNone/>
            </a:pPr>
            <a:r>
              <a:rPr lang="en-US" sz="4000" b="1" u="none" strike="noStrike" cap="all">
                <a:solidFill>
                  <a:srgbClr val="333F48"/>
                </a:solidFill>
                <a:effectLst/>
                <a:uFillTx/>
                <a:latin typeface="Arial"/>
              </a:rPr>
              <a:t>Click to edit Master title style</a:t>
            </a:r>
            <a:endParaRPr lang="en-US" sz="4000" b="0" u="none" strike="noStrike">
              <a:solidFill>
                <a:srgbClr val="BE5700"/>
              </a:solidFill>
              <a:effectLst/>
              <a:uFillTx/>
              <a:latin typeface="Arial"/>
            </a:endParaRPr>
          </a:p>
        </p:txBody>
      </p:sp>
      <p:sp>
        <p:nvSpPr>
          <p:cNvPr id="5" name="PlaceHolder 2"/>
          <p:cNvSpPr>
            <a:spLocks noGrp="1"/>
          </p:cNvSpPr>
          <p:nvPr>
            <p:ph type="body"/>
          </p:nvPr>
        </p:nvSpPr>
        <p:spPr>
          <a:xfrm>
            <a:off x="722160" y="2180160"/>
            <a:ext cx="7772040" cy="1124640"/>
          </a:xfrm>
          <a:prstGeom prst="rect">
            <a:avLst/>
          </a:prstGeom>
          <a:noFill/>
          <a:ln w="0">
            <a:noFill/>
          </a:ln>
        </p:spPr>
        <p:txBody>
          <a:bodyPr lIns="91440" tIns="45720" rIns="91440" bIns="45720" anchor="b">
            <a:noAutofit/>
          </a:bodyPr>
          <a:lstStyle/>
          <a:p>
            <a:pPr marL="432000" indent="-324000">
              <a:lnSpc>
                <a:spcPct val="100000"/>
              </a:lnSpc>
              <a:spcBef>
                <a:spcPts val="400"/>
              </a:spcBef>
              <a:buClr>
                <a:srgbClr val="000000"/>
              </a:buClr>
              <a:buSzPct val="45000"/>
              <a:buFont typeface="Wingdings" charset="2"/>
              <a:buChar char=""/>
              <a:tabLst>
                <a:tab pos="0" algn="l"/>
              </a:tabLst>
            </a:pPr>
            <a:r>
              <a:rPr lang="en-US" sz="2000" b="0" u="none" strike="noStrike">
                <a:solidFill>
                  <a:srgbClr val="333F48"/>
                </a:solidFill>
                <a:effectLst/>
                <a:uFillTx/>
                <a:latin typeface="Arial"/>
              </a:rPr>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0" u="none" strike="noStrike">
                <a:solidFill>
                  <a:srgbClr val="333F48"/>
                </a:solidFill>
                <a:effectLst/>
                <a:uFillTx/>
                <a:latin typeface="Arial"/>
              </a:rPr>
              <a:t>Click to edit Master title style</a:t>
            </a:r>
            <a:endParaRPr lang="en-US" sz="4400" b="0" u="none" strike="noStrike">
              <a:solidFill>
                <a:srgbClr val="BE5700"/>
              </a:solidFill>
              <a:effectLst/>
              <a:uFillTx/>
              <a:latin typeface="Arial"/>
            </a:endParaRPr>
          </a:p>
        </p:txBody>
      </p:sp>
      <p:sp>
        <p:nvSpPr>
          <p:cNvPr id="7" name="PlaceHolder 2"/>
          <p:cNvSpPr>
            <a:spLocks noGrp="1"/>
          </p:cNvSpPr>
          <p:nvPr>
            <p:ph type="body"/>
          </p:nvPr>
        </p:nvSpPr>
        <p:spPr>
          <a:xfrm>
            <a:off x="457200" y="1682640"/>
            <a:ext cx="8229240" cy="2914200"/>
          </a:xfrm>
          <a:prstGeom prst="rect">
            <a:avLst/>
          </a:prstGeom>
          <a:noFill/>
          <a:ln w="0">
            <a:noFill/>
          </a:ln>
        </p:spPr>
        <p:txBody>
          <a:bodyPr lIns="91440" tIns="45720" rIns="91440" bIns="45720" anchor="t">
            <a:noAutofit/>
          </a:bodyPr>
          <a:lstStyle/>
          <a:p>
            <a:pPr marL="432000" indent="-324000">
              <a:lnSpc>
                <a:spcPct val="100000"/>
              </a:lnSpc>
              <a:spcBef>
                <a:spcPts val="641"/>
              </a:spcBef>
              <a:buClr>
                <a:srgbClr val="000000"/>
              </a:buClr>
              <a:buSzPct val="45000"/>
              <a:buFont typeface="Wingdings" charset="2"/>
              <a:buChar char=""/>
            </a:pPr>
            <a:r>
              <a:rPr lang="en-US" sz="3200" b="0" u="none" strike="noStrike">
                <a:solidFill>
                  <a:srgbClr val="333F48"/>
                </a:solidFill>
                <a:effectLst/>
                <a:uFillTx/>
                <a:latin typeface="Arial"/>
              </a:rPr>
              <a:t>Click to edit Master text styles</a:t>
            </a:r>
          </a:p>
          <a:p>
            <a:pPr marL="864000" lvl="1" indent="-324000">
              <a:lnSpc>
                <a:spcPct val="100000"/>
              </a:lnSpc>
              <a:spcBef>
                <a:spcPts val="561"/>
              </a:spcBef>
              <a:buClr>
                <a:srgbClr val="000000"/>
              </a:buClr>
              <a:buSzPct val="75000"/>
              <a:buFont typeface="Symbol" charset="2"/>
              <a:buChar char=""/>
            </a:pPr>
            <a:r>
              <a:rPr lang="en-US" sz="2800" b="0" u="none" strike="noStrike">
                <a:solidFill>
                  <a:srgbClr val="333F48"/>
                </a:solidFill>
                <a:effectLst/>
                <a:uFillTx/>
                <a:latin typeface="Arial"/>
              </a:rPr>
              <a:t>Second level</a:t>
            </a:r>
          </a:p>
          <a:p>
            <a:pPr marL="1296000" lvl="2" indent="-288000">
              <a:lnSpc>
                <a:spcPct val="100000"/>
              </a:lnSpc>
              <a:spcBef>
                <a:spcPts val="479"/>
              </a:spcBef>
              <a:buClr>
                <a:srgbClr val="000000"/>
              </a:buClr>
              <a:buSzPct val="45000"/>
              <a:buFont typeface="Wingdings" charset="2"/>
              <a:buChar char=""/>
            </a:pPr>
            <a:r>
              <a:rPr lang="en-US" sz="2400" b="0" u="none" strike="noStrike">
                <a:solidFill>
                  <a:srgbClr val="333F48"/>
                </a:solidFill>
                <a:effectLst/>
                <a:uFillTx/>
                <a:latin typeface="Arial"/>
              </a:rPr>
              <a:t>Third level</a:t>
            </a:r>
          </a:p>
          <a:p>
            <a:pPr marL="1728000" lvl="3" indent="-216000">
              <a:lnSpc>
                <a:spcPct val="100000"/>
              </a:lnSpc>
              <a:spcBef>
                <a:spcPts val="400"/>
              </a:spcBef>
              <a:buClr>
                <a:srgbClr val="000000"/>
              </a:buClr>
              <a:buSzPct val="75000"/>
              <a:buFont typeface="Symbol" charset="2"/>
              <a:buChar char=""/>
            </a:pPr>
            <a:r>
              <a:rPr lang="en-US" sz="2000" b="0" u="none" strike="noStrike">
                <a:solidFill>
                  <a:srgbClr val="333F48"/>
                </a:solidFill>
                <a:effectLst/>
                <a:uFillTx/>
                <a:latin typeface="Arial"/>
              </a:rPr>
              <a:t>Fourth level</a:t>
            </a:r>
          </a:p>
          <a:p>
            <a:pPr marL="2160000" lvl="4" indent="-216000">
              <a:lnSpc>
                <a:spcPct val="100000"/>
              </a:lnSpc>
              <a:spcBef>
                <a:spcPts val="400"/>
              </a:spcBef>
              <a:buClr>
                <a:srgbClr val="000000"/>
              </a:buClr>
              <a:buSzPct val="45000"/>
              <a:buFont typeface="Wingdings" charset="2"/>
              <a:buChar char=""/>
            </a:pPr>
            <a:r>
              <a:rPr lang="en-US" sz="2000" b="0" u="none" strike="noStrike">
                <a:solidFill>
                  <a:srgbClr val="333F48"/>
                </a:solidFill>
                <a:effectLst/>
                <a:uFillTx/>
                <a:latin typeface="Arial"/>
              </a:rPr>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Layout" Target="../slideLayouts/slideLayout3.xml"/><Relationship Id="rId5" Type="http://schemas.openxmlformats.org/officeDocument/2006/relationships/image" Target="../media/image20.svg"/><Relationship Id="rId4"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file:///C:\Users\aksaf\Downloads\MPPI_Covariance_Proof.pdf"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3.xml"/><Relationship Id="rId5" Type="http://schemas.openxmlformats.org/officeDocument/2006/relationships/image" Target="../media/image32.svg"/><Relationship Id="rId4" Type="http://schemas.openxmlformats.org/officeDocument/2006/relationships/image" Target="../media/image31.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slideLayout" Target="../slideLayouts/slideLayout3.xml"/><Relationship Id="rId5" Type="http://schemas.openxmlformats.org/officeDocument/2006/relationships/image" Target="../media/image39.svg"/><Relationship Id="rId4" Type="http://schemas.openxmlformats.org/officeDocument/2006/relationships/image" Target="../media/image38.sv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3.xml"/><Relationship Id="rId5" Type="http://schemas.openxmlformats.org/officeDocument/2006/relationships/image" Target="../media/image48.svg"/><Relationship Id="rId4" Type="http://schemas.openxmlformats.org/officeDocument/2006/relationships/image" Target="../media/image47.svg"/></Relationships>
</file>

<file path=ppt/slides/_rels/slide4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slideLayout" Target="../slideLayouts/slideLayout3.xml"/><Relationship Id="rId4" Type="http://schemas.openxmlformats.org/officeDocument/2006/relationships/image" Target="../media/image51.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microsoft.com/office/2007/relationships/media" Target="../media/media2.mp4"/><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2.png"/><Relationship Id="rId5" Type="http://schemas.openxmlformats.org/officeDocument/2006/relationships/slideLayout" Target="../slideLayouts/slideLayout3.xml"/><Relationship Id="rId4" Type="http://schemas.openxmlformats.org/officeDocument/2006/relationships/video" Target="../media/media2.mp4"/></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microsoft.com/office/2007/relationships/media" Target="../media/media4.mp4"/><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52.png"/><Relationship Id="rId5" Type="http://schemas.openxmlformats.org/officeDocument/2006/relationships/slideLayout" Target="../slideLayouts/slideLayout3.xml"/><Relationship Id="rId4" Type="http://schemas.openxmlformats.org/officeDocument/2006/relationships/video" Target="../media/media4.mp4"/></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hyperlink" Target="https://doi.org/10.1016/j.rineng.2025.107750" TargetMode="Externa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14" name="Straight Connector 9"/>
          <p:cNvCxnSpPr/>
          <p:nvPr/>
        </p:nvCxnSpPr>
        <p:spPr>
          <a:xfrm>
            <a:off x="628560" y="3105000"/>
            <a:ext cx="5619960" cy="360"/>
          </a:xfrm>
          <a:prstGeom prst="straightConnector1">
            <a:avLst/>
          </a:prstGeom>
          <a:ln w="19080">
            <a:solidFill>
              <a:srgbClr val="FFFFFF"/>
            </a:solidFill>
            <a:round/>
          </a:ln>
        </p:spPr>
      </p:cxnSp>
      <p:sp>
        <p:nvSpPr>
          <p:cNvPr id="15" name="Text Placeholder 9"/>
          <p:cNvSpPr/>
          <p:nvPr/>
        </p:nvSpPr>
        <p:spPr>
          <a:xfrm>
            <a:off x="548640" y="4114800"/>
            <a:ext cx="7886520" cy="45684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ct val="50000"/>
              </a:lnSpc>
              <a:spcBef>
                <a:spcPts val="1001"/>
              </a:spcBef>
              <a:tabLst>
                <a:tab pos="0" algn="l"/>
              </a:tabLst>
            </a:pPr>
            <a:r>
              <a:rPr lang="en-US" sz="1050" b="0" u="none" strike="noStrike" cap="all">
                <a:solidFill>
                  <a:srgbClr val="FFFFFF"/>
                </a:solidFill>
                <a:effectLst/>
                <a:uFillTx/>
                <a:latin typeface="Arial Black"/>
                <a:ea typeface="Arial"/>
              </a:rPr>
              <a:t>Akhil Gharpurey</a:t>
            </a:r>
            <a:endParaRPr lang="en-US" sz="1050" b="0" u="none" strike="noStrike">
              <a:solidFill>
                <a:srgbClr val="FFFFFF"/>
              </a:solidFill>
              <a:effectLst/>
              <a:uFillTx/>
              <a:latin typeface="Arial"/>
            </a:endParaRPr>
          </a:p>
          <a:p>
            <a:pPr>
              <a:lnSpc>
                <a:spcPct val="30000"/>
              </a:lnSpc>
              <a:spcBef>
                <a:spcPts val="1001"/>
              </a:spcBef>
              <a:tabLst>
                <a:tab pos="0" algn="l"/>
              </a:tabLst>
            </a:pPr>
            <a:r>
              <a:rPr lang="en-US" sz="1050" b="0" u="none" strike="noStrike">
                <a:solidFill>
                  <a:srgbClr val="FFFFFF"/>
                </a:solidFill>
                <a:effectLst/>
                <a:uFillTx/>
                <a:latin typeface="Arial"/>
                <a:ea typeface="Arial"/>
              </a:rPr>
              <a:t>Undergraduate Research Assistant – Bakolas Research Group</a:t>
            </a:r>
            <a:endParaRPr lang="en-US" sz="1050" b="0" u="none" strike="noStrike">
              <a:solidFill>
                <a:srgbClr val="FFFFFF"/>
              </a:solidFill>
              <a:effectLst/>
              <a:uFillTx/>
              <a:latin typeface="Arial"/>
            </a:endParaRPr>
          </a:p>
          <a:p>
            <a:pPr>
              <a:lnSpc>
                <a:spcPct val="30000"/>
              </a:lnSpc>
              <a:spcBef>
                <a:spcPts val="1001"/>
              </a:spcBef>
              <a:tabLst>
                <a:tab pos="0" algn="l"/>
              </a:tabLst>
            </a:pPr>
            <a:r>
              <a:rPr lang="en-US" sz="1050" b="0" u="none" strike="noStrike">
                <a:solidFill>
                  <a:srgbClr val="FFFFFF"/>
                </a:solidFill>
                <a:effectLst/>
                <a:uFillTx/>
                <a:latin typeface="Arial"/>
                <a:ea typeface="Arial"/>
              </a:rPr>
              <a:t>Department of Aerospace Engineering and Engineering Mechanics, The University of Texas at Austin</a:t>
            </a:r>
            <a:endParaRPr lang="en-US" sz="1050" b="0" u="none" strike="noStrike">
              <a:solidFill>
                <a:srgbClr val="FFFFFF"/>
              </a:solidFill>
              <a:effectLst/>
              <a:uFillTx/>
              <a:latin typeface="Arial"/>
            </a:endParaRPr>
          </a:p>
        </p:txBody>
      </p:sp>
      <p:sp>
        <p:nvSpPr>
          <p:cNvPr id="16" name="Text Placeholder 9"/>
          <p:cNvSpPr/>
          <p:nvPr/>
        </p:nvSpPr>
        <p:spPr>
          <a:xfrm>
            <a:off x="548640" y="457200"/>
            <a:ext cx="7828200" cy="3888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nSpc>
                <a:spcPct val="90000"/>
              </a:lnSpc>
              <a:spcBef>
                <a:spcPts val="1001"/>
              </a:spcBef>
              <a:tabLst>
                <a:tab pos="0" algn="l"/>
              </a:tabLst>
            </a:pPr>
            <a:r>
              <a:rPr lang="en-US" sz="1200" b="0" u="none" strike="noStrike" cap="all">
                <a:solidFill>
                  <a:srgbClr val="FFFFFF"/>
                </a:solidFill>
                <a:effectLst/>
                <a:uFillTx/>
                <a:latin typeface="Arial Black"/>
                <a:ea typeface="Arial"/>
              </a:rPr>
              <a:t>APRIL 2026</a:t>
            </a:r>
            <a:endParaRPr lang="en-US" sz="1200" b="0" u="none" strike="noStrike">
              <a:solidFill>
                <a:srgbClr val="FFFFFF"/>
              </a:solidFill>
              <a:effectLst/>
              <a:uFillTx/>
              <a:latin typeface="Arial"/>
            </a:endParaRPr>
          </a:p>
        </p:txBody>
      </p:sp>
      <p:sp>
        <p:nvSpPr>
          <p:cNvPr id="17" name="Title Placeholder 7"/>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Terrain-aware model-predictive path integral control</a:t>
            </a:r>
            <a:endParaRPr lang="en-US" sz="4800" b="0" u="none" strike="noStrike">
              <a:solidFill>
                <a:srgbClr val="FFFFFF"/>
              </a:solidFill>
              <a:effectLst/>
              <a:uFillTx/>
              <a:latin typeface="Arial"/>
            </a:endParaRPr>
          </a:p>
        </p:txBody>
      </p:sp>
      <p:sp>
        <p:nvSpPr>
          <p:cNvPr id="18" name="Text Placeholder 9"/>
          <p:cNvSpPr/>
          <p:nvPr/>
        </p:nvSpPr>
        <p:spPr>
          <a:xfrm>
            <a:off x="548640" y="3333600"/>
            <a:ext cx="7886520" cy="4568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nSpc>
                <a:spcPct val="90000"/>
              </a:lnSpc>
              <a:spcBef>
                <a:spcPts val="1001"/>
              </a:spcBef>
              <a:tabLst>
                <a:tab pos="0" algn="l"/>
              </a:tabLst>
            </a:pPr>
            <a:r>
              <a:rPr lang="en-US" sz="1400" b="0" u="none" strike="noStrike">
                <a:solidFill>
                  <a:srgbClr val="FFFFFF"/>
                </a:solidFill>
                <a:effectLst/>
                <a:uFillTx/>
                <a:latin typeface="Arial"/>
                <a:ea typeface="Arial"/>
              </a:rPr>
              <a:t>M E 177K Final Deliverable</a:t>
            </a:r>
            <a:endParaRPr lang="en-US" sz="1400" b="0" u="none" strike="noStrike">
              <a:solidFill>
                <a:srgbClr val="FFFFFF"/>
              </a:solidFill>
              <a:effectLst/>
              <a:uFillTx/>
              <a:latin typeface="Arial"/>
            </a:endParaRPr>
          </a:p>
        </p:txBody>
      </p:sp>
      <p:pic>
        <p:nvPicPr>
          <p:cNvPr id="19" name="Picture 15"/>
          <p:cNvPicPr/>
          <p:nvPr/>
        </p:nvPicPr>
        <p:blipFill>
          <a:blip r:embed="rId4"/>
          <a:stretch/>
        </p:blipFill>
        <p:spPr>
          <a:xfrm>
            <a:off x="6978600" y="320040"/>
            <a:ext cx="1877040" cy="91404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Contents</a:t>
            </a:r>
            <a:endParaRPr lang="en-US" sz="4400" b="0" u="none" strike="noStrike">
              <a:solidFill>
                <a:srgbClr val="BE5700"/>
              </a:solidFill>
              <a:effectLst/>
              <a:uFillTx/>
              <a:latin typeface="Arial"/>
            </a:endParaRPr>
          </a:p>
        </p:txBody>
      </p:sp>
      <p:sp>
        <p:nvSpPr>
          <p:cNvPr id="21" name="PlaceHolder 2"/>
          <p:cNvSpPr>
            <a:spLocks noGrp="1"/>
          </p:cNvSpPr>
          <p:nvPr>
            <p:ph/>
          </p:nvPr>
        </p:nvSpPr>
        <p:spPr>
          <a:xfrm>
            <a:off x="457200" y="1682640"/>
            <a:ext cx="8229240" cy="2914200"/>
          </a:xfrm>
          <a:prstGeom prst="rect">
            <a:avLst/>
          </a:prstGeom>
          <a:noFill/>
          <a:ln w="0">
            <a:noFill/>
          </a:ln>
        </p:spPr>
        <p:txBody>
          <a:bodyPr lIns="91440" tIns="45720" rIns="91440" bIns="45720" anchor="t">
            <a:noAutofit/>
          </a:bodyPr>
          <a:lstStyle/>
          <a:p>
            <a:pPr marL="343080" indent="-343080">
              <a:lnSpc>
                <a:spcPct val="100000"/>
              </a:lnSpc>
              <a:spcBef>
                <a:spcPts val="641"/>
              </a:spcBef>
              <a:buClr>
                <a:srgbClr val="333F48"/>
              </a:buClr>
              <a:buFont typeface="OpenSymbol"/>
              <a:buAutoNum type="arabicParenR"/>
            </a:pPr>
            <a:r>
              <a:rPr lang="en-US" sz="3200" b="0" u="none" strike="noStrike">
                <a:solidFill>
                  <a:srgbClr val="333F48"/>
                </a:solidFill>
                <a:effectLst/>
                <a:uFillTx/>
                <a:latin typeface="Arial"/>
              </a:rPr>
              <a:t> Overview</a:t>
            </a:r>
          </a:p>
          <a:p>
            <a:pPr marL="343080" indent="-343080">
              <a:lnSpc>
                <a:spcPct val="100000"/>
              </a:lnSpc>
              <a:spcBef>
                <a:spcPts val="641"/>
              </a:spcBef>
              <a:buClr>
                <a:srgbClr val="333F48"/>
              </a:buClr>
              <a:buFont typeface="OpenSymbol"/>
              <a:buAutoNum type="arabicParenR"/>
            </a:pPr>
            <a:r>
              <a:rPr lang="en-US" sz="3200" b="0" u="none" strike="noStrike">
                <a:solidFill>
                  <a:srgbClr val="333F48"/>
                </a:solidFill>
                <a:effectLst/>
                <a:uFillTx/>
                <a:latin typeface="Arial"/>
              </a:rPr>
              <a:t> Model-Predictive Path Integral Control</a:t>
            </a:r>
          </a:p>
          <a:p>
            <a:pPr marL="343080" indent="-343080">
              <a:lnSpc>
                <a:spcPct val="100000"/>
              </a:lnSpc>
              <a:spcBef>
                <a:spcPts val="641"/>
              </a:spcBef>
              <a:buClr>
                <a:srgbClr val="333F48"/>
              </a:buClr>
              <a:buFont typeface="OpenSymbol"/>
              <a:buAutoNum type="arabicParenR"/>
            </a:pPr>
            <a:r>
              <a:rPr lang="en-US" sz="3200" b="0" u="none" strike="noStrike">
                <a:solidFill>
                  <a:srgbClr val="333F48"/>
                </a:solidFill>
                <a:effectLst/>
                <a:uFillTx/>
                <a:latin typeface="Arial"/>
              </a:rPr>
              <a:t> Dynamic Obstacle Handling</a:t>
            </a:r>
          </a:p>
          <a:p>
            <a:pPr marL="343080" indent="-343080">
              <a:lnSpc>
                <a:spcPct val="100000"/>
              </a:lnSpc>
              <a:spcBef>
                <a:spcPts val="641"/>
              </a:spcBef>
              <a:buClr>
                <a:srgbClr val="333F48"/>
              </a:buClr>
              <a:buFont typeface="OpenSymbol"/>
              <a:buAutoNum type="arabicParenR"/>
            </a:pPr>
            <a:r>
              <a:rPr lang="en-US" sz="3200" b="0" u="none" strike="noStrike">
                <a:solidFill>
                  <a:srgbClr val="333F48"/>
                </a:solidFill>
                <a:effectLst/>
                <a:uFillTx/>
                <a:latin typeface="Arial"/>
              </a:rPr>
              <a:t> Terrain Perception and Evaluation</a:t>
            </a:r>
          </a:p>
          <a:p>
            <a:pPr marL="343080" indent="-343080">
              <a:lnSpc>
                <a:spcPct val="100000"/>
              </a:lnSpc>
              <a:spcBef>
                <a:spcPts val="641"/>
              </a:spcBef>
              <a:buClr>
                <a:srgbClr val="333F48"/>
              </a:buClr>
              <a:buFont typeface="OpenSymbol"/>
              <a:buAutoNum type="arabicParenR"/>
            </a:pPr>
            <a:r>
              <a:rPr lang="en-US" sz="3200" b="0" u="none" strike="noStrike">
                <a:solidFill>
                  <a:srgbClr val="333F48"/>
                </a:solidFill>
                <a:effectLst/>
                <a:uFillTx/>
                <a:latin typeface="Arial"/>
              </a:rPr>
              <a:t> Simulation and Results</a:t>
            </a:r>
          </a:p>
        </p:txBody>
      </p:sp>
      <p:sp>
        <p:nvSpPr>
          <p:cNvPr id="22" name="TextBox 21"/>
          <p:cNvSpPr txBox="1"/>
          <p:nvPr/>
        </p:nvSpPr>
        <p:spPr>
          <a:xfrm>
            <a:off x="8511840" y="4596840"/>
            <a:ext cx="3832560" cy="427320"/>
          </a:xfrm>
          <a:prstGeom prst="rect">
            <a:avLst/>
          </a:prstGeom>
          <a:noFill/>
          <a:ln w="0">
            <a:noFill/>
          </a:ln>
        </p:spPr>
        <p:txBody>
          <a:bodyPr wrap="none" lIns="90000" tIns="45000" rIns="90000" bIns="45000" anchor="t">
            <a:spAutoFit/>
          </a:bodyPr>
          <a:lstStyle/>
          <a:p>
            <a:fld id="{0999BAE9-5375-4D26-985A-DDCC79859627}" type="slidenum">
              <a:rPr lang="en-US" sz="1800" b="0" u="none" strike="noStrike">
                <a:solidFill>
                  <a:srgbClr val="000000"/>
                </a:solidFill>
                <a:effectLst/>
                <a:uFillTx/>
                <a:latin typeface="Arial"/>
              </a:rPr>
              <a:t>2</a:t>
            </a:fld>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23" name="Straight Connector 1"/>
          <p:cNvCxnSpPr/>
          <p:nvPr/>
        </p:nvCxnSpPr>
        <p:spPr>
          <a:xfrm>
            <a:off x="628560" y="3105000"/>
            <a:ext cx="5619960" cy="360"/>
          </a:xfrm>
          <a:prstGeom prst="straightConnector1">
            <a:avLst/>
          </a:prstGeom>
          <a:ln w="19080">
            <a:solidFill>
              <a:srgbClr val="FFFFFF"/>
            </a:solidFill>
            <a:round/>
          </a:ln>
        </p:spPr>
      </p:cxnSp>
      <p:sp>
        <p:nvSpPr>
          <p:cNvPr id="24" name="Title Placeholder 2"/>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Introduction</a:t>
            </a:r>
            <a:endParaRPr lang="en-US" sz="4800" b="0" u="none" strike="noStrike">
              <a:solidFill>
                <a:srgbClr val="FFFFFF"/>
              </a:solidFill>
              <a:effectLst/>
              <a:uFillTx/>
              <a:latin typeface="Arial"/>
            </a:endParaRPr>
          </a:p>
        </p:txBody>
      </p:sp>
      <p:sp>
        <p:nvSpPr>
          <p:cNvPr id="25" name="Text Placeholder 6"/>
          <p:cNvSpPr/>
          <p:nvPr/>
        </p:nvSpPr>
        <p:spPr>
          <a:xfrm>
            <a:off x="548640" y="3333600"/>
            <a:ext cx="7886520" cy="4568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nSpc>
                <a:spcPct val="90000"/>
              </a:lnSpc>
              <a:spcBef>
                <a:spcPts val="1001"/>
              </a:spcBef>
              <a:tabLst>
                <a:tab pos="0" algn="l"/>
              </a:tabLst>
            </a:pPr>
            <a:r>
              <a:rPr lang="en-US" sz="1400" b="0" u="none" strike="noStrike">
                <a:solidFill>
                  <a:srgbClr val="FFFFFF"/>
                </a:solidFill>
                <a:effectLst/>
                <a:uFillTx/>
                <a:latin typeface="Arial"/>
                <a:ea typeface="Arial"/>
              </a:rPr>
              <a:t>Introduction to Autonomous Navigation and Path Planning</a:t>
            </a:r>
            <a:endParaRPr lang="en-US" sz="14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Overview</a:t>
            </a:r>
            <a:endParaRPr lang="en-US" sz="4400" b="0" u="none" strike="noStrike">
              <a:solidFill>
                <a:srgbClr val="BE5700"/>
              </a:solidFill>
              <a:effectLst/>
              <a:uFillTx/>
              <a:latin typeface="Arial"/>
            </a:endParaRPr>
          </a:p>
        </p:txBody>
      </p:sp>
      <p:sp>
        <p:nvSpPr>
          <p:cNvPr id="27" name="PlaceHolder 2"/>
          <p:cNvSpPr>
            <a:spLocks noGrp="1"/>
          </p:cNvSpPr>
          <p:nvPr>
            <p:ph/>
          </p:nvPr>
        </p:nvSpPr>
        <p:spPr>
          <a:xfrm>
            <a:off x="457200" y="1682640"/>
            <a:ext cx="84582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Aim to solve the autonomous navigation problem</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Goal: reach a desired position from a given start position while minimizing some performance index</a:t>
            </a:r>
          </a:p>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Problem extends to various applications, such as package delivery and planetary navigation</a:t>
            </a:r>
          </a:p>
        </p:txBody>
      </p:sp>
      <p:sp>
        <p:nvSpPr>
          <p:cNvPr id="28" name="TextBox 27"/>
          <p:cNvSpPr txBox="1"/>
          <p:nvPr/>
        </p:nvSpPr>
        <p:spPr>
          <a:xfrm>
            <a:off x="8512920" y="4596840"/>
            <a:ext cx="3832560" cy="427320"/>
          </a:xfrm>
          <a:prstGeom prst="rect">
            <a:avLst/>
          </a:prstGeom>
          <a:noFill/>
          <a:ln w="0">
            <a:noFill/>
          </a:ln>
        </p:spPr>
        <p:txBody>
          <a:bodyPr wrap="none" lIns="90000" tIns="45000" rIns="90000" bIns="45000" anchor="t">
            <a:spAutoFit/>
          </a:bodyPr>
          <a:lstStyle/>
          <a:p>
            <a:fld id="{B24174B5-0662-4D58-B801-434566D66746}" type="slidenum">
              <a:rPr lang="en-US" sz="1800" b="0" u="none" strike="noStrike">
                <a:solidFill>
                  <a:srgbClr val="000000"/>
                </a:solidFill>
                <a:effectLst/>
                <a:uFillTx/>
                <a:latin typeface="Arial"/>
              </a:rPr>
              <a:t>4</a:t>
            </a:fld>
            <a:endParaRPr lang="en-US"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Existing Solutions (1)</a:t>
            </a:r>
            <a:endParaRPr lang="en-US" sz="4400" b="0" u="none" strike="noStrike">
              <a:solidFill>
                <a:srgbClr val="BE5700"/>
              </a:solidFill>
              <a:effectLst/>
              <a:uFillTx/>
              <a:latin typeface="Arial"/>
            </a:endParaRPr>
          </a:p>
        </p:txBody>
      </p:sp>
      <p:sp>
        <p:nvSpPr>
          <p:cNvPr id="30" name="PlaceHolder 2"/>
          <p:cNvSpPr>
            <a:spLocks noGrp="1"/>
          </p:cNvSpPr>
          <p:nvPr>
            <p:ph/>
          </p:nvPr>
        </p:nvSpPr>
        <p:spPr>
          <a:xfrm>
            <a:off x="457200" y="1682640"/>
            <a:ext cx="45720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Path Planning Algorithms [1]</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A*: Finds optimal path from start to end goal via heuristics</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Does not do any local online motion planning</a:t>
            </a:r>
          </a:p>
        </p:txBody>
      </p:sp>
      <p:sp>
        <p:nvSpPr>
          <p:cNvPr id="31" name="TextBox 30"/>
          <p:cNvSpPr txBox="1"/>
          <p:nvPr/>
        </p:nvSpPr>
        <p:spPr>
          <a:xfrm>
            <a:off x="8512920" y="4599360"/>
            <a:ext cx="3832560" cy="427320"/>
          </a:xfrm>
          <a:prstGeom prst="rect">
            <a:avLst/>
          </a:prstGeom>
          <a:noFill/>
          <a:ln w="0">
            <a:noFill/>
          </a:ln>
        </p:spPr>
        <p:txBody>
          <a:bodyPr wrap="none" lIns="90000" tIns="45000" rIns="90000" bIns="45000" anchor="t">
            <a:spAutoFit/>
          </a:bodyPr>
          <a:lstStyle/>
          <a:p>
            <a:fld id="{A2E211FD-74AB-447B-8552-A871E466C6E7}" type="slidenum">
              <a:rPr lang="en-US" sz="1800" b="0" u="none" strike="noStrike">
                <a:solidFill>
                  <a:srgbClr val="000000"/>
                </a:solidFill>
                <a:effectLst/>
                <a:uFillTx/>
                <a:latin typeface="Arial"/>
              </a:rPr>
              <a:t>5</a:t>
            </a:fld>
            <a:endParaRPr lang="en-US" sz="1800" b="0" u="none" strike="noStrike">
              <a:solidFill>
                <a:srgbClr val="000000"/>
              </a:solidFill>
              <a:effectLst/>
              <a:uFillTx/>
              <a:latin typeface="Arial"/>
            </a:endParaRPr>
          </a:p>
        </p:txBody>
      </p:sp>
      <p:pic>
        <p:nvPicPr>
          <p:cNvPr id="32" name="Picture 31"/>
          <p:cNvPicPr/>
          <p:nvPr/>
        </p:nvPicPr>
        <p:blipFill>
          <a:blip r:embed="rId2"/>
          <a:stretch/>
        </p:blipFill>
        <p:spPr>
          <a:xfrm>
            <a:off x="5308560" y="1600200"/>
            <a:ext cx="2921040" cy="2756160"/>
          </a:xfrm>
          <a:prstGeom prst="rect">
            <a:avLst/>
          </a:prstGeom>
          <a:noFill/>
          <a:ln w="0">
            <a:noFill/>
          </a:ln>
        </p:spPr>
      </p:pic>
      <p:sp>
        <p:nvSpPr>
          <p:cNvPr id="33" name="TextBox 32"/>
          <p:cNvSpPr txBox="1"/>
          <p:nvPr/>
        </p:nvSpPr>
        <p:spPr>
          <a:xfrm>
            <a:off x="5246280" y="4539600"/>
            <a:ext cx="3200400" cy="26100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 A* Path Planning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Existing Solutions (2)</a:t>
            </a:r>
            <a:endParaRPr lang="en-US" sz="4400" b="0" u="none" strike="noStrike">
              <a:solidFill>
                <a:srgbClr val="BE5700"/>
              </a:solidFill>
              <a:effectLst/>
              <a:uFillTx/>
              <a:latin typeface="Arial"/>
            </a:endParaRPr>
          </a:p>
        </p:txBody>
      </p:sp>
      <p:sp>
        <p:nvSpPr>
          <p:cNvPr id="35" name="PlaceHolder 2"/>
          <p:cNvSpPr>
            <a:spLocks noGrp="1"/>
          </p:cNvSpPr>
          <p:nvPr>
            <p:ph/>
          </p:nvPr>
        </p:nvSpPr>
        <p:spPr>
          <a:xfrm>
            <a:off x="457200" y="1682640"/>
            <a:ext cx="43434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Reinforcement Learning [1]</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Iteratively learns the correct path to take</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Difficult to deploy in real-time scenarios</a:t>
            </a:r>
          </a:p>
        </p:txBody>
      </p:sp>
      <p:sp>
        <p:nvSpPr>
          <p:cNvPr id="36" name="TextBox 35"/>
          <p:cNvSpPr txBox="1"/>
          <p:nvPr/>
        </p:nvSpPr>
        <p:spPr>
          <a:xfrm>
            <a:off x="8512920" y="4599360"/>
            <a:ext cx="3832560" cy="427320"/>
          </a:xfrm>
          <a:prstGeom prst="rect">
            <a:avLst/>
          </a:prstGeom>
          <a:noFill/>
          <a:ln w="0">
            <a:noFill/>
          </a:ln>
        </p:spPr>
        <p:txBody>
          <a:bodyPr wrap="none" lIns="90000" tIns="45000" rIns="90000" bIns="45000" anchor="t">
            <a:spAutoFit/>
          </a:bodyPr>
          <a:lstStyle/>
          <a:p>
            <a:fld id="{88DEF3C3-343E-4695-8BC1-9C25682A9C2B}" type="slidenum">
              <a:rPr lang="en-US" sz="1800" b="0" u="none" strike="noStrike">
                <a:solidFill>
                  <a:srgbClr val="000000"/>
                </a:solidFill>
                <a:effectLst/>
                <a:uFillTx/>
                <a:latin typeface="Arial"/>
              </a:rPr>
              <a:t>6</a:t>
            </a:fld>
            <a:endParaRPr lang="en-US" sz="1800" b="0" u="none" strike="noStrike">
              <a:solidFill>
                <a:srgbClr val="000000"/>
              </a:solidFill>
              <a:effectLst/>
              <a:uFillTx/>
              <a:latin typeface="Arial"/>
            </a:endParaRPr>
          </a:p>
        </p:txBody>
      </p:sp>
      <p:pic>
        <p:nvPicPr>
          <p:cNvPr id="37" name="Picture 36"/>
          <p:cNvPicPr/>
          <p:nvPr/>
        </p:nvPicPr>
        <p:blipFill>
          <a:blip r:embed="rId2"/>
          <a:stretch/>
        </p:blipFill>
        <p:spPr>
          <a:xfrm>
            <a:off x="4572000" y="1542600"/>
            <a:ext cx="3955680" cy="2965680"/>
          </a:xfrm>
          <a:prstGeom prst="rect">
            <a:avLst/>
          </a:prstGeom>
          <a:noFill/>
          <a:ln w="0">
            <a:noFill/>
          </a:ln>
        </p:spPr>
      </p:pic>
      <p:sp>
        <p:nvSpPr>
          <p:cNvPr id="38" name="TextBox 37"/>
          <p:cNvSpPr txBox="1"/>
          <p:nvPr/>
        </p:nvSpPr>
        <p:spPr>
          <a:xfrm>
            <a:off x="4800600" y="4508280"/>
            <a:ext cx="3200400" cy="26100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2: RL Path Implementation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Enabling Online Motion Planning</a:t>
            </a:r>
            <a:endParaRPr lang="en-US" sz="3200" b="0" u="none" strike="noStrike">
              <a:solidFill>
                <a:srgbClr val="BE5700"/>
              </a:solidFill>
              <a:effectLst/>
              <a:uFillTx/>
              <a:latin typeface="Arial"/>
            </a:endParaRPr>
          </a:p>
        </p:txBody>
      </p:sp>
      <p:sp>
        <p:nvSpPr>
          <p:cNvPr id="40" name="PlaceHolder 2"/>
          <p:cNvSpPr>
            <a:spLocks noGrp="1"/>
          </p:cNvSpPr>
          <p:nvPr>
            <p:ph/>
          </p:nvPr>
        </p:nvSpPr>
        <p:spPr>
          <a:xfrm>
            <a:off x="457200" y="1682640"/>
            <a:ext cx="84582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Aim: Derive a trajectory and track it in real time while approaching goal position</a:t>
            </a:r>
          </a:p>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Need real-time control algorithm which can perform this task</a:t>
            </a:r>
          </a:p>
        </p:txBody>
      </p:sp>
      <p:sp>
        <p:nvSpPr>
          <p:cNvPr id="41" name="TextBox 40"/>
          <p:cNvSpPr txBox="1"/>
          <p:nvPr/>
        </p:nvSpPr>
        <p:spPr>
          <a:xfrm>
            <a:off x="8512920" y="4599360"/>
            <a:ext cx="3832560" cy="427320"/>
          </a:xfrm>
          <a:prstGeom prst="rect">
            <a:avLst/>
          </a:prstGeom>
          <a:noFill/>
          <a:ln w="0">
            <a:noFill/>
          </a:ln>
        </p:spPr>
        <p:txBody>
          <a:bodyPr wrap="none" lIns="90000" tIns="45000" rIns="90000" bIns="45000" anchor="t">
            <a:spAutoFit/>
          </a:bodyPr>
          <a:lstStyle/>
          <a:p>
            <a:fld id="{D781C4A8-2240-4177-A7B1-AA2787EFBD6A}" type="slidenum">
              <a:rPr lang="en-US" sz="1800" b="0" u="none" strike="noStrike">
                <a:solidFill>
                  <a:srgbClr val="000000"/>
                </a:solidFill>
                <a:effectLst/>
                <a:uFillTx/>
                <a:latin typeface="Arial"/>
              </a:rPr>
              <a:t>7</a:t>
            </a:fld>
            <a:endParaRPr lang="en-US" sz="1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Model-Predictive Control (MPC)</a:t>
            </a:r>
            <a:endParaRPr lang="en-US" sz="3200" b="0" u="none" strike="noStrike">
              <a:solidFill>
                <a:srgbClr val="BE5700"/>
              </a:solidFill>
              <a:effectLst/>
              <a:uFillTx/>
              <a:latin typeface="Arial"/>
            </a:endParaRPr>
          </a:p>
        </p:txBody>
      </p:sp>
      <p:sp>
        <p:nvSpPr>
          <p:cNvPr id="43" name="PlaceHolder 2"/>
          <p:cNvSpPr>
            <a:spLocks noGrp="1"/>
          </p:cNvSpPr>
          <p:nvPr>
            <p:ph/>
          </p:nvPr>
        </p:nvSpPr>
        <p:spPr>
          <a:xfrm>
            <a:off x="457200" y="1682640"/>
            <a:ext cx="43434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MPC optimizes a control sequence generated over a finite time horizon</a:t>
            </a:r>
          </a:p>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Generates local trajectory and computes the optimal control input to apply to the system dynamics</a:t>
            </a:r>
          </a:p>
        </p:txBody>
      </p:sp>
      <p:sp>
        <p:nvSpPr>
          <p:cNvPr id="44" name="TextBox 43"/>
          <p:cNvSpPr txBox="1"/>
          <p:nvPr/>
        </p:nvSpPr>
        <p:spPr>
          <a:xfrm>
            <a:off x="8512920" y="4599360"/>
            <a:ext cx="3832560" cy="427320"/>
          </a:xfrm>
          <a:prstGeom prst="rect">
            <a:avLst/>
          </a:prstGeom>
          <a:noFill/>
          <a:ln w="0">
            <a:noFill/>
          </a:ln>
        </p:spPr>
        <p:txBody>
          <a:bodyPr wrap="none" lIns="90000" tIns="45000" rIns="90000" bIns="45000" anchor="t">
            <a:spAutoFit/>
          </a:bodyPr>
          <a:lstStyle/>
          <a:p>
            <a:fld id="{4B0A50DB-397F-4866-B3AC-A9A0E27FC68D}" type="slidenum">
              <a:rPr lang="en-US" sz="1800" b="0" u="none" strike="noStrike">
                <a:solidFill>
                  <a:srgbClr val="000000"/>
                </a:solidFill>
                <a:effectLst/>
                <a:uFillTx/>
                <a:latin typeface="Arial"/>
              </a:rPr>
              <a:t>8</a:t>
            </a:fld>
            <a:endParaRPr lang="en-US" sz="1800" b="0" u="none" strike="noStrike">
              <a:solidFill>
                <a:srgbClr val="000000"/>
              </a:solidFill>
              <a:effectLst/>
              <a:uFillTx/>
              <a:latin typeface="Arial"/>
            </a:endParaRPr>
          </a:p>
        </p:txBody>
      </p:sp>
      <p:pic>
        <p:nvPicPr>
          <p:cNvPr id="45" name="Picture 44"/>
          <p:cNvPicPr/>
          <p:nvPr/>
        </p:nvPicPr>
        <p:blipFill>
          <a:blip r:embed="rId2"/>
          <a:stretch/>
        </p:blipFill>
        <p:spPr>
          <a:xfrm>
            <a:off x="5029200" y="1549800"/>
            <a:ext cx="3809520" cy="2793600"/>
          </a:xfrm>
          <a:prstGeom prst="rect">
            <a:avLst/>
          </a:prstGeom>
          <a:noFill/>
          <a:ln w="0">
            <a:noFill/>
          </a:ln>
        </p:spPr>
      </p:pic>
      <p:sp>
        <p:nvSpPr>
          <p:cNvPr id="46" name="TextBox 45"/>
          <p:cNvSpPr txBox="1"/>
          <p:nvPr/>
        </p:nvSpPr>
        <p:spPr>
          <a:xfrm>
            <a:off x="5246280" y="4539960"/>
            <a:ext cx="32004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3: MPC Implementation in Autonomous Racing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MPC - Mathematical Formulation</a:t>
            </a:r>
            <a:endParaRPr lang="en-US" sz="3200" b="0" u="none" strike="noStrike">
              <a:solidFill>
                <a:srgbClr val="BE5700"/>
              </a:solidFill>
              <a:effectLst/>
              <a:uFillTx/>
              <a:latin typeface="Arial"/>
            </a:endParaRPr>
          </a:p>
        </p:txBody>
      </p:sp>
      <p:sp>
        <p:nvSpPr>
          <p:cNvPr id="48" name="TextBox 47"/>
          <p:cNvSpPr txBox="1"/>
          <p:nvPr/>
        </p:nvSpPr>
        <p:spPr>
          <a:xfrm>
            <a:off x="8512920" y="4599360"/>
            <a:ext cx="3832560" cy="427320"/>
          </a:xfrm>
          <a:prstGeom prst="rect">
            <a:avLst/>
          </a:prstGeom>
          <a:noFill/>
          <a:ln w="0">
            <a:noFill/>
          </a:ln>
        </p:spPr>
        <p:txBody>
          <a:bodyPr wrap="none" lIns="90000" tIns="45000" rIns="90000" bIns="45000" anchor="t">
            <a:spAutoFit/>
          </a:bodyPr>
          <a:lstStyle/>
          <a:p>
            <a:fld id="{F86F21A7-5B07-443C-BC8A-2598B495EA4B}" type="slidenum">
              <a:rPr lang="en-US" sz="1800" b="0" u="none" strike="noStrike">
                <a:solidFill>
                  <a:srgbClr val="000000"/>
                </a:solidFill>
                <a:effectLst/>
                <a:uFillTx/>
                <a:latin typeface="Arial"/>
              </a:rPr>
              <a:t>9</a:t>
            </a:fld>
            <a:endParaRPr lang="en-US" sz="1800" b="0" u="none" strike="noStrike">
              <a:solidFill>
                <a:srgbClr val="000000"/>
              </a:solidFill>
              <a:effectLst/>
              <a:uFillTx/>
              <a:latin typeface="Arial"/>
            </a:endParaRPr>
          </a:p>
        </p:txBody>
      </p:sp>
      <p:pic>
        <p:nvPicPr>
          <p:cNvPr id="49" name="Graphic 48" descr="28§display§\min_{\mathcal{U}} \mathcal{J}(\textbf{x},\textbf{u}) = \frac{1}{2}\textbf{x}_T^{\top}M\textbf{x}_T + \frac{1}{2}\sum_{k=0}^{T-1}\left[\textbf{x}_k^{\top}Q\textbf{x}_k + \textbf{u}_k^{\top}R\textbf{u}_k\right]§svg§600§TRUE§"/>
          <p:cNvPicPr/>
          <p:nvPr/>
        </p:nvPicPr>
        <p:blipFill>
          <a:blip>
            <a:extLst>
              <a:ext uri="{96DAC541-7B7A-43D3-8B79-37D633B846F1}">
                <asvg:svgBlip xmlns:asvg="http://schemas.microsoft.com/office/drawing/2016/SVG/main" r:embed="rId2"/>
              </a:ext>
            </a:extLst>
          </a:blip>
          <a:stretch/>
        </p:blipFill>
        <p:spPr>
          <a:xfrm>
            <a:off x="230400" y="1544400"/>
            <a:ext cx="8163720" cy="1067400"/>
          </a:xfrm>
          <a:prstGeom prst="rect">
            <a:avLst/>
          </a:prstGeom>
          <a:noFill/>
          <a:ln w="0">
            <a:noFill/>
          </a:ln>
        </p:spPr>
      </p:pic>
      <p:pic>
        <p:nvPicPr>
          <p:cNvPr id="50" name="Graphic 49" descr="28§display§\text{subject to }\textbf{x}_{k+1}=f(\textbf{x}_k,\textbf{u}_k),\;\textbf{x}(0)=\textbf{x}_0,§svg§600§TRUE§"/>
          <p:cNvPicPr/>
          <p:nvPr/>
        </p:nvPicPr>
        <p:blipFill>
          <a:blip>
            <a:extLst>
              <a:ext uri="{96DAC541-7B7A-43D3-8B79-37D633B846F1}">
                <asvg:svgBlip xmlns:asvg="http://schemas.microsoft.com/office/drawing/2016/SVG/main" r:embed="rId3"/>
              </a:ext>
            </a:extLst>
          </a:blip>
          <a:stretch/>
        </p:blipFill>
        <p:spPr>
          <a:xfrm>
            <a:off x="228600" y="2820240"/>
            <a:ext cx="6161040" cy="352800"/>
          </a:xfrm>
          <a:prstGeom prst="rect">
            <a:avLst/>
          </a:prstGeom>
          <a:noFill/>
          <a:ln w="0">
            <a:noFill/>
          </a:ln>
        </p:spPr>
      </p:pic>
      <p:pic>
        <p:nvPicPr>
          <p:cNvPr id="51" name="Graphic 50" descr="28§display§\textbf{x}_k\in\mathcal{X},\;\textbf{u}_k\in \mathcal{U}\;\forall k=1,\ldots,T§svg§600§TRUE§"/>
          <p:cNvPicPr/>
          <p:nvPr/>
        </p:nvPicPr>
        <p:blipFill>
          <a:blip>
            <a:extLst>
              <a:ext uri="{96DAC541-7B7A-43D3-8B79-37D633B846F1}">
                <asvg:svgBlip xmlns:asvg="http://schemas.microsoft.com/office/drawing/2016/SVG/main" r:embed="rId4"/>
              </a:ext>
            </a:extLst>
          </a:blip>
          <a:stretch/>
        </p:blipFill>
        <p:spPr>
          <a:xfrm>
            <a:off x="229320" y="3429000"/>
            <a:ext cx="4676040" cy="339840"/>
          </a:xfrm>
          <a:prstGeom prst="rect">
            <a:avLst/>
          </a:prstGeom>
          <a:noFill/>
          <a:ln w="0">
            <a:noFill/>
          </a:ln>
        </p:spPr>
      </p:pic>
      <p:sp>
        <p:nvSpPr>
          <p:cNvPr id="52" name="TextBox 51"/>
          <p:cNvSpPr txBox="1"/>
          <p:nvPr/>
        </p:nvSpPr>
        <p:spPr>
          <a:xfrm>
            <a:off x="457200" y="3997080"/>
            <a:ext cx="6858000" cy="602280"/>
          </a:xfrm>
          <a:prstGeom prst="rect">
            <a:avLst/>
          </a:prstGeom>
          <a:noFill/>
          <a:ln w="0">
            <a:noFill/>
          </a:ln>
        </p:spPr>
        <p:txBody>
          <a:bodyPr lIns="90000" tIns="45000" rIns="90000" bIns="45000" anchor="t">
            <a:spAutoFit/>
          </a:bodyPr>
          <a:lstStyle/>
          <a:p>
            <a:pPr marL="216000" indent="-216000">
              <a:buClr>
                <a:srgbClr val="000000"/>
              </a:buClr>
              <a:buSzPct val="45000"/>
              <a:buFont typeface="Wingdings" charset="2"/>
              <a:buChar char=""/>
            </a:pPr>
            <a:r>
              <a:rPr lang="en-US" sz="1800" b="0" u="none" strike="noStrike">
                <a:solidFill>
                  <a:srgbClr val="000000"/>
                </a:solidFill>
                <a:effectLst/>
                <a:uFillTx/>
                <a:latin typeface="Arial"/>
              </a:rPr>
              <a:t>For linear systems, this reduces to an iterative QP problem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Stochastic MPC and MPPI (1/2)</a:t>
            </a:r>
            <a:endParaRPr lang="en-US" sz="3200" b="0" u="none" strike="noStrike">
              <a:solidFill>
                <a:srgbClr val="BE5700"/>
              </a:solidFill>
              <a:effectLst/>
              <a:uFillTx/>
              <a:latin typeface="Arial"/>
            </a:endParaRPr>
          </a:p>
        </p:txBody>
      </p:sp>
      <p:sp>
        <p:nvSpPr>
          <p:cNvPr id="54" name="TextBox 53"/>
          <p:cNvSpPr txBox="1"/>
          <p:nvPr/>
        </p:nvSpPr>
        <p:spPr>
          <a:xfrm>
            <a:off x="8512920" y="4599360"/>
            <a:ext cx="3832560" cy="427320"/>
          </a:xfrm>
          <a:prstGeom prst="rect">
            <a:avLst/>
          </a:prstGeom>
          <a:noFill/>
          <a:ln w="0">
            <a:noFill/>
          </a:ln>
        </p:spPr>
        <p:txBody>
          <a:bodyPr wrap="none" lIns="90000" tIns="45000" rIns="90000" bIns="45000" anchor="t">
            <a:spAutoFit/>
          </a:bodyPr>
          <a:lstStyle/>
          <a:p>
            <a:fld id="{AB93F141-0EAC-424C-8CDA-48DE3D28BF3E}" type="slidenum">
              <a:rPr lang="en-US" sz="1800" b="0" u="none" strike="noStrike">
                <a:solidFill>
                  <a:srgbClr val="000000"/>
                </a:solidFill>
                <a:effectLst/>
                <a:uFillTx/>
                <a:latin typeface="Arial"/>
              </a:rPr>
              <a:t>10</a:t>
            </a:fld>
            <a:endParaRPr lang="en-US" sz="1800" b="0" u="none" strike="noStrike">
              <a:solidFill>
                <a:srgbClr val="000000"/>
              </a:solidFill>
              <a:effectLst/>
              <a:uFillTx/>
              <a:latin typeface="Arial"/>
            </a:endParaRPr>
          </a:p>
        </p:txBody>
      </p:sp>
      <p:sp>
        <p:nvSpPr>
          <p:cNvPr id="55" name="PlaceHolder 2"/>
          <p:cNvSpPr>
            <a:spLocks noGrp="1"/>
          </p:cNvSpPr>
          <p:nvPr>
            <p:ph/>
          </p:nvPr>
        </p:nvSpPr>
        <p:spPr>
          <a:xfrm>
            <a:off x="457560" y="1683000"/>
            <a:ext cx="84582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Baseline MPC assumes perfect knowledge of state and control input</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No ability to handle noise</a:t>
            </a:r>
          </a:p>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Stochastic MPC (SMPC) methods are necessary for noise/disturbance rejection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Stochastic MPC and MPPI (2/2)</a:t>
            </a:r>
            <a:endParaRPr lang="en-US" sz="3200" b="0" u="none" strike="noStrike">
              <a:solidFill>
                <a:srgbClr val="BE5700"/>
              </a:solidFill>
              <a:effectLst/>
              <a:uFillTx/>
              <a:latin typeface="Arial"/>
            </a:endParaRPr>
          </a:p>
        </p:txBody>
      </p:sp>
      <p:sp>
        <p:nvSpPr>
          <p:cNvPr id="57" name="TextBox 56"/>
          <p:cNvSpPr txBox="1"/>
          <p:nvPr/>
        </p:nvSpPr>
        <p:spPr>
          <a:xfrm>
            <a:off x="8512920" y="4599360"/>
            <a:ext cx="3832560" cy="427320"/>
          </a:xfrm>
          <a:prstGeom prst="rect">
            <a:avLst/>
          </a:prstGeom>
          <a:noFill/>
          <a:ln w="0">
            <a:noFill/>
          </a:ln>
        </p:spPr>
        <p:txBody>
          <a:bodyPr wrap="none" lIns="90000" tIns="45000" rIns="90000" bIns="45000" anchor="t">
            <a:spAutoFit/>
          </a:bodyPr>
          <a:lstStyle/>
          <a:p>
            <a:fld id="{D4E22913-A517-41B4-9EB6-5C74D147E6A2}" type="slidenum">
              <a:rPr lang="en-US" sz="1800" b="0" u="none" strike="noStrike">
                <a:solidFill>
                  <a:srgbClr val="000000"/>
                </a:solidFill>
                <a:effectLst/>
                <a:uFillTx/>
                <a:latin typeface="Arial"/>
              </a:rPr>
              <a:t>11</a:t>
            </a:fld>
            <a:endParaRPr lang="en-US" sz="1800" b="0" u="none" strike="noStrike">
              <a:solidFill>
                <a:srgbClr val="000000"/>
              </a:solidFill>
              <a:effectLst/>
              <a:uFillTx/>
              <a:latin typeface="Arial"/>
            </a:endParaRPr>
          </a:p>
        </p:txBody>
      </p:sp>
      <p:sp>
        <p:nvSpPr>
          <p:cNvPr id="58" name="PlaceHolder 2"/>
          <p:cNvSpPr>
            <a:spLocks noGrp="1"/>
          </p:cNvSpPr>
          <p:nvPr>
            <p:ph/>
          </p:nvPr>
        </p:nvSpPr>
        <p:spPr>
          <a:xfrm>
            <a:off x="457560" y="1683000"/>
            <a:ext cx="84582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First and second order methods are often employed to solve SMPC problems</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May converge to local minima not equal to the true minimum [3]</a:t>
            </a:r>
          </a:p>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Zero order sampling-based methods are often used to alleviate this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59" name="Straight Connector 2"/>
          <p:cNvCxnSpPr/>
          <p:nvPr/>
        </p:nvCxnSpPr>
        <p:spPr>
          <a:xfrm>
            <a:off x="628560" y="3105000"/>
            <a:ext cx="5619960" cy="360"/>
          </a:xfrm>
          <a:prstGeom prst="straightConnector1">
            <a:avLst/>
          </a:prstGeom>
          <a:ln w="19080">
            <a:solidFill>
              <a:srgbClr val="FFFFFF"/>
            </a:solidFill>
            <a:round/>
          </a:ln>
        </p:spPr>
      </p:cxnSp>
      <p:sp>
        <p:nvSpPr>
          <p:cNvPr id="60" name="Title Placeholder 3"/>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MPPI Control</a:t>
            </a:r>
            <a:endParaRPr lang="en-US" sz="4800" b="0" u="none" strike="noStrike">
              <a:solidFill>
                <a:srgbClr val="FFFFFF"/>
              </a:solidFill>
              <a:effectLst/>
              <a:uFillTx/>
              <a:latin typeface="Arial"/>
            </a:endParaRPr>
          </a:p>
        </p:txBody>
      </p:sp>
      <p:sp>
        <p:nvSpPr>
          <p:cNvPr id="61" name="Text Placeholder 2"/>
          <p:cNvSpPr/>
          <p:nvPr/>
        </p:nvSpPr>
        <p:spPr>
          <a:xfrm>
            <a:off x="548640" y="3333600"/>
            <a:ext cx="7886520" cy="10098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What is MPPI?</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MPPI Control Problem Formulation</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MPPI Solution Algorithm</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Deployment in Static Environments</a:t>
            </a:r>
            <a:endParaRPr lang="en-US" sz="1400" b="0" u="none" strike="noStrike">
              <a:solidFill>
                <a:srgbClr val="FFFFFF"/>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228600" y="68580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Introduction to MPPI</a:t>
            </a:r>
            <a:endParaRPr lang="en-US" sz="3200" b="0" u="none" strike="noStrike">
              <a:solidFill>
                <a:srgbClr val="BE5700"/>
              </a:solidFill>
              <a:effectLst/>
              <a:uFillTx/>
              <a:latin typeface="Arial"/>
            </a:endParaRPr>
          </a:p>
        </p:txBody>
      </p:sp>
      <p:sp>
        <p:nvSpPr>
          <p:cNvPr id="63" name="TextBox 62"/>
          <p:cNvSpPr txBox="1"/>
          <p:nvPr/>
        </p:nvSpPr>
        <p:spPr>
          <a:xfrm>
            <a:off x="8512920" y="4599360"/>
            <a:ext cx="3832560" cy="427320"/>
          </a:xfrm>
          <a:prstGeom prst="rect">
            <a:avLst/>
          </a:prstGeom>
          <a:noFill/>
          <a:ln w="0">
            <a:noFill/>
          </a:ln>
        </p:spPr>
        <p:txBody>
          <a:bodyPr wrap="none" lIns="90000" tIns="45000" rIns="90000" bIns="45000" anchor="t">
            <a:spAutoFit/>
          </a:bodyPr>
          <a:lstStyle/>
          <a:p>
            <a:fld id="{31693CC5-6126-4D50-B009-4EA4CF8F32C7}" type="slidenum">
              <a:rPr lang="en-US" sz="1800" b="0" u="none" strike="noStrike">
                <a:solidFill>
                  <a:srgbClr val="000000"/>
                </a:solidFill>
                <a:effectLst/>
                <a:uFillTx/>
                <a:latin typeface="Arial"/>
              </a:rPr>
              <a:t>13</a:t>
            </a:fld>
            <a:endParaRPr lang="en-US" sz="1800" b="0" u="none" strike="noStrike">
              <a:solidFill>
                <a:srgbClr val="000000"/>
              </a:solidFill>
              <a:effectLst/>
              <a:uFillTx/>
              <a:latin typeface="Arial"/>
            </a:endParaRPr>
          </a:p>
        </p:txBody>
      </p:sp>
      <p:sp>
        <p:nvSpPr>
          <p:cNvPr id="64" name="PlaceHolder 2"/>
          <p:cNvSpPr>
            <a:spLocks noGrp="1"/>
          </p:cNvSpPr>
          <p:nvPr>
            <p:ph/>
          </p:nvPr>
        </p:nvSpPr>
        <p:spPr>
          <a:xfrm>
            <a:off x="457560" y="1683000"/>
            <a:ext cx="8458200" cy="2914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Zero-order algorithm for solving SMPC problems</a:t>
            </a:r>
          </a:p>
          <a:p>
            <a:pPr marL="432000" indent="-324000">
              <a:spcBef>
                <a:spcPts val="1417"/>
              </a:spcBef>
              <a:buClr>
                <a:srgbClr val="000000"/>
              </a:buClr>
              <a:buSzPct val="45000"/>
              <a:buFont typeface="Wingdings" charset="2"/>
              <a:buChar char=""/>
            </a:pPr>
            <a:r>
              <a:rPr lang="en-US" sz="3200" b="0" u="none" strike="noStrike">
                <a:solidFill>
                  <a:srgbClr val="333F48"/>
                </a:solidFill>
                <a:effectLst/>
                <a:uFillTx/>
                <a:latin typeface="Arial"/>
              </a:rPr>
              <a:t>Samples several input perturbations in parallel and optimizes the set of trajectories instead of iterating on one sequence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General SMPC Problem Formulation</a:t>
            </a:r>
            <a:endParaRPr lang="en-US" sz="3200" b="0" u="none" strike="noStrike">
              <a:solidFill>
                <a:srgbClr val="BE5700"/>
              </a:solidFill>
              <a:effectLst/>
              <a:uFillTx/>
              <a:latin typeface="Arial"/>
            </a:endParaRPr>
          </a:p>
        </p:txBody>
      </p:sp>
      <p:sp>
        <p:nvSpPr>
          <p:cNvPr id="66" name="TextBox 65"/>
          <p:cNvSpPr txBox="1"/>
          <p:nvPr/>
        </p:nvSpPr>
        <p:spPr>
          <a:xfrm>
            <a:off x="8512920" y="4599360"/>
            <a:ext cx="3832560" cy="427320"/>
          </a:xfrm>
          <a:prstGeom prst="rect">
            <a:avLst/>
          </a:prstGeom>
          <a:noFill/>
          <a:ln w="0">
            <a:noFill/>
          </a:ln>
        </p:spPr>
        <p:txBody>
          <a:bodyPr wrap="none" lIns="90000" tIns="45000" rIns="90000" bIns="45000" anchor="t">
            <a:spAutoFit/>
          </a:bodyPr>
          <a:lstStyle/>
          <a:p>
            <a:fld id="{5380F94B-3805-4237-B97C-967894775BC1}" type="slidenum">
              <a:rPr lang="en-US" sz="1800" b="0" u="none" strike="noStrike">
                <a:solidFill>
                  <a:srgbClr val="000000"/>
                </a:solidFill>
                <a:effectLst/>
                <a:uFillTx/>
                <a:latin typeface="Arial"/>
              </a:rPr>
              <a:t>14</a:t>
            </a:fld>
            <a:endParaRPr lang="en-US" sz="1800" b="0" u="none" strike="noStrike">
              <a:solidFill>
                <a:srgbClr val="000000"/>
              </a:solidFill>
              <a:effectLst/>
              <a:uFillTx/>
              <a:latin typeface="Arial"/>
            </a:endParaRPr>
          </a:p>
        </p:txBody>
      </p:sp>
      <p:pic>
        <p:nvPicPr>
          <p:cNvPr id="67" name="Graphic 66" descr="28§display§\text{subject to }\textbf{x}_{k+1}=f(\textbf{x}_k,\textbf{u}_k),\;\textbf{x}(0)=\textbf{x}_0,\;\delta\mathbf{u}_{k,m}\sim\mathcal{N}(0,\mathbf{\Sigma_u}),§svg§600§TRUE§"/>
          <p:cNvPicPr/>
          <p:nvPr/>
        </p:nvPicPr>
        <p:blipFill>
          <a:blip>
            <a:extLst>
              <a:ext uri="{96DAC541-7B7A-43D3-8B79-37D633B846F1}">
                <asvg:svgBlip xmlns:asvg="http://schemas.microsoft.com/office/drawing/2016/SVG/main" r:embed="rId2"/>
              </a:ext>
            </a:extLst>
          </a:blip>
          <a:stretch/>
        </p:blipFill>
        <p:spPr>
          <a:xfrm>
            <a:off x="228600" y="2514600"/>
            <a:ext cx="8229600" cy="356040"/>
          </a:xfrm>
          <a:prstGeom prst="rect">
            <a:avLst/>
          </a:prstGeom>
          <a:noFill/>
          <a:ln w="0">
            <a:noFill/>
          </a:ln>
        </p:spPr>
      </p:pic>
      <p:pic>
        <p:nvPicPr>
          <p:cNvPr id="68" name="Graphic 67" descr="28§display§\textbf{x}_k\in\mathbb{X}\subset\mathbb{R}^{n_x},\;\textbf{u}_k\in \mathbb{U}\subset\mathbb{R}^{n_u}\;\forall k=1,\ldots,T§svg§600§TRUE§"/>
          <p:cNvPicPr/>
          <p:nvPr/>
        </p:nvPicPr>
        <p:blipFill>
          <a:blip>
            <a:extLst>
              <a:ext uri="{96DAC541-7B7A-43D3-8B79-37D633B846F1}">
                <asvg:svgBlip xmlns:asvg="http://schemas.microsoft.com/office/drawing/2016/SVG/main" r:embed="rId3"/>
              </a:ext>
            </a:extLst>
          </a:blip>
          <a:stretch/>
        </p:blipFill>
        <p:spPr>
          <a:xfrm>
            <a:off x="229320" y="3101400"/>
            <a:ext cx="6766560" cy="322560"/>
          </a:xfrm>
          <a:prstGeom prst="rect">
            <a:avLst/>
          </a:prstGeom>
          <a:noFill/>
          <a:ln w="0">
            <a:noFill/>
          </a:ln>
        </p:spPr>
      </p:pic>
      <p:pic>
        <p:nvPicPr>
          <p:cNvPr id="69" name="Graphic 68"/>
          <p:cNvPicPr/>
          <p:nvPr/>
        </p:nvPicPr>
        <p:blipFill>
          <a:blip>
            <a:extLst>
              <a:ext uri="{96DAC541-7B7A-43D3-8B79-37D633B846F1}">
                <asvg:svgBlip xmlns:asvg="http://schemas.microsoft.com/office/drawing/2016/SVG/main" r:embed="rId4"/>
              </a:ext>
            </a:extLst>
          </a:blip>
          <a:stretch/>
        </p:blipFill>
        <p:spPr>
          <a:xfrm>
            <a:off x="228960" y="1466280"/>
            <a:ext cx="8686440" cy="832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MPPI Solution Algorithm (1/2)</a:t>
            </a:r>
            <a:endParaRPr lang="en-US" sz="3200" b="0" u="none" strike="noStrike">
              <a:solidFill>
                <a:srgbClr val="BE5700"/>
              </a:solidFill>
              <a:effectLst/>
              <a:uFillTx/>
              <a:latin typeface="Arial"/>
            </a:endParaRPr>
          </a:p>
        </p:txBody>
      </p:sp>
      <p:sp>
        <p:nvSpPr>
          <p:cNvPr id="71" name="TextBox 70"/>
          <p:cNvSpPr txBox="1"/>
          <p:nvPr/>
        </p:nvSpPr>
        <p:spPr>
          <a:xfrm>
            <a:off x="8512920" y="4599360"/>
            <a:ext cx="3832560" cy="427320"/>
          </a:xfrm>
          <a:prstGeom prst="rect">
            <a:avLst/>
          </a:prstGeom>
          <a:noFill/>
          <a:ln w="0">
            <a:noFill/>
          </a:ln>
        </p:spPr>
        <p:txBody>
          <a:bodyPr wrap="none" lIns="90000" tIns="45000" rIns="90000" bIns="45000" anchor="t">
            <a:spAutoFit/>
          </a:bodyPr>
          <a:lstStyle/>
          <a:p>
            <a:fld id="{AD4B1E47-DA45-42F2-B408-8BB539FE21D6}" type="slidenum">
              <a:rPr lang="en-US" sz="1800" b="0" u="none" strike="noStrike">
                <a:solidFill>
                  <a:srgbClr val="000000"/>
                </a:solidFill>
                <a:effectLst/>
                <a:uFillTx/>
                <a:latin typeface="Arial"/>
              </a:rPr>
              <a:t>15</a:t>
            </a:fld>
            <a:endParaRPr lang="en-US" sz="1800" b="0" u="none" strike="noStrike">
              <a:solidFill>
                <a:srgbClr val="000000"/>
              </a:solidFill>
              <a:effectLst/>
              <a:uFillTx/>
              <a:latin typeface="Arial"/>
            </a:endParaRPr>
          </a:p>
        </p:txBody>
      </p:sp>
      <p:sp>
        <p:nvSpPr>
          <p:cNvPr id="72" name="PlaceHolder 2"/>
          <p:cNvSpPr>
            <a:spLocks noGrp="1"/>
          </p:cNvSpPr>
          <p:nvPr>
            <p:ph/>
          </p:nvPr>
        </p:nvSpPr>
        <p:spPr>
          <a:xfrm>
            <a:off x="457920" y="1683360"/>
            <a:ext cx="8457480" cy="28886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000" b="0" u="none" strike="noStrike">
                <a:solidFill>
                  <a:srgbClr val="333F48"/>
                </a:solidFill>
                <a:effectLst/>
                <a:uFillTx/>
                <a:latin typeface="Arial"/>
              </a:rPr>
              <a:t>First generates </a:t>
            </a:r>
            <a:r>
              <a:rPr lang="en-US" sz="2000" b="0" u="none" strike="noStrike">
                <a:solidFill>
                  <a:srgbClr val="333F48"/>
                </a:solidFill>
                <a:effectLst/>
                <a:uFillTx/>
                <a:latin typeface="TexMaths Symbols"/>
              </a:rPr>
              <a:t>M</a:t>
            </a:r>
            <a:r>
              <a:rPr lang="en-US" sz="2000" b="0" u="none" strike="noStrike">
                <a:solidFill>
                  <a:srgbClr val="333F48"/>
                </a:solidFill>
                <a:effectLst/>
                <a:uFillTx/>
                <a:latin typeface="Arial"/>
              </a:rPr>
              <a:t> </a:t>
            </a:r>
            <a:r>
              <a:rPr lang="en-US" sz="2000" b="0" u="none" strike="noStrike">
                <a:solidFill>
                  <a:srgbClr val="333F48"/>
                </a:solidFill>
                <a:effectLst/>
                <a:uFillTx/>
                <a:latin typeface="TexMaths Symbols"/>
                <a:ea typeface="TexMaths Symbols"/>
              </a:rPr>
              <a:t>(≈ 10</a:t>
            </a:r>
            <a:r>
              <a:rPr lang="en-US" sz="2000" b="0" u="none" strike="noStrike" baseline="33000">
                <a:solidFill>
                  <a:srgbClr val="333F48"/>
                </a:solidFill>
                <a:effectLst/>
                <a:uFillTx/>
                <a:latin typeface="TexMaths Symbols"/>
                <a:ea typeface="TexMaths Symbols"/>
              </a:rPr>
              <a:t>3</a:t>
            </a:r>
            <a:r>
              <a:rPr lang="en-US" sz="2000" b="0" u="none" strike="noStrike">
                <a:solidFill>
                  <a:srgbClr val="333F48"/>
                </a:solidFill>
                <a:effectLst/>
                <a:uFillTx/>
                <a:latin typeface="TexMaths Symbols"/>
                <a:ea typeface="TexMaths Symbols"/>
              </a:rPr>
              <a:t>−10</a:t>
            </a:r>
            <a:r>
              <a:rPr lang="en-US" sz="2000" b="0" u="none" strike="noStrike" baseline="33000">
                <a:solidFill>
                  <a:srgbClr val="333F48"/>
                </a:solidFill>
                <a:effectLst/>
                <a:uFillTx/>
                <a:latin typeface="TexMaths Symbols"/>
                <a:ea typeface="TexMaths Symbols"/>
              </a:rPr>
              <a:t>4</a:t>
            </a:r>
            <a:r>
              <a:rPr lang="en-US" sz="2000" b="0" u="none" strike="noStrike">
                <a:solidFill>
                  <a:srgbClr val="333F48"/>
                </a:solidFill>
                <a:effectLst/>
                <a:uFillTx/>
                <a:latin typeface="TexMaths Symbols"/>
                <a:ea typeface="TexMaths Symbols"/>
              </a:rPr>
              <a:t>)</a:t>
            </a:r>
            <a:r>
              <a:rPr lang="en-US" sz="2000" b="0" u="none" strike="noStrike">
                <a:solidFill>
                  <a:srgbClr val="333F48"/>
                </a:solidFill>
                <a:effectLst/>
                <a:uFillTx/>
                <a:latin typeface="Arial"/>
                <a:ea typeface="Arial"/>
              </a:rPr>
              <a:t> </a:t>
            </a:r>
            <a:r>
              <a:rPr lang="en-US" sz="2000" b="0" u="none" strike="noStrike">
                <a:solidFill>
                  <a:srgbClr val="333F48"/>
                </a:solidFill>
                <a:effectLst/>
                <a:uFillTx/>
                <a:latin typeface="Arial"/>
              </a:rPr>
              <a:t>input sequence perturbations around a nominal control sequence </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Samples from Mixture-of-Gaussians (MoG) with zero mean and covariance</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Nominal control sequence is initialized at zero </a:t>
            </a:r>
          </a:p>
          <a:p>
            <a:pPr marL="432000" indent="-324000">
              <a:lnSpc>
                <a:spcPct val="100000"/>
              </a:lnSpc>
              <a:spcBef>
                <a:spcPts val="1417"/>
              </a:spcBef>
              <a:buClr>
                <a:srgbClr val="000000"/>
              </a:buClr>
              <a:buSzPct val="45000"/>
              <a:buFont typeface="Wingdings" charset="2"/>
              <a:buChar char=""/>
            </a:pPr>
            <a:r>
              <a:rPr lang="en-US" sz="2000" b="0" u="none" strike="noStrike">
                <a:solidFill>
                  <a:srgbClr val="333F48"/>
                </a:solidFill>
                <a:effectLst/>
                <a:uFillTx/>
                <a:latin typeface="Arial"/>
              </a:rPr>
              <a:t>Computes cost for each perturbed control sequence according to cost functional </a:t>
            </a:r>
            <a:r>
              <a:rPr lang="en-US" sz="2400" b="0" u="none" strike="noStrike">
                <a:solidFill>
                  <a:srgbClr val="333F48"/>
                </a:solidFill>
                <a:effectLst/>
                <a:uFillTx/>
                <a:latin typeface="TexMaths Calligraphic"/>
                <a:ea typeface="TexMaths Calligraphic"/>
              </a:rPr>
              <a:t>J(</a:t>
            </a:r>
            <a:r>
              <a:rPr lang="en-US" sz="2400" b="1" u="none" strike="noStrike">
                <a:solidFill>
                  <a:srgbClr val="333F48"/>
                </a:solidFill>
                <a:effectLst/>
                <a:uFillTx/>
                <a:latin typeface="TexMaths Roman"/>
                <a:ea typeface="TexMaths Roman"/>
              </a:rPr>
              <a:t>x</a:t>
            </a:r>
            <a:r>
              <a:rPr lang="en-US" sz="2400" b="0" u="none" strike="noStrike">
                <a:solidFill>
                  <a:srgbClr val="333F48"/>
                </a:solidFill>
                <a:effectLst/>
                <a:uFillTx/>
                <a:latin typeface="TexMaths Calligraphic"/>
                <a:ea typeface="TexMaths Calligraphic"/>
              </a:rPr>
              <a:t>,</a:t>
            </a:r>
            <a:r>
              <a:rPr lang="en-US" sz="2400" b="1" u="none" strike="noStrike">
                <a:solidFill>
                  <a:srgbClr val="333F48"/>
                </a:solidFill>
                <a:effectLst/>
                <a:uFillTx/>
                <a:latin typeface="TexMaths Roman"/>
                <a:ea typeface="TexMaths Roman"/>
              </a:rPr>
              <a:t>u</a:t>
            </a:r>
            <a:r>
              <a:rPr lang="en-US" sz="2400" b="0" u="none" strike="noStrike">
                <a:solidFill>
                  <a:srgbClr val="333F48"/>
                </a:solidFill>
                <a:effectLst/>
                <a:uFillTx/>
                <a:latin typeface="TexMaths Calligraphic"/>
                <a:ea typeface="TexMaths Calligraphic"/>
              </a:rPr>
              <a:t>) </a:t>
            </a:r>
            <a:r>
              <a:rPr lang="en-US" sz="2000" b="0" u="none" strike="noStrike">
                <a:solidFill>
                  <a:srgbClr val="333F48"/>
                </a:solidFill>
                <a:effectLst/>
                <a:uFillTx/>
                <a:latin typeface="Arial"/>
                <a:ea typeface="TexMaths Calligraphic"/>
              </a:rPr>
              <a:t>where </a:t>
            </a:r>
            <a:r>
              <a:rPr lang="en-US" sz="2400" b="1" u="none" strike="noStrike">
                <a:solidFill>
                  <a:srgbClr val="333F48"/>
                </a:solidFill>
                <a:effectLst/>
                <a:uFillTx/>
                <a:latin typeface="TexMaths Roman"/>
                <a:ea typeface="TexMaths Roman"/>
              </a:rPr>
              <a:t>x</a:t>
            </a:r>
            <a:r>
              <a:rPr lang="en-US" sz="2000" b="0" u="none" strike="noStrike">
                <a:solidFill>
                  <a:srgbClr val="333F48"/>
                </a:solidFill>
                <a:effectLst/>
                <a:uFillTx/>
                <a:latin typeface="Arial"/>
                <a:ea typeface="TexMaths Calligraphic"/>
              </a:rPr>
              <a:t> is the trajectory generated by the control sequence </a:t>
            </a:r>
            <a:r>
              <a:rPr lang="en-US" sz="2400" b="1" u="none" strike="noStrike">
                <a:solidFill>
                  <a:srgbClr val="333F48"/>
                </a:solidFill>
                <a:effectLst/>
                <a:uFillTx/>
                <a:latin typeface="TexMaths Roman"/>
                <a:ea typeface="TexMaths Roman"/>
              </a:rPr>
              <a:t>u</a:t>
            </a:r>
            <a:endParaRPr lang="en-US" sz="2400" b="0" u="none" strike="noStrike">
              <a:solidFill>
                <a:srgbClr val="333F48"/>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MPPI Solution Algorithm (2/2)</a:t>
            </a:r>
            <a:endParaRPr lang="en-US" sz="3200" b="0" u="none" strike="noStrike">
              <a:solidFill>
                <a:srgbClr val="BE5700"/>
              </a:solidFill>
              <a:effectLst/>
              <a:uFillTx/>
              <a:latin typeface="Arial"/>
            </a:endParaRPr>
          </a:p>
        </p:txBody>
      </p:sp>
      <p:sp>
        <p:nvSpPr>
          <p:cNvPr id="74" name="TextBox 73"/>
          <p:cNvSpPr txBox="1"/>
          <p:nvPr/>
        </p:nvSpPr>
        <p:spPr>
          <a:xfrm>
            <a:off x="8512920" y="4599360"/>
            <a:ext cx="3832560" cy="427320"/>
          </a:xfrm>
          <a:prstGeom prst="rect">
            <a:avLst/>
          </a:prstGeom>
          <a:noFill/>
          <a:ln w="0">
            <a:noFill/>
          </a:ln>
        </p:spPr>
        <p:txBody>
          <a:bodyPr wrap="none" lIns="90000" tIns="45000" rIns="90000" bIns="45000" anchor="t">
            <a:spAutoFit/>
          </a:bodyPr>
          <a:lstStyle/>
          <a:p>
            <a:fld id="{D8114612-0ABD-47E6-A6B0-C229C5880107}" type="slidenum">
              <a:rPr lang="en-US" sz="1800" b="0" u="none" strike="noStrike">
                <a:solidFill>
                  <a:srgbClr val="000000"/>
                </a:solidFill>
                <a:effectLst/>
                <a:uFillTx/>
                <a:latin typeface="Arial"/>
              </a:rPr>
              <a:t>16</a:t>
            </a:fld>
            <a:endParaRPr lang="en-US" sz="1800" b="0" u="none" strike="noStrike">
              <a:solidFill>
                <a:srgbClr val="000000"/>
              </a:solidFill>
              <a:effectLst/>
              <a:uFillTx/>
              <a:latin typeface="Arial"/>
            </a:endParaRPr>
          </a:p>
        </p:txBody>
      </p:sp>
      <p:sp>
        <p:nvSpPr>
          <p:cNvPr id="75" name="PlaceHolder 2"/>
          <p:cNvSpPr>
            <a:spLocks noGrp="1"/>
          </p:cNvSpPr>
          <p:nvPr>
            <p:ph/>
          </p:nvPr>
        </p:nvSpPr>
        <p:spPr>
          <a:xfrm>
            <a:off x="457920" y="1683360"/>
            <a:ext cx="8457480" cy="3740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000" b="0" u="none" strike="noStrike">
                <a:solidFill>
                  <a:srgbClr val="333F48"/>
                </a:solidFill>
                <a:effectLst/>
                <a:uFillTx/>
                <a:latin typeface="Arial"/>
              </a:rPr>
              <a:t>Weights each control sequence according to cost relative to minimum</a:t>
            </a:r>
          </a:p>
        </p:txBody>
      </p:sp>
      <p:pic>
        <p:nvPicPr>
          <p:cNvPr id="76" name="Graphic 75" descr="28§display§w_m=\frac{\exp\left(\frac{\mathcal{J}_{min}-\mathcal{J}(\mathbf{x}^{(m)},\mathbf{u}^{(m)})}{\lambda}\right)}{\sum_{m=1}^M \exp\left(\frac{\mathcal{J}_{min}-\mathcal{J}(\mathbf{x}^{(m)},\mathbf{u}^{(m)})}{\lambda}\right)}§svg§600§TRUE§"/>
          <p:cNvPicPr/>
          <p:nvPr/>
        </p:nvPicPr>
        <p:blipFill>
          <a:blip>
            <a:extLst>
              <a:ext uri="{96DAC541-7B7A-43D3-8B79-37D633B846F1}">
                <asvg:svgBlip xmlns:asvg="http://schemas.microsoft.com/office/drawing/2016/SVG/main" r:embed="rId2"/>
              </a:ext>
            </a:extLst>
          </a:blip>
          <a:stretch/>
        </p:blipFill>
        <p:spPr>
          <a:xfrm>
            <a:off x="2286000" y="2282760"/>
            <a:ext cx="4800600" cy="1146240"/>
          </a:xfrm>
          <a:prstGeom prst="rect">
            <a:avLst/>
          </a:prstGeom>
          <a:noFill/>
          <a:ln w="0">
            <a:noFill/>
          </a:ln>
        </p:spPr>
      </p:pic>
      <p:sp>
        <p:nvSpPr>
          <p:cNvPr id="77" name="PlaceHolder 3"/>
          <p:cNvSpPr>
            <a:spLocks noGrp="1"/>
          </p:cNvSpPr>
          <p:nvPr>
            <p:ph/>
          </p:nvPr>
        </p:nvSpPr>
        <p:spPr>
          <a:xfrm>
            <a:off x="457200" y="3512160"/>
            <a:ext cx="8457480" cy="3740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000" b="0" u="none" strike="noStrike">
                <a:solidFill>
                  <a:srgbClr val="333F48"/>
                </a:solidFill>
                <a:effectLst/>
                <a:uFillTx/>
                <a:latin typeface="Arial"/>
              </a:rPr>
              <a:t>Optimal Control Input is computed as weighted sum of perturbations</a:t>
            </a:r>
          </a:p>
        </p:txBody>
      </p:sp>
      <p:pic>
        <p:nvPicPr>
          <p:cNvPr id="78" name="Graphic 77" descr="28§display§\mathbf{u}_k=\sum_{m=1}^M w_m\delta\mathbf{u}_{k,m}§svg§600§TRUE§"/>
          <p:cNvPicPr/>
          <p:nvPr/>
        </p:nvPicPr>
        <p:blipFill>
          <a:blip>
            <a:extLst>
              <a:ext uri="{96DAC541-7B7A-43D3-8B79-37D633B846F1}">
                <asvg:svgBlip xmlns:asvg="http://schemas.microsoft.com/office/drawing/2016/SVG/main" r:embed="rId3"/>
              </a:ext>
            </a:extLst>
          </a:blip>
          <a:stretch/>
        </p:blipFill>
        <p:spPr>
          <a:xfrm>
            <a:off x="2514600" y="4114800"/>
            <a:ext cx="1929600" cy="68580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MPPI with Static Obstacle Handling</a:t>
            </a:r>
            <a:endParaRPr lang="en-US" sz="3200" b="0" u="none" strike="noStrike">
              <a:solidFill>
                <a:srgbClr val="BE5700"/>
              </a:solidFill>
              <a:effectLst/>
              <a:uFillTx/>
              <a:latin typeface="Arial"/>
            </a:endParaRPr>
          </a:p>
        </p:txBody>
      </p:sp>
      <p:sp>
        <p:nvSpPr>
          <p:cNvPr id="80" name="TextBox 79"/>
          <p:cNvSpPr txBox="1"/>
          <p:nvPr/>
        </p:nvSpPr>
        <p:spPr>
          <a:xfrm>
            <a:off x="8512920" y="4599360"/>
            <a:ext cx="3832560" cy="427320"/>
          </a:xfrm>
          <a:prstGeom prst="rect">
            <a:avLst/>
          </a:prstGeom>
          <a:noFill/>
          <a:ln w="0">
            <a:noFill/>
          </a:ln>
        </p:spPr>
        <p:txBody>
          <a:bodyPr wrap="none" lIns="90000" tIns="45000" rIns="90000" bIns="45000" anchor="t">
            <a:spAutoFit/>
          </a:bodyPr>
          <a:lstStyle/>
          <a:p>
            <a:fld id="{01992FE1-D6C8-4C5B-BDBA-4F348B2776CD}" type="slidenum">
              <a:rPr lang="en-US" sz="1800" b="0" u="none" strike="noStrike">
                <a:solidFill>
                  <a:srgbClr val="000000"/>
                </a:solidFill>
                <a:effectLst/>
                <a:uFillTx/>
                <a:latin typeface="Arial"/>
              </a:rPr>
              <a:t>17</a:t>
            </a:fld>
            <a:endParaRPr lang="en-US" sz="1800" b="0" u="none" strike="noStrike">
              <a:solidFill>
                <a:srgbClr val="000000"/>
              </a:solidFill>
              <a:effectLst/>
              <a:uFillTx/>
              <a:latin typeface="Arial"/>
            </a:endParaRPr>
          </a:p>
        </p:txBody>
      </p:sp>
      <p:sp>
        <p:nvSpPr>
          <p:cNvPr id="81" name="PlaceHolder 2"/>
          <p:cNvSpPr>
            <a:spLocks noGrp="1"/>
          </p:cNvSpPr>
          <p:nvPr>
            <p:ph/>
          </p:nvPr>
        </p:nvSpPr>
        <p:spPr>
          <a:xfrm>
            <a:off x="457920" y="1683360"/>
            <a:ext cx="8457480" cy="10598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Apply additional constraint to optimization problem</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Denote </a:t>
            </a:r>
            <a:r>
              <a:rPr lang="en-US" sz="1800" b="0" u="none" strike="noStrike">
                <a:solidFill>
                  <a:srgbClr val="333F48"/>
                </a:solidFill>
                <a:effectLst/>
                <a:uFillTx/>
                <a:latin typeface="TexMaths Calligraphic"/>
                <a:ea typeface="TexMaths Calligraphic"/>
              </a:rPr>
              <a:t>X</a:t>
            </a:r>
            <a:r>
              <a:rPr lang="en-US" sz="1800" b="0" u="none" strike="noStrike" baseline="-8000">
                <a:solidFill>
                  <a:srgbClr val="333F48"/>
                </a:solidFill>
                <a:effectLst/>
                <a:uFillTx/>
                <a:latin typeface="TexMaths Calligraphic"/>
                <a:ea typeface="TexMaths Calligraphic"/>
              </a:rPr>
              <a:t>k,rbt</a:t>
            </a:r>
            <a:r>
              <a:rPr lang="en-US" sz="1800" b="0" u="none" strike="noStrike">
                <a:solidFill>
                  <a:srgbClr val="333F48"/>
                </a:solidFill>
                <a:effectLst/>
                <a:uFillTx/>
                <a:latin typeface="Arial"/>
                <a:ea typeface="Arial"/>
              </a:rPr>
              <a:t> as the space comprised of the robot geometry, </a:t>
            </a:r>
            <a:r>
              <a:rPr lang="en-US" sz="1800" b="0" u="none" strike="noStrike">
                <a:solidFill>
                  <a:srgbClr val="333F48"/>
                </a:solidFill>
                <a:effectLst/>
                <a:uFillTx/>
                <a:latin typeface="TexMaths Calligraphic"/>
                <a:ea typeface="TexMaths Calligraphic"/>
              </a:rPr>
              <a:t>X</a:t>
            </a:r>
            <a:r>
              <a:rPr lang="en-US" sz="1800" b="0" u="none" strike="noStrike" baseline="-8000">
                <a:solidFill>
                  <a:srgbClr val="333F48"/>
                </a:solidFill>
                <a:effectLst/>
                <a:uFillTx/>
                <a:latin typeface="TexMaths Calligraphic"/>
                <a:ea typeface="TexMaths Calligraphic"/>
              </a:rPr>
              <a:t>obs</a:t>
            </a:r>
            <a:r>
              <a:rPr lang="en-US" sz="1800" b="0" u="none" strike="noStrike">
                <a:solidFill>
                  <a:srgbClr val="333F48"/>
                </a:solidFill>
                <a:effectLst/>
                <a:uFillTx/>
                <a:latin typeface="Arial"/>
                <a:ea typeface="Arial"/>
              </a:rPr>
              <a:t> as the space comprised of all obstacles in the given environment</a:t>
            </a:r>
            <a:endParaRPr lang="en-US" sz="1800" b="0" u="none" strike="noStrike">
              <a:solidFill>
                <a:srgbClr val="333F48"/>
              </a:solidFill>
              <a:effectLst/>
              <a:uFillTx/>
              <a:latin typeface="Arial"/>
            </a:endParaRPr>
          </a:p>
        </p:txBody>
      </p:sp>
      <p:pic>
        <p:nvPicPr>
          <p:cNvPr id="82" name="Graphic 81" descr="28§display§\mathcal{X}_{k}^{rbt}\cap\mathcal{X}_{obs}=\emptyset§svg§600§TRUE§"/>
          <p:cNvPicPr/>
          <p:nvPr/>
        </p:nvPicPr>
        <p:blipFill>
          <a:blip>
            <a:extLst>
              <a:ext uri="{96DAC541-7B7A-43D3-8B79-37D633B846F1}">
                <asvg:svgBlip xmlns:asvg="http://schemas.microsoft.com/office/drawing/2016/SVG/main" r:embed="rId2"/>
              </a:ext>
            </a:extLst>
          </a:blip>
          <a:stretch/>
        </p:blipFill>
        <p:spPr>
          <a:xfrm>
            <a:off x="3530520" y="2971800"/>
            <a:ext cx="2413080" cy="434520"/>
          </a:xfrm>
          <a:prstGeom prst="rect">
            <a:avLst/>
          </a:prstGeom>
          <a:noFill/>
          <a:ln w="0">
            <a:noFill/>
          </a:ln>
        </p:spPr>
      </p:pic>
      <p:sp>
        <p:nvSpPr>
          <p:cNvPr id="83" name="PlaceHolder 3"/>
          <p:cNvSpPr>
            <a:spLocks noGrp="1"/>
          </p:cNvSpPr>
          <p:nvPr>
            <p:ph/>
          </p:nvPr>
        </p:nvSpPr>
        <p:spPr>
          <a:xfrm>
            <a:off x="457920" y="3429000"/>
            <a:ext cx="8457480" cy="457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Becomes a soft constraint with large penalty in simulation</a:t>
            </a:r>
          </a:p>
        </p:txBody>
      </p:sp>
      <p:pic>
        <p:nvPicPr>
          <p:cNvPr id="84" name="Graphic 83" descr="20§display§q(\mathbf{x}_k)\gets q(\mathbf{x}_k)+\sigma_o\lVert \mathbf{p}_k - \mathbf{p}_{obs} \rVert_{\min}^2,\;\sigma_o &gt;&gt; 1§svg§600§TRUE§"/>
          <p:cNvPicPr/>
          <p:nvPr/>
        </p:nvPicPr>
        <p:blipFill>
          <a:blip>
            <a:extLst>
              <a:ext uri="{96DAC541-7B7A-43D3-8B79-37D633B846F1}">
                <asvg:svgBlip xmlns:asvg="http://schemas.microsoft.com/office/drawing/2016/SVG/main" r:embed="rId3"/>
              </a:ext>
            </a:extLst>
          </a:blip>
          <a:stretch/>
        </p:blipFill>
        <p:spPr>
          <a:xfrm>
            <a:off x="2057400" y="4051800"/>
            <a:ext cx="5029200" cy="29268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Baseline MPPI – Deployment (1/4)</a:t>
            </a:r>
            <a:endParaRPr lang="en-US" sz="3200" b="0" u="none" strike="noStrike">
              <a:solidFill>
                <a:srgbClr val="BE5700"/>
              </a:solidFill>
              <a:effectLst/>
              <a:uFillTx/>
              <a:latin typeface="Arial"/>
            </a:endParaRPr>
          </a:p>
        </p:txBody>
      </p:sp>
      <p:sp>
        <p:nvSpPr>
          <p:cNvPr id="86" name="TextBox 85"/>
          <p:cNvSpPr txBox="1"/>
          <p:nvPr/>
        </p:nvSpPr>
        <p:spPr>
          <a:xfrm>
            <a:off x="8512920" y="4599360"/>
            <a:ext cx="3832560" cy="427320"/>
          </a:xfrm>
          <a:prstGeom prst="rect">
            <a:avLst/>
          </a:prstGeom>
          <a:noFill/>
          <a:ln w="0">
            <a:noFill/>
          </a:ln>
        </p:spPr>
        <p:txBody>
          <a:bodyPr wrap="none" lIns="90000" tIns="45000" rIns="90000" bIns="45000" anchor="t">
            <a:spAutoFit/>
          </a:bodyPr>
          <a:lstStyle/>
          <a:p>
            <a:fld id="{4B16354F-56D9-46E2-AE3C-6B37830B9A74}" type="slidenum">
              <a:rPr lang="en-US" sz="1800" b="0" u="none" strike="noStrike">
                <a:solidFill>
                  <a:srgbClr val="000000"/>
                </a:solidFill>
                <a:effectLst/>
                <a:uFillTx/>
                <a:latin typeface="Arial"/>
              </a:rPr>
              <a:t>18</a:t>
            </a:fld>
            <a:endParaRPr lang="en-US" sz="1800" b="0" u="none" strike="noStrike">
              <a:solidFill>
                <a:srgbClr val="000000"/>
              </a:solidFill>
              <a:effectLst/>
              <a:uFillTx/>
              <a:latin typeface="Arial"/>
            </a:endParaRPr>
          </a:p>
        </p:txBody>
      </p:sp>
      <p:sp>
        <p:nvSpPr>
          <p:cNvPr id="87" name="PlaceHolder 2"/>
          <p:cNvSpPr>
            <a:spLocks noGrp="1"/>
          </p:cNvSpPr>
          <p:nvPr>
            <p:ph/>
          </p:nvPr>
        </p:nvSpPr>
        <p:spPr>
          <a:xfrm>
            <a:off x="457200" y="1683360"/>
            <a:ext cx="8457480" cy="12884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000" b="0" u="none" strike="noStrike">
                <a:solidFill>
                  <a:srgbClr val="333F48"/>
                </a:solidFill>
                <a:effectLst/>
                <a:uFillTx/>
                <a:latin typeface="Arial"/>
              </a:rPr>
              <a:t>Deployed on a kinematic differential drive model with dynamics</a:t>
            </a: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State Vector: </a:t>
            </a:r>
            <a:r>
              <a:rPr lang="en-US" sz="2000" b="1" u="none" strike="noStrike">
                <a:solidFill>
                  <a:srgbClr val="333F48"/>
                </a:solidFill>
                <a:effectLst/>
                <a:uFillTx/>
                <a:latin typeface="TexMaths Roman"/>
                <a:ea typeface="TexMaths Roman"/>
              </a:rPr>
              <a:t>x</a:t>
            </a:r>
            <a:r>
              <a:rPr lang="en-US" sz="2000" b="0" u="none" strike="noStrike" baseline="-8000">
                <a:solidFill>
                  <a:srgbClr val="333F48"/>
                </a:solidFill>
                <a:effectLst/>
                <a:uFillTx/>
                <a:latin typeface="TexMaths Symbols"/>
                <a:ea typeface="TexMaths Symbols"/>
              </a:rPr>
              <a:t>k</a:t>
            </a:r>
            <a:r>
              <a:rPr lang="en-US" sz="2000" b="0" u="none" strike="noStrike">
                <a:solidFill>
                  <a:srgbClr val="333F48"/>
                </a:solidFill>
                <a:effectLst/>
                <a:uFillTx/>
                <a:latin typeface="TexMaths Symbols"/>
                <a:ea typeface="TexMaths Symbols"/>
              </a:rPr>
              <a:t> = [x   y   θ]</a:t>
            </a:r>
            <a:r>
              <a:rPr lang="en-US" sz="2000" b="0" u="none" strike="noStrike" baseline="-8000">
                <a:solidFill>
                  <a:srgbClr val="333F48"/>
                </a:solidFill>
                <a:effectLst/>
                <a:uFillTx/>
                <a:latin typeface="TexMaths Symbols"/>
                <a:ea typeface="TexMaths Symbols"/>
              </a:rPr>
              <a:t>k</a:t>
            </a:r>
            <a:endParaRPr lang="en-US" sz="2000" b="0" u="none" strike="noStrike">
              <a:solidFill>
                <a:srgbClr val="333F48"/>
              </a:solidFill>
              <a:effectLst/>
              <a:uFillTx/>
              <a:latin typeface="Arial"/>
            </a:endParaRP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ea typeface="TexMaths Symbols"/>
              </a:rPr>
              <a:t>Control Input Vector: </a:t>
            </a:r>
            <a:r>
              <a:rPr lang="en-US" sz="2000" b="1" u="none" strike="noStrike">
                <a:solidFill>
                  <a:srgbClr val="333F48"/>
                </a:solidFill>
                <a:effectLst/>
                <a:uFillTx/>
                <a:latin typeface="TexMaths Roman"/>
                <a:ea typeface="TexMaths Roman"/>
              </a:rPr>
              <a:t>u</a:t>
            </a:r>
            <a:r>
              <a:rPr lang="en-US" sz="2000" b="0" u="none" strike="noStrike" baseline="-8000">
                <a:solidFill>
                  <a:srgbClr val="333F48"/>
                </a:solidFill>
                <a:effectLst/>
                <a:uFillTx/>
                <a:latin typeface="TexMaths Symbols"/>
                <a:ea typeface="TexMaths Symbols"/>
              </a:rPr>
              <a:t>k</a:t>
            </a:r>
            <a:r>
              <a:rPr lang="en-US" sz="2000" b="0" u="none" strike="noStrike">
                <a:solidFill>
                  <a:srgbClr val="333F48"/>
                </a:solidFill>
                <a:effectLst/>
                <a:uFillTx/>
                <a:latin typeface="TexMaths Symbols"/>
                <a:ea typeface="TexMaths Symbols"/>
              </a:rPr>
              <a:t>=[v</a:t>
            </a:r>
            <a:r>
              <a:rPr lang="en-US" sz="2000" b="0" u="none" strike="noStrike" baseline="-8000">
                <a:solidFill>
                  <a:srgbClr val="333F48"/>
                </a:solidFill>
                <a:effectLst/>
                <a:uFillTx/>
                <a:latin typeface="TexMaths Symbols"/>
                <a:ea typeface="TexMaths Symbols"/>
              </a:rPr>
              <a:t>l</a:t>
            </a:r>
            <a:r>
              <a:rPr lang="en-US" sz="2000" b="0" u="none" strike="noStrike">
                <a:solidFill>
                  <a:srgbClr val="333F48"/>
                </a:solidFill>
                <a:effectLst/>
                <a:uFillTx/>
                <a:latin typeface="TexMaths Symbols"/>
                <a:ea typeface="TexMaths Symbols"/>
              </a:rPr>
              <a:t>   v</a:t>
            </a:r>
            <a:r>
              <a:rPr lang="en-US" sz="2000" b="0" u="none" strike="noStrike" baseline="-8000">
                <a:solidFill>
                  <a:srgbClr val="333F48"/>
                </a:solidFill>
                <a:effectLst/>
                <a:uFillTx/>
                <a:latin typeface="TexMaths Symbols"/>
                <a:ea typeface="TexMaths Symbols"/>
              </a:rPr>
              <a:t>r</a:t>
            </a:r>
            <a:r>
              <a:rPr lang="en-US" sz="2000" b="0" u="none" strike="noStrike">
                <a:solidFill>
                  <a:srgbClr val="333F48"/>
                </a:solidFill>
                <a:effectLst/>
                <a:uFillTx/>
                <a:latin typeface="TexMaths Symbols"/>
                <a:ea typeface="TexMaths Symbols"/>
              </a:rPr>
              <a:t>]</a:t>
            </a:r>
            <a:r>
              <a:rPr lang="en-US" sz="2000" b="0" u="none" strike="noStrike" baseline="-8000">
                <a:solidFill>
                  <a:srgbClr val="333F48"/>
                </a:solidFill>
                <a:effectLst/>
                <a:uFillTx/>
                <a:latin typeface="TexMaths Symbols"/>
                <a:ea typeface="TexMaths Symbols"/>
              </a:rPr>
              <a:t>k</a:t>
            </a:r>
            <a:r>
              <a:rPr lang="en-US" sz="2000" b="0" u="none" strike="noStrike">
                <a:solidFill>
                  <a:srgbClr val="333F48"/>
                </a:solidFill>
                <a:effectLst/>
                <a:uFillTx/>
                <a:latin typeface="Arial"/>
                <a:ea typeface="Arial"/>
              </a:rPr>
              <a:t> </a:t>
            </a:r>
            <a:endParaRPr lang="en-US" sz="2000" b="0" u="none" strike="noStrike">
              <a:solidFill>
                <a:srgbClr val="333F48"/>
              </a:solidFill>
              <a:effectLst/>
              <a:uFillTx/>
              <a:latin typeface="Arial"/>
            </a:endParaRPr>
          </a:p>
        </p:txBody>
      </p:sp>
      <p:pic>
        <p:nvPicPr>
          <p:cNvPr id="88" name="Graphic 87" descr="28§display§x_{k+1}=x_k+v_k\Delta t§svg§600§TRUE§"/>
          <p:cNvPicPr/>
          <p:nvPr/>
        </p:nvPicPr>
        <p:blipFill>
          <a:blip>
            <a:extLst>
              <a:ext uri="{96DAC541-7B7A-43D3-8B79-37D633B846F1}">
                <asvg:svgBlip xmlns:asvg="http://schemas.microsoft.com/office/drawing/2016/SVG/main" r:embed="rId2"/>
              </a:ext>
            </a:extLst>
          </a:blip>
          <a:stretch/>
        </p:blipFill>
        <p:spPr>
          <a:xfrm>
            <a:off x="1143000" y="3350520"/>
            <a:ext cx="2546280" cy="307080"/>
          </a:xfrm>
          <a:prstGeom prst="rect">
            <a:avLst/>
          </a:prstGeom>
          <a:noFill/>
          <a:ln w="0">
            <a:noFill/>
          </a:ln>
        </p:spPr>
      </p:pic>
      <p:pic>
        <p:nvPicPr>
          <p:cNvPr id="89" name="Graphic 88" descr="28§display§y_{k+1}=y_k+v_k\Delta t§svg§600§TRUE§"/>
          <p:cNvPicPr/>
          <p:nvPr/>
        </p:nvPicPr>
        <p:blipFill>
          <a:blip>
            <a:extLst>
              <a:ext uri="{96DAC541-7B7A-43D3-8B79-37D633B846F1}">
                <asvg:svgBlip xmlns:asvg="http://schemas.microsoft.com/office/drawing/2016/SVG/main" r:embed="rId3"/>
              </a:ext>
            </a:extLst>
          </a:blip>
          <a:stretch/>
        </p:blipFill>
        <p:spPr>
          <a:xfrm>
            <a:off x="1143360" y="3807720"/>
            <a:ext cx="2514240" cy="309600"/>
          </a:xfrm>
          <a:prstGeom prst="rect">
            <a:avLst/>
          </a:prstGeom>
          <a:noFill/>
          <a:ln w="0">
            <a:noFill/>
          </a:ln>
        </p:spPr>
      </p:pic>
      <p:pic>
        <p:nvPicPr>
          <p:cNvPr id="90" name="Graphic 89" descr="28§display§\theta_{k+1}=\theta_k + \omega_k\Delta t§svg§600§TRUE§"/>
          <p:cNvPicPr/>
          <p:nvPr/>
        </p:nvPicPr>
        <p:blipFill>
          <a:blip>
            <a:extLst>
              <a:ext uri="{96DAC541-7B7A-43D3-8B79-37D633B846F1}">
                <asvg:svgBlip xmlns:asvg="http://schemas.microsoft.com/office/drawing/2016/SVG/main" r:embed="rId4"/>
              </a:ext>
            </a:extLst>
          </a:blip>
          <a:stretch/>
        </p:blipFill>
        <p:spPr>
          <a:xfrm>
            <a:off x="1143000" y="4284360"/>
            <a:ext cx="2514600" cy="306000"/>
          </a:xfrm>
          <a:prstGeom prst="rect">
            <a:avLst/>
          </a:prstGeom>
          <a:noFill/>
          <a:ln w="0">
            <a:noFill/>
          </a:ln>
        </p:spPr>
      </p:pic>
      <p:pic>
        <p:nvPicPr>
          <p:cNvPr id="91" name="Graphic 90" descr="28§display§v_k=\frac{v_l^{(k)}+v_r^{(k)}}{2},\;\omega_k=\frac{v_r^{(k)}-v_l^{(k)}}{L}§svg§600§TRUE§"/>
          <p:cNvPicPr/>
          <p:nvPr/>
        </p:nvPicPr>
        <p:blipFill>
          <a:blip>
            <a:extLst>
              <a:ext uri="{96DAC541-7B7A-43D3-8B79-37D633B846F1}">
                <asvg:svgBlip xmlns:asvg="http://schemas.microsoft.com/office/drawing/2016/SVG/main" r:embed="rId5"/>
              </a:ext>
            </a:extLst>
          </a:blip>
          <a:stretch/>
        </p:blipFill>
        <p:spPr>
          <a:xfrm>
            <a:off x="4152240" y="3622320"/>
            <a:ext cx="4305960" cy="721080"/>
          </a:xfrm>
          <a:prstGeom prst="rect">
            <a:avLst/>
          </a:prstGeom>
          <a:noFill/>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Baseline MPPI – Deployment (2/4)</a:t>
            </a:r>
            <a:endParaRPr lang="en-US" sz="3200" b="0" u="none" strike="noStrike">
              <a:solidFill>
                <a:srgbClr val="BE5700"/>
              </a:solidFill>
              <a:effectLst/>
              <a:uFillTx/>
              <a:latin typeface="Arial"/>
            </a:endParaRPr>
          </a:p>
        </p:txBody>
      </p:sp>
      <p:sp>
        <p:nvSpPr>
          <p:cNvPr id="93" name="TextBox 92"/>
          <p:cNvSpPr txBox="1"/>
          <p:nvPr/>
        </p:nvSpPr>
        <p:spPr>
          <a:xfrm>
            <a:off x="8512920" y="4599360"/>
            <a:ext cx="3832560" cy="427320"/>
          </a:xfrm>
          <a:prstGeom prst="rect">
            <a:avLst/>
          </a:prstGeom>
          <a:noFill/>
          <a:ln w="0">
            <a:noFill/>
          </a:ln>
        </p:spPr>
        <p:txBody>
          <a:bodyPr wrap="none" lIns="90000" tIns="45000" rIns="90000" bIns="45000" anchor="t">
            <a:spAutoFit/>
          </a:bodyPr>
          <a:lstStyle/>
          <a:p>
            <a:fld id="{F299ABB2-38A7-4C5F-8E92-27DC4E420AF2}" type="slidenum">
              <a:rPr lang="en-US" sz="1800" b="0" u="none" strike="noStrike">
                <a:solidFill>
                  <a:srgbClr val="000000"/>
                </a:solidFill>
                <a:effectLst/>
                <a:uFillTx/>
                <a:latin typeface="Arial"/>
              </a:rPr>
              <a:t>19</a:t>
            </a:fld>
            <a:endParaRPr lang="en-US" sz="1800" b="0" u="none" strike="noStrike">
              <a:solidFill>
                <a:srgbClr val="000000"/>
              </a:solidFill>
              <a:effectLst/>
              <a:uFillTx/>
              <a:latin typeface="Arial"/>
            </a:endParaRPr>
          </a:p>
        </p:txBody>
      </p:sp>
      <p:sp>
        <p:nvSpPr>
          <p:cNvPr id="94" name="PlaceHolder 2"/>
          <p:cNvSpPr>
            <a:spLocks noGrp="1"/>
          </p:cNvSpPr>
          <p:nvPr>
            <p:ph/>
          </p:nvPr>
        </p:nvSpPr>
        <p:spPr>
          <a:xfrm>
            <a:off x="457200" y="1683360"/>
            <a:ext cx="8457480" cy="28886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Generated 20,000 samples with 40 time horizon steps</a:t>
            </a:r>
          </a:p>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Environment is a corridor with width 8.0 m and length 28.0 m</a:t>
            </a: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10 static circular obstacles are randomly placed throughout the environment </a:t>
            </a:r>
          </a:p>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Initial position: (0.0, 0.0); Goal position: (0.0, 20.0)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Baseline MPPI – Deployment (3/4)</a:t>
            </a:r>
            <a:endParaRPr lang="en-US" sz="3200" b="0" u="none" strike="noStrike">
              <a:solidFill>
                <a:srgbClr val="BE5700"/>
              </a:solidFill>
              <a:effectLst/>
              <a:uFillTx/>
              <a:latin typeface="Arial"/>
            </a:endParaRPr>
          </a:p>
        </p:txBody>
      </p:sp>
      <p:sp>
        <p:nvSpPr>
          <p:cNvPr id="96" name="TextBox 95"/>
          <p:cNvSpPr txBox="1"/>
          <p:nvPr/>
        </p:nvSpPr>
        <p:spPr>
          <a:xfrm>
            <a:off x="8512920" y="4599360"/>
            <a:ext cx="3832560" cy="427320"/>
          </a:xfrm>
          <a:prstGeom prst="rect">
            <a:avLst/>
          </a:prstGeom>
          <a:noFill/>
          <a:ln w="0">
            <a:noFill/>
          </a:ln>
        </p:spPr>
        <p:txBody>
          <a:bodyPr wrap="none" lIns="90000" tIns="45000" rIns="90000" bIns="45000" anchor="t">
            <a:spAutoFit/>
          </a:bodyPr>
          <a:lstStyle/>
          <a:p>
            <a:fld id="{6C43A446-E506-4F07-9937-74F541676CFA}" type="slidenum">
              <a:rPr lang="en-US" sz="1800" b="0" u="none" strike="noStrike">
                <a:solidFill>
                  <a:srgbClr val="000000"/>
                </a:solidFill>
                <a:effectLst/>
                <a:uFillTx/>
                <a:latin typeface="Arial"/>
              </a:rPr>
              <a:t>20</a:t>
            </a:fld>
            <a:endParaRPr lang="en-US" sz="1800" b="0" u="none" strike="noStrike">
              <a:solidFill>
                <a:srgbClr val="000000"/>
              </a:solidFill>
              <a:effectLst/>
              <a:uFillTx/>
              <a:latin typeface="Arial"/>
            </a:endParaRPr>
          </a:p>
        </p:txBody>
      </p:sp>
      <p:sp>
        <p:nvSpPr>
          <p:cNvPr id="97" name="PlaceHolder 2"/>
          <p:cNvSpPr>
            <a:spLocks noGrp="1"/>
          </p:cNvSpPr>
          <p:nvPr>
            <p:ph/>
          </p:nvPr>
        </p:nvSpPr>
        <p:spPr>
          <a:xfrm>
            <a:off x="457200" y="1683360"/>
            <a:ext cx="6172200" cy="31172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1800" b="0" u="none" strike="noStrike">
                <a:solidFill>
                  <a:srgbClr val="333F48"/>
                </a:solidFill>
                <a:effectLst/>
                <a:uFillTx/>
                <a:latin typeface="Arial"/>
              </a:rPr>
              <a:t>Cost evaluation of samples is parallelized on a CUDA kernel</a:t>
            </a:r>
          </a:p>
          <a:p>
            <a:pPr marL="432000" indent="-324000">
              <a:spcBef>
                <a:spcPts val="1417"/>
              </a:spcBef>
              <a:buClr>
                <a:srgbClr val="000000"/>
              </a:buClr>
              <a:buSzPct val="45000"/>
              <a:buFont typeface="Wingdings" charset="2"/>
              <a:buChar char=""/>
            </a:pPr>
            <a:r>
              <a:rPr lang="en-US" sz="1800" b="0" u="none" strike="noStrike">
                <a:solidFill>
                  <a:srgbClr val="333F48"/>
                </a:solidFill>
                <a:effectLst/>
                <a:uFillTx/>
                <a:latin typeface="Arial"/>
              </a:rPr>
              <a:t>Ran on 16-core 13</a:t>
            </a:r>
            <a:r>
              <a:rPr lang="en-US" sz="1800" b="0" u="none" strike="noStrike" baseline="33000">
                <a:solidFill>
                  <a:srgbClr val="333F48"/>
                </a:solidFill>
                <a:effectLst/>
                <a:uFillTx/>
                <a:latin typeface="Arial"/>
              </a:rPr>
              <a:t>th</a:t>
            </a:r>
            <a:r>
              <a:rPr lang="en-US" sz="1800" b="0" u="none" strike="noStrike">
                <a:solidFill>
                  <a:srgbClr val="333F48"/>
                </a:solidFill>
                <a:effectLst/>
                <a:uFillTx/>
                <a:latin typeface="Arial"/>
              </a:rPr>
              <a:t> Generation Intel i7-1360P and NVIDIA RTX 3050 GPU with 4GB VRAM and 32GB RAM</a:t>
            </a:r>
          </a:p>
          <a:p>
            <a:pPr marL="432000" indent="-324000">
              <a:spcBef>
                <a:spcPts val="1417"/>
              </a:spcBef>
              <a:buClr>
                <a:srgbClr val="000000"/>
              </a:buClr>
              <a:buSzPct val="45000"/>
              <a:buFont typeface="Wingdings" charset="2"/>
              <a:buChar char=""/>
            </a:pPr>
            <a:r>
              <a:rPr lang="en-US" sz="1800" b="0" u="none" strike="noStrike">
                <a:solidFill>
                  <a:srgbClr val="333F48"/>
                </a:solidFill>
                <a:effectLst/>
                <a:uFillTx/>
                <a:latin typeface="Arial"/>
              </a:rPr>
              <a:t>Achieved computation time of 5 ms per step (200 Hz control frequency)</a:t>
            </a:r>
          </a:p>
        </p:txBody>
      </p:sp>
      <p:pic>
        <p:nvPicPr>
          <p:cNvPr id="98" name="Picture 97"/>
          <p:cNvPicPr/>
          <p:nvPr/>
        </p:nvPicPr>
        <p:blipFill>
          <a:blip r:embed="rId2"/>
          <a:stretch/>
        </p:blipFill>
        <p:spPr>
          <a:xfrm>
            <a:off x="6745680" y="1453320"/>
            <a:ext cx="1255320" cy="3118680"/>
          </a:xfrm>
          <a:prstGeom prst="rect">
            <a:avLst/>
          </a:prstGeom>
          <a:noFill/>
          <a:ln w="0">
            <a:noFill/>
          </a:ln>
        </p:spPr>
      </p:pic>
      <p:sp>
        <p:nvSpPr>
          <p:cNvPr id="99" name="TextBox 98"/>
          <p:cNvSpPr txBox="1"/>
          <p:nvPr/>
        </p:nvSpPr>
        <p:spPr>
          <a:xfrm>
            <a:off x="6400800" y="4539960"/>
            <a:ext cx="204588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4: Baseline MPPI Implementation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228600" y="596520"/>
            <a:ext cx="89154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Baseline MPPI – Deployment (4/4)</a:t>
            </a:r>
            <a:endParaRPr lang="en-US" sz="3200" b="0" u="none" strike="noStrike">
              <a:solidFill>
                <a:srgbClr val="BE5700"/>
              </a:solidFill>
              <a:effectLst/>
              <a:uFillTx/>
              <a:latin typeface="Arial"/>
            </a:endParaRPr>
          </a:p>
        </p:txBody>
      </p:sp>
      <p:sp>
        <p:nvSpPr>
          <p:cNvPr id="101" name="TextBox 100"/>
          <p:cNvSpPr txBox="1"/>
          <p:nvPr/>
        </p:nvSpPr>
        <p:spPr>
          <a:xfrm>
            <a:off x="8512920" y="4599360"/>
            <a:ext cx="3832560" cy="427320"/>
          </a:xfrm>
          <a:prstGeom prst="rect">
            <a:avLst/>
          </a:prstGeom>
          <a:noFill/>
          <a:ln w="0">
            <a:noFill/>
          </a:ln>
        </p:spPr>
        <p:txBody>
          <a:bodyPr wrap="none" lIns="90000" tIns="45000" rIns="90000" bIns="45000" anchor="t">
            <a:spAutoFit/>
          </a:bodyPr>
          <a:lstStyle/>
          <a:p>
            <a:fld id="{46E17BDA-C3ED-49C5-95B8-1E4A9960999B}" type="slidenum">
              <a:rPr lang="en-US" sz="1800" b="0" u="none" strike="noStrike">
                <a:solidFill>
                  <a:srgbClr val="000000"/>
                </a:solidFill>
                <a:effectLst/>
                <a:uFillTx/>
                <a:latin typeface="Arial"/>
              </a:rPr>
              <a:t>21</a:t>
            </a:fld>
            <a:endParaRPr lang="en-US" sz="1800" b="0" u="none" strike="noStrike">
              <a:solidFill>
                <a:srgbClr val="000000"/>
              </a:solidFill>
              <a:effectLst/>
              <a:uFillTx/>
              <a:latin typeface="Arial"/>
            </a:endParaRPr>
          </a:p>
        </p:txBody>
      </p:sp>
      <p:pic>
        <p:nvPicPr>
          <p:cNvPr id="102" name="Picture 101"/>
          <p:cNvPicPr/>
          <p:nvPr/>
        </p:nvPicPr>
        <p:blipFill>
          <a:blip r:embed="rId2"/>
          <a:stretch/>
        </p:blipFill>
        <p:spPr>
          <a:xfrm>
            <a:off x="4340520" y="1859040"/>
            <a:ext cx="3203280" cy="2745720"/>
          </a:xfrm>
          <a:prstGeom prst="rect">
            <a:avLst/>
          </a:prstGeom>
          <a:noFill/>
          <a:ln w="0">
            <a:noFill/>
          </a:ln>
        </p:spPr>
      </p:pic>
      <p:pic>
        <p:nvPicPr>
          <p:cNvPr id="103" name="Picture 102"/>
          <p:cNvPicPr/>
          <p:nvPr/>
        </p:nvPicPr>
        <p:blipFill>
          <a:blip r:embed="rId3"/>
          <a:stretch/>
        </p:blipFill>
        <p:spPr>
          <a:xfrm>
            <a:off x="685800" y="1861560"/>
            <a:ext cx="3200400" cy="2743200"/>
          </a:xfrm>
          <a:prstGeom prst="rect">
            <a:avLst/>
          </a:prstGeom>
          <a:noFill/>
          <a:ln w="0">
            <a:noFill/>
          </a:ln>
        </p:spPr>
      </p:pic>
      <p:sp>
        <p:nvSpPr>
          <p:cNvPr id="104" name="TextBox 103"/>
          <p:cNvSpPr txBox="1"/>
          <p:nvPr/>
        </p:nvSpPr>
        <p:spPr>
          <a:xfrm>
            <a:off x="228600" y="1371600"/>
            <a:ext cx="8686800" cy="346320"/>
          </a:xfrm>
          <a:prstGeom prst="rect">
            <a:avLst/>
          </a:prstGeom>
          <a:noFill/>
          <a:ln w="0">
            <a:noFill/>
          </a:ln>
        </p:spPr>
        <p:txBody>
          <a:bodyPr lIns="90000" tIns="45000" rIns="90000" bIns="45000" anchor="t">
            <a:spAutoFit/>
          </a:bodyPr>
          <a:lstStyle/>
          <a:p>
            <a:r>
              <a:rPr lang="en-US" sz="1800" b="0" u="none" strike="noStrike">
                <a:solidFill>
                  <a:srgbClr val="000000"/>
                </a:solidFill>
                <a:effectLst/>
                <a:uFillTx/>
                <a:latin typeface="Arial"/>
              </a:rPr>
              <a:t>Observed some undesired behavior; ex. backwards motion (left), entrapment (right)</a:t>
            </a:r>
          </a:p>
        </p:txBody>
      </p:sp>
      <p:sp>
        <p:nvSpPr>
          <p:cNvPr id="105" name="TextBox 104"/>
          <p:cNvSpPr txBox="1"/>
          <p:nvPr/>
        </p:nvSpPr>
        <p:spPr>
          <a:xfrm>
            <a:off x="685800" y="4572000"/>
            <a:ext cx="32004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5: Baseline MPPI Simulation exhibiting Backwards Motion</a:t>
            </a:r>
          </a:p>
        </p:txBody>
      </p:sp>
      <p:sp>
        <p:nvSpPr>
          <p:cNvPr id="106" name="TextBox 105"/>
          <p:cNvSpPr txBox="1"/>
          <p:nvPr/>
        </p:nvSpPr>
        <p:spPr>
          <a:xfrm>
            <a:off x="4343400" y="4572000"/>
            <a:ext cx="32004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6: Baseline MPPI Simulation exhibiting Entrapment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107" name="Straight Connector 3"/>
          <p:cNvCxnSpPr/>
          <p:nvPr/>
        </p:nvCxnSpPr>
        <p:spPr>
          <a:xfrm>
            <a:off x="628560" y="3105000"/>
            <a:ext cx="5619960" cy="360"/>
          </a:xfrm>
          <a:prstGeom prst="straightConnector1">
            <a:avLst/>
          </a:prstGeom>
          <a:ln w="19080">
            <a:solidFill>
              <a:srgbClr val="FFFFFF"/>
            </a:solidFill>
            <a:round/>
          </a:ln>
        </p:spPr>
      </p:cxnSp>
      <p:sp>
        <p:nvSpPr>
          <p:cNvPr id="108" name="Title Placeholder 4"/>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Robust Mppi in dynamic environments</a:t>
            </a:r>
            <a:endParaRPr lang="en-US" sz="4800" b="0" u="none" strike="noStrike">
              <a:solidFill>
                <a:srgbClr val="FFFFFF"/>
              </a:solidFill>
              <a:effectLst/>
              <a:uFillTx/>
              <a:latin typeface="Arial"/>
            </a:endParaRPr>
          </a:p>
        </p:txBody>
      </p:sp>
      <p:sp>
        <p:nvSpPr>
          <p:cNvPr id="109" name="Text Placeholder 3"/>
          <p:cNvSpPr/>
          <p:nvPr/>
        </p:nvSpPr>
        <p:spPr>
          <a:xfrm>
            <a:off x="548640" y="3333600"/>
            <a:ext cx="7886520" cy="7812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Avoiding Entrapment through Real-Time Covariance Adaptation</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Dynamic Obstacle Handling</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endParaRPr lang="en-US" sz="1400" b="0" u="none" strike="noStrike">
              <a:solidFill>
                <a:srgbClr val="FFFFFF"/>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Entrapment Problem</a:t>
            </a:r>
            <a:endParaRPr lang="en-US" sz="4400" b="0" u="none" strike="noStrike">
              <a:solidFill>
                <a:srgbClr val="BE5700"/>
              </a:solidFill>
              <a:effectLst/>
              <a:uFillTx/>
              <a:latin typeface="Arial"/>
            </a:endParaRPr>
          </a:p>
        </p:txBody>
      </p:sp>
      <p:sp>
        <p:nvSpPr>
          <p:cNvPr id="111" name="PlaceHolder 2"/>
          <p:cNvSpPr>
            <a:spLocks noGrp="1"/>
          </p:cNvSpPr>
          <p:nvPr>
            <p:ph/>
          </p:nvPr>
        </p:nvSpPr>
        <p:spPr>
          <a:xfrm>
            <a:off x="457200" y="1657800"/>
            <a:ext cx="6629400" cy="2457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Robot experiences a “trap” where it is surrounded by obstacles</a:t>
            </a:r>
          </a:p>
          <a:p>
            <a:pPr marL="864000" lvl="1" indent="-324000">
              <a:spcBef>
                <a:spcPts val="1134"/>
              </a:spcBef>
              <a:buClr>
                <a:srgbClr val="000000"/>
              </a:buClr>
              <a:buSzPct val="75000"/>
              <a:buFont typeface="Symbol" charset="2"/>
              <a:buChar char=""/>
            </a:pPr>
            <a:r>
              <a:rPr lang="en-US" sz="2400" b="0" u="none" strike="noStrike">
                <a:solidFill>
                  <a:srgbClr val="333F48"/>
                </a:solidFill>
                <a:effectLst/>
                <a:uFillTx/>
                <a:latin typeface="Arial"/>
              </a:rPr>
              <a:t>Unable to derive a solution which continues navigation towards goal</a:t>
            </a:r>
          </a:p>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Mathematical Definition: </a:t>
            </a:r>
          </a:p>
        </p:txBody>
      </p:sp>
      <p:sp>
        <p:nvSpPr>
          <p:cNvPr id="112" name="TextBox 111"/>
          <p:cNvSpPr txBox="1"/>
          <p:nvPr/>
        </p:nvSpPr>
        <p:spPr>
          <a:xfrm>
            <a:off x="8512920" y="4596840"/>
            <a:ext cx="3832560" cy="427320"/>
          </a:xfrm>
          <a:prstGeom prst="rect">
            <a:avLst/>
          </a:prstGeom>
          <a:noFill/>
          <a:ln w="0">
            <a:noFill/>
          </a:ln>
        </p:spPr>
        <p:txBody>
          <a:bodyPr wrap="none" lIns="90000" tIns="45000" rIns="90000" bIns="45000" anchor="t">
            <a:spAutoFit/>
          </a:bodyPr>
          <a:lstStyle/>
          <a:p>
            <a:fld id="{48D755AC-9DD1-455C-9374-C761598B0356}" type="slidenum">
              <a:rPr lang="en-US" sz="1800" b="0" u="none" strike="noStrike">
                <a:solidFill>
                  <a:srgbClr val="000000"/>
                </a:solidFill>
                <a:effectLst/>
                <a:uFillTx/>
                <a:latin typeface="Arial"/>
              </a:rPr>
              <a:t>23</a:t>
            </a:fld>
            <a:endParaRPr lang="en-US" sz="1800" b="0" u="none" strike="noStrike">
              <a:solidFill>
                <a:srgbClr val="000000"/>
              </a:solidFill>
              <a:effectLst/>
              <a:uFillTx/>
              <a:latin typeface="Arial"/>
            </a:endParaRPr>
          </a:p>
        </p:txBody>
      </p:sp>
      <p:pic>
        <p:nvPicPr>
          <p:cNvPr id="113" name="Picture 112"/>
          <p:cNvPicPr/>
          <p:nvPr/>
        </p:nvPicPr>
        <p:blipFill>
          <a:blip r:embed="rId2"/>
          <a:stretch/>
        </p:blipFill>
        <p:spPr>
          <a:xfrm>
            <a:off x="7315200" y="914400"/>
            <a:ext cx="1167480" cy="3314520"/>
          </a:xfrm>
          <a:prstGeom prst="rect">
            <a:avLst/>
          </a:prstGeom>
          <a:noFill/>
          <a:ln w="0">
            <a:noFill/>
          </a:ln>
        </p:spPr>
      </p:pic>
      <p:pic>
        <p:nvPicPr>
          <p:cNvPr id="114" name="Graphic 113" descr="28§display§\min_{\mathbf{x}_k,\mathcal{T}}\{\mathcal{J}_1,\cdots,\mathcal{J}_M\}&gt;\min_{\mathbf{x}_k,\mathcal{E}}\{\mathcal{J}_1,\cdots,\mathcal{J}_M\}§svg§600§TRUE§"/>
          <p:cNvPicPr/>
          <p:nvPr/>
        </p:nvPicPr>
        <p:blipFill>
          <a:blip>
            <a:extLst>
              <a:ext uri="{96DAC541-7B7A-43D3-8B79-37D633B846F1}">
                <asvg:svgBlip xmlns:asvg="http://schemas.microsoft.com/office/drawing/2016/SVG/main" r:embed="rId3"/>
              </a:ext>
            </a:extLst>
          </a:blip>
          <a:stretch/>
        </p:blipFill>
        <p:spPr>
          <a:xfrm>
            <a:off x="914400" y="4226400"/>
            <a:ext cx="6076800" cy="574200"/>
          </a:xfrm>
          <a:prstGeom prst="rect">
            <a:avLst/>
          </a:prstGeom>
          <a:noFill/>
          <a:ln w="0">
            <a:noFill/>
          </a:ln>
        </p:spPr>
      </p:pic>
      <p:sp>
        <p:nvSpPr>
          <p:cNvPr id="115" name="TextBox 114"/>
          <p:cNvSpPr txBox="1"/>
          <p:nvPr/>
        </p:nvSpPr>
        <p:spPr>
          <a:xfrm>
            <a:off x="7315200" y="4165200"/>
            <a:ext cx="13716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7: Entrapped robot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685800"/>
            <a:ext cx="8229240" cy="856800"/>
          </a:xfrm>
          <a:prstGeom prst="rect">
            <a:avLst/>
          </a:prstGeom>
          <a:noFill/>
          <a:ln w="0">
            <a:noFill/>
          </a:ln>
        </p:spPr>
        <p:txBody>
          <a:bodyPr lIns="91440" tIns="45720" rIns="91440" bIns="45720" anchor="ctr">
            <a:noAutofit/>
          </a:bodyPr>
          <a:lstStyle/>
          <a:p>
            <a:pPr indent="0">
              <a:lnSpc>
                <a:spcPct val="100000"/>
              </a:lnSpc>
              <a:buNone/>
            </a:pPr>
            <a:r>
              <a:rPr lang="en-US" sz="4400" b="1" u="none" strike="noStrike">
                <a:solidFill>
                  <a:srgbClr val="333F48"/>
                </a:solidFill>
                <a:effectLst/>
                <a:uFillTx/>
                <a:latin typeface="Arial Black"/>
              </a:rPr>
              <a:t>Solution to Entrapment</a:t>
            </a:r>
            <a:endParaRPr lang="en-US" sz="4400" b="0" u="none" strike="noStrike">
              <a:solidFill>
                <a:srgbClr val="BE5700"/>
              </a:solidFill>
              <a:effectLst/>
              <a:uFillTx/>
              <a:latin typeface="Arial"/>
            </a:endParaRPr>
          </a:p>
        </p:txBody>
      </p:sp>
      <p:sp>
        <p:nvSpPr>
          <p:cNvPr id="117" name="PlaceHolder 2"/>
          <p:cNvSpPr>
            <a:spLocks noGrp="1"/>
          </p:cNvSpPr>
          <p:nvPr>
            <p:ph/>
          </p:nvPr>
        </p:nvSpPr>
        <p:spPr>
          <a:xfrm>
            <a:off x="457200" y="1657800"/>
            <a:ext cx="8458200" cy="31428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Aim to increase the probability of generating an escape trajectory</a:t>
            </a: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Solution A (trivial): Increase </a:t>
            </a:r>
            <a:r>
              <a:rPr lang="en-US" sz="2000" b="1" i="1" u="none" strike="noStrike">
                <a:solidFill>
                  <a:srgbClr val="333F48"/>
                </a:solidFill>
                <a:effectLst/>
                <a:uFillTx/>
                <a:latin typeface="Arial"/>
              </a:rPr>
              <a:t>M</a:t>
            </a:r>
            <a:endParaRPr lang="en-US" sz="2000" b="0" u="none" strike="noStrike">
              <a:solidFill>
                <a:srgbClr val="333F48"/>
              </a:solidFill>
              <a:effectLst/>
              <a:uFillTx/>
              <a:latin typeface="Arial"/>
            </a:endParaRP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Solution B: Increase perturbation covariance </a:t>
            </a:r>
            <a:r>
              <a:rPr lang="en-US" sz="2000" b="1" i="1" u="none" strike="noStrike">
                <a:solidFill>
                  <a:srgbClr val="333F48"/>
                </a:solidFill>
                <a:effectLst/>
                <a:uFillTx/>
                <a:latin typeface="Arial"/>
              </a:rPr>
              <a:t>Σ </a:t>
            </a:r>
            <a:r>
              <a:rPr lang="en-US" sz="2000" b="0" u="none" strike="noStrike">
                <a:solidFill>
                  <a:srgbClr val="333F48"/>
                </a:solidFill>
                <a:effectLst/>
                <a:uFillTx/>
                <a:latin typeface="Arial"/>
              </a:rPr>
              <a:t>when close to obstacles</a:t>
            </a:r>
          </a:p>
          <a:p>
            <a:pPr marL="432000" indent="-324000">
              <a:spcBef>
                <a:spcPts val="1417"/>
              </a:spcBef>
              <a:buClr>
                <a:srgbClr val="000000"/>
              </a:buClr>
              <a:buSzPct val="45000"/>
              <a:buFont typeface="Wingdings" charset="2"/>
              <a:buChar char=""/>
            </a:pPr>
            <a:r>
              <a:rPr lang="en-US" sz="2400" b="0" u="none" strike="noStrike">
                <a:solidFill>
                  <a:srgbClr val="333F48"/>
                </a:solidFill>
                <a:effectLst/>
                <a:uFillTx/>
                <a:latin typeface="Arial"/>
              </a:rPr>
              <a:t>Increasing the number of samples increases computational load so we opt for solution B</a:t>
            </a:r>
          </a:p>
        </p:txBody>
      </p:sp>
      <p:sp>
        <p:nvSpPr>
          <p:cNvPr id="118" name="TextBox 117"/>
          <p:cNvSpPr txBox="1"/>
          <p:nvPr/>
        </p:nvSpPr>
        <p:spPr>
          <a:xfrm>
            <a:off x="8512920" y="4596840"/>
            <a:ext cx="3832560" cy="427320"/>
          </a:xfrm>
          <a:prstGeom prst="rect">
            <a:avLst/>
          </a:prstGeom>
          <a:noFill/>
          <a:ln w="0">
            <a:noFill/>
          </a:ln>
        </p:spPr>
        <p:txBody>
          <a:bodyPr wrap="none" lIns="90000" tIns="45000" rIns="90000" bIns="45000" anchor="t">
            <a:spAutoFit/>
          </a:bodyPr>
          <a:lstStyle/>
          <a:p>
            <a:fld id="{009E91EC-0602-450D-AEE0-7048C69B5338}" type="slidenum">
              <a:rPr lang="en-US" sz="1800" b="0" u="none" strike="noStrike">
                <a:solidFill>
                  <a:srgbClr val="000000"/>
                </a:solidFill>
                <a:effectLst/>
                <a:uFillTx/>
                <a:latin typeface="Arial"/>
              </a:rPr>
              <a:t>24</a:t>
            </a:fld>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4000" b="1" u="none" strike="noStrike">
                <a:solidFill>
                  <a:srgbClr val="333F48"/>
                </a:solidFill>
                <a:effectLst/>
                <a:uFillTx/>
                <a:latin typeface="Arial Black"/>
              </a:rPr>
              <a:t>Covariance Adaptation (1/2)</a:t>
            </a:r>
            <a:endParaRPr lang="en-US" sz="4000" b="0" u="none" strike="noStrike">
              <a:solidFill>
                <a:srgbClr val="BE5700"/>
              </a:solidFill>
              <a:effectLst/>
              <a:uFillTx/>
              <a:latin typeface="Arial"/>
            </a:endParaRPr>
          </a:p>
        </p:txBody>
      </p:sp>
      <p:sp>
        <p:nvSpPr>
          <p:cNvPr id="120" name="PlaceHolder 2"/>
          <p:cNvSpPr>
            <a:spLocks noGrp="1"/>
          </p:cNvSpPr>
          <p:nvPr>
            <p:ph/>
          </p:nvPr>
        </p:nvSpPr>
        <p:spPr>
          <a:xfrm>
            <a:off x="457200" y="1542600"/>
            <a:ext cx="8458200" cy="30294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400" b="0" u="none" strike="noStrike" dirty="0">
                <a:solidFill>
                  <a:srgbClr val="333F48"/>
                </a:solidFill>
                <a:effectLst/>
                <a:uFillTx/>
                <a:latin typeface="Arial"/>
              </a:rPr>
              <a:t>Manipulating covariance based on presence of obstacles yields higher escape probability</a:t>
            </a:r>
          </a:p>
          <a:p>
            <a:pPr marL="864000" lvl="1" indent="-324000">
              <a:spcBef>
                <a:spcPts val="1134"/>
              </a:spcBef>
              <a:buClr>
                <a:srgbClr val="000000"/>
              </a:buClr>
              <a:buSzPct val="75000"/>
              <a:buFont typeface="Symbol" charset="2"/>
              <a:buChar char=""/>
            </a:pPr>
            <a:r>
              <a:rPr lang="en-US" sz="2200" b="0" u="none" strike="noStrike" dirty="0">
                <a:solidFill>
                  <a:srgbClr val="333F48"/>
                </a:solidFill>
                <a:effectLst/>
                <a:uFillTx/>
                <a:latin typeface="Arial"/>
                <a:hlinkClick r:id="rId2"/>
              </a:rPr>
              <a:t>Proof Linked Here</a:t>
            </a:r>
            <a:endParaRPr lang="en-US" sz="2200" b="0" u="none" strike="noStrike" dirty="0">
              <a:solidFill>
                <a:srgbClr val="333F48"/>
              </a:solidFill>
              <a:effectLst/>
              <a:uFillTx/>
              <a:latin typeface="Arial"/>
            </a:endParaRPr>
          </a:p>
          <a:p>
            <a:pPr marL="432000" indent="-324000">
              <a:spcBef>
                <a:spcPts val="1417"/>
              </a:spcBef>
              <a:buClr>
                <a:srgbClr val="000000"/>
              </a:buClr>
              <a:buSzPct val="45000"/>
              <a:buFont typeface="Wingdings" charset="2"/>
              <a:buChar char=""/>
            </a:pPr>
            <a:r>
              <a:rPr lang="en-US" sz="2400" b="0" u="none" strike="noStrike" dirty="0">
                <a:solidFill>
                  <a:srgbClr val="333F48"/>
                </a:solidFill>
                <a:effectLst/>
                <a:uFillTx/>
                <a:latin typeface="Arial"/>
              </a:rPr>
              <a:t>Discriminate generated trajectories as “safe” or “unsafe”</a:t>
            </a:r>
          </a:p>
          <a:p>
            <a:pPr marL="864000" lvl="1" indent="-324000">
              <a:spcBef>
                <a:spcPts val="1134"/>
              </a:spcBef>
              <a:buClr>
                <a:srgbClr val="000000"/>
              </a:buClr>
              <a:buSzPct val="75000"/>
              <a:buFont typeface="Symbol" charset="2"/>
              <a:buChar char=""/>
            </a:pPr>
            <a:r>
              <a:rPr lang="en-US" sz="2200" b="0" u="none" strike="noStrike" dirty="0">
                <a:solidFill>
                  <a:srgbClr val="333F48"/>
                </a:solidFill>
                <a:effectLst/>
                <a:uFillTx/>
                <a:latin typeface="Arial"/>
              </a:rPr>
              <a:t>Safe: away from obstacles all time steps</a:t>
            </a:r>
          </a:p>
          <a:p>
            <a:pPr marL="864000" lvl="1" indent="-324000">
              <a:spcBef>
                <a:spcPts val="1134"/>
              </a:spcBef>
              <a:buClr>
                <a:srgbClr val="000000"/>
              </a:buClr>
              <a:buSzPct val="75000"/>
              <a:buFont typeface="Symbol" charset="2"/>
              <a:buChar char=""/>
            </a:pPr>
            <a:r>
              <a:rPr lang="en-US" sz="2200" b="0" u="none" strike="noStrike" dirty="0">
                <a:solidFill>
                  <a:srgbClr val="333F48"/>
                </a:solidFill>
                <a:effectLst/>
                <a:uFillTx/>
                <a:latin typeface="Arial"/>
              </a:rPr>
              <a:t>Unsafe: near an obstacle at some time step</a:t>
            </a:r>
          </a:p>
        </p:txBody>
      </p:sp>
      <p:sp>
        <p:nvSpPr>
          <p:cNvPr id="121" name="TextBox 120"/>
          <p:cNvSpPr txBox="1"/>
          <p:nvPr/>
        </p:nvSpPr>
        <p:spPr>
          <a:xfrm>
            <a:off x="8512920" y="4596840"/>
            <a:ext cx="3832560" cy="427320"/>
          </a:xfrm>
          <a:prstGeom prst="rect">
            <a:avLst/>
          </a:prstGeom>
          <a:noFill/>
          <a:ln w="0">
            <a:noFill/>
          </a:ln>
        </p:spPr>
        <p:txBody>
          <a:bodyPr wrap="none" lIns="90000" tIns="45000" rIns="90000" bIns="45000" anchor="t">
            <a:spAutoFit/>
          </a:bodyPr>
          <a:lstStyle/>
          <a:p>
            <a:fld id="{6FF984F2-CD6E-46F9-956F-1A99696FC758}" type="slidenum">
              <a:rPr lang="en-US" sz="1800" b="0" u="none" strike="noStrike">
                <a:solidFill>
                  <a:srgbClr val="000000"/>
                </a:solidFill>
                <a:effectLst/>
                <a:uFillTx/>
                <a:latin typeface="Arial"/>
              </a:rPr>
              <a:t>25</a:t>
            </a:fld>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4000" b="1" u="none" strike="noStrike">
                <a:solidFill>
                  <a:srgbClr val="333F48"/>
                </a:solidFill>
                <a:effectLst/>
                <a:uFillTx/>
                <a:latin typeface="Arial Black"/>
              </a:rPr>
              <a:t>Covariance Adaptation (2/2)</a:t>
            </a:r>
            <a:endParaRPr lang="en-US" sz="4000" b="0" u="none" strike="noStrike">
              <a:solidFill>
                <a:srgbClr val="BE5700"/>
              </a:solidFill>
              <a:effectLst/>
              <a:uFillTx/>
              <a:latin typeface="Arial"/>
            </a:endParaRPr>
          </a:p>
        </p:txBody>
      </p:sp>
      <p:sp>
        <p:nvSpPr>
          <p:cNvPr id="123" name="PlaceHolder 2"/>
          <p:cNvSpPr>
            <a:spLocks noGrp="1"/>
          </p:cNvSpPr>
          <p:nvPr>
            <p:ph/>
          </p:nvPr>
        </p:nvSpPr>
        <p:spPr>
          <a:xfrm>
            <a:off x="457200" y="1600200"/>
            <a:ext cx="8458200" cy="628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For each rollout, derive the danger </a:t>
            </a:r>
            <a:r>
              <a:rPr lang="en-US" sz="2800" b="0" u="none" strike="noStrike">
                <a:solidFill>
                  <a:srgbClr val="333F48"/>
                </a:solidFill>
                <a:effectLst/>
                <a:uFillTx/>
                <a:latin typeface="TexMaths Calligraphic"/>
                <a:ea typeface="TexMaths Calligraphic"/>
              </a:rPr>
              <a:t>D</a:t>
            </a:r>
            <a:endParaRPr lang="en-US" sz="2800" b="0" u="none" strike="noStrike">
              <a:solidFill>
                <a:srgbClr val="333F48"/>
              </a:solidFill>
              <a:effectLst/>
              <a:uFillTx/>
              <a:latin typeface="Arial"/>
            </a:endParaRPr>
          </a:p>
        </p:txBody>
      </p:sp>
      <p:sp>
        <p:nvSpPr>
          <p:cNvPr id="124" name="TextBox 123"/>
          <p:cNvSpPr txBox="1"/>
          <p:nvPr/>
        </p:nvSpPr>
        <p:spPr>
          <a:xfrm>
            <a:off x="8512920" y="4596840"/>
            <a:ext cx="3832560" cy="427320"/>
          </a:xfrm>
          <a:prstGeom prst="rect">
            <a:avLst/>
          </a:prstGeom>
          <a:noFill/>
          <a:ln w="0">
            <a:noFill/>
          </a:ln>
        </p:spPr>
        <p:txBody>
          <a:bodyPr wrap="none" lIns="90000" tIns="45000" rIns="90000" bIns="45000" anchor="t">
            <a:spAutoFit/>
          </a:bodyPr>
          <a:lstStyle/>
          <a:p>
            <a:fld id="{A2B14071-FE35-49F6-BD1C-D96886246786}" type="slidenum">
              <a:rPr lang="en-US" sz="1800" b="0" u="none" strike="noStrike">
                <a:solidFill>
                  <a:srgbClr val="000000"/>
                </a:solidFill>
                <a:effectLst/>
                <a:uFillTx/>
                <a:latin typeface="Arial"/>
              </a:rPr>
              <a:t>26</a:t>
            </a:fld>
            <a:endParaRPr lang="en-US" sz="1800" b="0" u="none" strike="noStrike">
              <a:solidFill>
                <a:srgbClr val="000000"/>
              </a:solidFill>
              <a:effectLst/>
              <a:uFillTx/>
              <a:latin typeface="Arial"/>
            </a:endParaRPr>
          </a:p>
        </p:txBody>
      </p:sp>
      <p:pic>
        <p:nvPicPr>
          <p:cNvPr id="125" name="Graphic 124" descr="28§display§\mathcal{D}=P(\underline{\mathbf{x}}\in\mathcal{X}_U)=\frac{\lvert\mathcal{X}_U\rvert}{M}§svg§600§TRUE§"/>
          <p:cNvPicPr/>
          <p:nvPr/>
        </p:nvPicPr>
        <p:blipFill>
          <a:blip>
            <a:extLst>
              <a:ext uri="{96DAC541-7B7A-43D3-8B79-37D633B846F1}">
                <asvg:svgBlip xmlns:asvg="http://schemas.microsoft.com/office/drawing/2016/SVG/main" r:embed="rId2"/>
              </a:ext>
            </a:extLst>
          </a:blip>
          <a:stretch/>
        </p:blipFill>
        <p:spPr>
          <a:xfrm>
            <a:off x="1828800" y="2224800"/>
            <a:ext cx="3646080" cy="747000"/>
          </a:xfrm>
          <a:prstGeom prst="rect">
            <a:avLst/>
          </a:prstGeom>
          <a:noFill/>
          <a:ln w="0">
            <a:noFill/>
          </a:ln>
        </p:spPr>
      </p:pic>
      <p:sp>
        <p:nvSpPr>
          <p:cNvPr id="126" name="PlaceHolder 3"/>
          <p:cNvSpPr>
            <a:spLocks noGrp="1"/>
          </p:cNvSpPr>
          <p:nvPr>
            <p:ph/>
          </p:nvPr>
        </p:nvSpPr>
        <p:spPr>
          <a:xfrm>
            <a:off x="457200" y="3087000"/>
            <a:ext cx="8458200" cy="10278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800" b="0" u="none" strike="noStrike">
                <a:solidFill>
                  <a:srgbClr val="333F48"/>
                </a:solidFill>
                <a:effectLst/>
                <a:uFillTx/>
                <a:latin typeface="Arial"/>
              </a:rPr>
              <a:t>Update covariance based on observed danger with a maximum threshold </a:t>
            </a:r>
            <a:r>
              <a:rPr lang="en-US" sz="2800" b="0" u="none" strike="noStrike">
                <a:solidFill>
                  <a:srgbClr val="333F48"/>
                </a:solidFill>
                <a:effectLst/>
                <a:uFillTx/>
                <a:latin typeface="TexMaths Symbols"/>
                <a:ea typeface="TexMaths Symbols"/>
              </a:rPr>
              <a:t>μ</a:t>
            </a:r>
            <a:r>
              <a:rPr lang="en-US" sz="2800" b="0" u="none" strike="noStrike" baseline="-8000">
                <a:solidFill>
                  <a:srgbClr val="333F48"/>
                </a:solidFill>
                <a:effectLst/>
                <a:uFillTx/>
                <a:latin typeface="TexMaths Symbols"/>
                <a:ea typeface="TexMaths Symbols"/>
              </a:rPr>
              <a:t>max</a:t>
            </a:r>
            <a:r>
              <a:rPr lang="en-US" sz="2800" b="0" u="none" strike="noStrike">
                <a:solidFill>
                  <a:srgbClr val="333F48"/>
                </a:solidFill>
                <a:effectLst/>
                <a:uFillTx/>
                <a:latin typeface="Arial"/>
                <a:ea typeface="Arial"/>
              </a:rPr>
              <a:t> </a:t>
            </a:r>
            <a:endParaRPr lang="en-US" sz="2800" b="0" u="none" strike="noStrike">
              <a:solidFill>
                <a:srgbClr val="333F48"/>
              </a:solidFill>
              <a:effectLst/>
              <a:uFillTx/>
              <a:latin typeface="Arial"/>
            </a:endParaRPr>
          </a:p>
        </p:txBody>
      </p:sp>
      <p:pic>
        <p:nvPicPr>
          <p:cNvPr id="127" name="Graphic 126" descr="28§display§\mathbf\Sigma_t=\mathcal{D}^2(\mu_{max}-1)\mathbf\Sigma_0§svg§600§TRUE§"/>
          <p:cNvPicPr/>
          <p:nvPr/>
        </p:nvPicPr>
        <p:blipFill>
          <a:blip>
            <a:extLst>
              <a:ext uri="{96DAC541-7B7A-43D3-8B79-37D633B846F1}">
                <asvg:svgBlip xmlns:asvg="http://schemas.microsoft.com/office/drawing/2016/SVG/main" r:embed="rId3"/>
              </a:ext>
            </a:extLst>
          </a:blip>
          <a:stretch/>
        </p:blipFill>
        <p:spPr>
          <a:xfrm>
            <a:off x="2643840" y="4146480"/>
            <a:ext cx="3463560" cy="42552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Dynamic Obstacle Modeling (1/2)</a:t>
            </a:r>
            <a:endParaRPr lang="en-US" sz="3200" b="0" u="none" strike="noStrike">
              <a:solidFill>
                <a:srgbClr val="BE5700"/>
              </a:solidFill>
              <a:effectLst/>
              <a:uFillTx/>
              <a:latin typeface="Arial"/>
            </a:endParaRPr>
          </a:p>
        </p:txBody>
      </p:sp>
      <p:sp>
        <p:nvSpPr>
          <p:cNvPr id="129" name="TextBox 128"/>
          <p:cNvSpPr txBox="1"/>
          <p:nvPr/>
        </p:nvSpPr>
        <p:spPr>
          <a:xfrm>
            <a:off x="8512920" y="4596840"/>
            <a:ext cx="3832560" cy="427320"/>
          </a:xfrm>
          <a:prstGeom prst="rect">
            <a:avLst/>
          </a:prstGeom>
          <a:noFill/>
          <a:ln w="0">
            <a:noFill/>
          </a:ln>
        </p:spPr>
        <p:txBody>
          <a:bodyPr wrap="none" lIns="90000" tIns="45000" rIns="90000" bIns="45000" anchor="t">
            <a:spAutoFit/>
          </a:bodyPr>
          <a:lstStyle/>
          <a:p>
            <a:fld id="{5EB07EB2-92C1-4E96-9461-D32121F13590}" type="slidenum">
              <a:rPr lang="en-US" sz="1800" b="0" u="none" strike="noStrike">
                <a:solidFill>
                  <a:srgbClr val="000000"/>
                </a:solidFill>
                <a:effectLst/>
                <a:uFillTx/>
                <a:latin typeface="Arial"/>
              </a:rPr>
              <a:t>27</a:t>
            </a:fld>
            <a:endParaRPr lang="en-US" sz="1800" b="0" u="none" strike="noStrike">
              <a:solidFill>
                <a:srgbClr val="000000"/>
              </a:solidFill>
              <a:effectLst/>
              <a:uFillTx/>
              <a:latin typeface="Arial"/>
            </a:endParaRPr>
          </a:p>
        </p:txBody>
      </p:sp>
      <p:sp>
        <p:nvSpPr>
          <p:cNvPr id="130" name="TextBox 129"/>
          <p:cNvSpPr txBox="1"/>
          <p:nvPr/>
        </p:nvSpPr>
        <p:spPr>
          <a:xfrm>
            <a:off x="457200" y="1600200"/>
            <a:ext cx="8458200" cy="162324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Model dynamic obstacles after low-fidelity humanistic motion</a:t>
            </a:r>
            <a:endParaRPr lang="en-US" sz="2400" b="0" u="none" strike="noStrike">
              <a:solidFill>
                <a:srgbClr val="000000"/>
              </a:solidFill>
              <a:effectLst/>
              <a:uFillTx/>
              <a:latin typeface="Arial"/>
            </a:endParaRPr>
          </a:p>
          <a:p>
            <a:pPr marL="216000" indent="-216000">
              <a:lnSpc>
                <a:spcPct val="115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Assumptions: constant speed, direction changing follows first-order steering dynamics</a:t>
            </a:r>
            <a:endParaRPr lang="en-US" sz="2400" b="0" u="none" strike="noStrike">
              <a:solidFill>
                <a:srgbClr val="000000"/>
              </a:solidFill>
              <a:effectLst/>
              <a:uFillTx/>
              <a:latin typeface="Arial"/>
            </a:endParaRPr>
          </a:p>
        </p:txBody>
      </p:sp>
      <p:pic>
        <p:nvPicPr>
          <p:cNvPr id="131" name="Graphic 130" descr="28§display§\theta_{k+1}=\theta_k+(\theta_{des}-\theta_k)\cdot\frac{\Delta t}{\tau_s}§svg§600§TRUE§"/>
          <p:cNvPicPr/>
          <p:nvPr/>
        </p:nvPicPr>
        <p:blipFill>
          <a:blip>
            <a:extLst>
              <a:ext uri="{96DAC541-7B7A-43D3-8B79-37D633B846F1}">
                <asvg:svgBlip xmlns:asvg="http://schemas.microsoft.com/office/drawing/2016/SVG/main" r:embed="rId2"/>
              </a:ext>
            </a:extLst>
          </a:blip>
          <a:stretch/>
        </p:blipFill>
        <p:spPr>
          <a:xfrm>
            <a:off x="914400" y="3297240"/>
            <a:ext cx="4341600" cy="817560"/>
          </a:xfrm>
          <a:prstGeom prst="rect">
            <a:avLst/>
          </a:prstGeom>
          <a:noFill/>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Dynamic Obstacle Modeling (2/2)</a:t>
            </a:r>
            <a:endParaRPr lang="en-US" sz="3200" b="0" u="none" strike="noStrike">
              <a:solidFill>
                <a:srgbClr val="BE5700"/>
              </a:solidFill>
              <a:effectLst/>
              <a:uFillTx/>
              <a:latin typeface="Arial"/>
            </a:endParaRPr>
          </a:p>
        </p:txBody>
      </p:sp>
      <p:sp>
        <p:nvSpPr>
          <p:cNvPr id="133" name="TextBox 132"/>
          <p:cNvSpPr txBox="1"/>
          <p:nvPr/>
        </p:nvSpPr>
        <p:spPr>
          <a:xfrm>
            <a:off x="8512920" y="4596840"/>
            <a:ext cx="3832560" cy="427320"/>
          </a:xfrm>
          <a:prstGeom prst="rect">
            <a:avLst/>
          </a:prstGeom>
          <a:noFill/>
          <a:ln w="0">
            <a:noFill/>
          </a:ln>
        </p:spPr>
        <p:txBody>
          <a:bodyPr wrap="none" lIns="90000" tIns="45000" rIns="90000" bIns="45000" anchor="t">
            <a:spAutoFit/>
          </a:bodyPr>
          <a:lstStyle/>
          <a:p>
            <a:fld id="{F606AE76-4094-4950-841A-DBFC1E8C0AED}" type="slidenum">
              <a:rPr lang="en-US" sz="1800" b="0" u="none" strike="noStrike">
                <a:solidFill>
                  <a:srgbClr val="000000"/>
                </a:solidFill>
                <a:effectLst/>
                <a:uFillTx/>
                <a:latin typeface="Arial"/>
              </a:rPr>
              <a:t>28</a:t>
            </a:fld>
            <a:endParaRPr lang="en-US" sz="1800" b="0" u="none" strike="noStrike">
              <a:solidFill>
                <a:srgbClr val="000000"/>
              </a:solidFill>
              <a:effectLst/>
              <a:uFillTx/>
              <a:latin typeface="Arial"/>
            </a:endParaRPr>
          </a:p>
        </p:txBody>
      </p:sp>
      <p:sp>
        <p:nvSpPr>
          <p:cNvPr id="134" name="TextBox 133"/>
          <p:cNvSpPr txBox="1"/>
          <p:nvPr/>
        </p:nvSpPr>
        <p:spPr>
          <a:xfrm>
            <a:off x="457200" y="1600200"/>
            <a:ext cx="8686800" cy="27432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Probabilistically changes direction with a probability α = 0.05</a:t>
            </a:r>
            <a:endParaRPr lang="en-US" sz="2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Incorporate inter-obstacle collision avoidance</a:t>
            </a:r>
            <a:endParaRPr lang="en-US" sz="24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Set desired velocity based on repulsion</a:t>
            </a:r>
            <a:endParaRPr lang="en-US" sz="2000" b="0" u="none" strike="noStrike">
              <a:solidFill>
                <a:srgbClr val="000000"/>
              </a:solidFill>
              <a:effectLst/>
              <a:uFillTx/>
              <a:latin typeface="Arial"/>
            </a:endParaRPr>
          </a:p>
        </p:txBody>
      </p:sp>
      <p:pic>
        <p:nvPicPr>
          <p:cNvPr id="135" name="Picture 134"/>
          <p:cNvPicPr/>
          <p:nvPr/>
        </p:nvPicPr>
        <p:blipFill>
          <a:blip r:embed="rId2"/>
          <a:stretch/>
        </p:blipFill>
        <p:spPr>
          <a:xfrm>
            <a:off x="6400800" y="2514600"/>
            <a:ext cx="2057400" cy="1668600"/>
          </a:xfrm>
          <a:prstGeom prst="rect">
            <a:avLst/>
          </a:prstGeom>
          <a:noFill/>
          <a:ln w="0">
            <a:noFill/>
          </a:ln>
        </p:spPr>
      </p:pic>
      <p:pic>
        <p:nvPicPr>
          <p:cNvPr id="136" name="Graphic 135" descr="28§display§\hat{\theta}=\frac{\mathbf{p}_1-\mathbf{p}_2}{\lVert\mathbf{p}_1-\mathbf{p}_2\rVert}§svg§600§TRUE§"/>
          <p:cNvPicPr/>
          <p:nvPr/>
        </p:nvPicPr>
        <p:blipFill>
          <a:blip>
            <a:extLst>
              <a:ext uri="{96DAC541-7B7A-43D3-8B79-37D633B846F1}">
                <asvg:svgBlip xmlns:asvg="http://schemas.microsoft.com/office/drawing/2016/SVG/main" r:embed="rId3"/>
              </a:ext>
            </a:extLst>
          </a:blip>
          <a:stretch/>
        </p:blipFill>
        <p:spPr>
          <a:xfrm>
            <a:off x="873000" y="4114800"/>
            <a:ext cx="1599840" cy="531720"/>
          </a:xfrm>
          <a:prstGeom prst="rect">
            <a:avLst/>
          </a:prstGeom>
          <a:noFill/>
          <a:ln w="0">
            <a:noFill/>
          </a:ln>
        </p:spPr>
      </p:pic>
      <p:pic>
        <p:nvPicPr>
          <p:cNvPr id="137" name="Graphic 136" descr="28§display§s=\lVert\mathbf{p}_1-\mathbf{p}_2\rVert - (r_1+r_2)§svg§600§TRUE§"/>
          <p:cNvPicPr/>
          <p:nvPr/>
        </p:nvPicPr>
        <p:blipFill>
          <a:blip>
            <a:extLst>
              <a:ext uri="{96DAC541-7B7A-43D3-8B79-37D633B846F1}">
                <asvg:svgBlip xmlns:asvg="http://schemas.microsoft.com/office/drawing/2016/SVG/main" r:embed="rId4"/>
              </a:ext>
            </a:extLst>
          </a:blip>
          <a:stretch/>
        </p:blipFill>
        <p:spPr>
          <a:xfrm>
            <a:off x="872640" y="3657600"/>
            <a:ext cx="2822400" cy="270360"/>
          </a:xfrm>
          <a:prstGeom prst="rect">
            <a:avLst/>
          </a:prstGeom>
          <a:noFill/>
          <a:ln w="0">
            <a:noFill/>
          </a:ln>
        </p:spPr>
      </p:pic>
      <p:pic>
        <p:nvPicPr>
          <p:cNvPr id="138" name="Graphic 137" descr="28§display§v_{des}\approx-v+\frac{\sigma_{n}}{s^2}\hat{\theta}§svg§600§TRUE§"/>
          <p:cNvPicPr/>
          <p:nvPr/>
        </p:nvPicPr>
        <p:blipFill>
          <a:blip>
            <a:extLst>
              <a:ext uri="{96DAC541-7B7A-43D3-8B79-37D633B846F1}">
                <asvg:svgBlip xmlns:asvg="http://schemas.microsoft.com/office/drawing/2016/SVG/main" r:embed="rId5"/>
              </a:ext>
            </a:extLst>
          </a:blip>
          <a:stretch/>
        </p:blipFill>
        <p:spPr>
          <a:xfrm>
            <a:off x="685800" y="2971800"/>
            <a:ext cx="2057400" cy="514440"/>
          </a:xfrm>
          <a:prstGeom prst="rect">
            <a:avLst/>
          </a:prstGeom>
          <a:noFill/>
          <a:ln w="0">
            <a:noFill/>
          </a:ln>
        </p:spPr>
      </p:pic>
      <p:sp>
        <p:nvSpPr>
          <p:cNvPr id="139" name="TextBox 138"/>
          <p:cNvSpPr txBox="1"/>
          <p:nvPr/>
        </p:nvSpPr>
        <p:spPr>
          <a:xfrm>
            <a:off x="6172200" y="4140360"/>
            <a:ext cx="260496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8: Repulsion between Neighboring Obstacles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Dynamic Obstacle Handling</a:t>
            </a:r>
            <a:endParaRPr lang="en-US" sz="3200" b="0" u="none" strike="noStrike">
              <a:solidFill>
                <a:srgbClr val="BE5700"/>
              </a:solidFill>
              <a:effectLst/>
              <a:uFillTx/>
              <a:latin typeface="Arial"/>
            </a:endParaRPr>
          </a:p>
        </p:txBody>
      </p:sp>
      <p:sp>
        <p:nvSpPr>
          <p:cNvPr id="141" name="TextBox 140"/>
          <p:cNvSpPr txBox="1"/>
          <p:nvPr/>
        </p:nvSpPr>
        <p:spPr>
          <a:xfrm>
            <a:off x="8512920" y="4596840"/>
            <a:ext cx="3832560" cy="427320"/>
          </a:xfrm>
          <a:prstGeom prst="rect">
            <a:avLst/>
          </a:prstGeom>
          <a:noFill/>
          <a:ln w="0">
            <a:noFill/>
          </a:ln>
        </p:spPr>
        <p:txBody>
          <a:bodyPr wrap="none" lIns="90000" tIns="45000" rIns="90000" bIns="45000" anchor="t">
            <a:spAutoFit/>
          </a:bodyPr>
          <a:lstStyle/>
          <a:p>
            <a:fld id="{2E7B4582-EDCC-4A6F-B304-15C038A484FA}" type="slidenum">
              <a:rPr lang="en-US" sz="1800" b="0" u="none" strike="noStrike">
                <a:solidFill>
                  <a:srgbClr val="000000"/>
                </a:solidFill>
                <a:effectLst/>
                <a:uFillTx/>
                <a:latin typeface="Arial"/>
              </a:rPr>
              <a:t>29</a:t>
            </a:fld>
            <a:endParaRPr lang="en-US" sz="1800" b="0" u="none" strike="noStrike">
              <a:solidFill>
                <a:srgbClr val="000000"/>
              </a:solidFill>
              <a:effectLst/>
              <a:uFillTx/>
              <a:latin typeface="Arial"/>
            </a:endParaRPr>
          </a:p>
        </p:txBody>
      </p:sp>
      <p:sp>
        <p:nvSpPr>
          <p:cNvPr id="142" name="TextBox 141"/>
          <p:cNvSpPr txBox="1"/>
          <p:nvPr/>
        </p:nvSpPr>
        <p:spPr>
          <a:xfrm>
            <a:off x="457200" y="1600200"/>
            <a:ext cx="8686800" cy="279432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Utilize Monte Carlo rollout sampling to generate R predicted  obstacle trajectories over the same time horizon </a:t>
            </a:r>
            <a:r>
              <a:rPr lang="en-US" sz="2400" b="0" u="none" strike="noStrike">
                <a:solidFill>
                  <a:srgbClr val="000000"/>
                </a:solidFill>
                <a:effectLst/>
                <a:uFillTx/>
                <a:latin typeface="TexMaths Symbols"/>
                <a:ea typeface="DejaVu Sans"/>
              </a:rPr>
              <a:t>(</a:t>
            </a:r>
            <a:r>
              <a:rPr lang="en-US" sz="2400" b="0" u="none" strike="noStrike">
                <a:solidFill>
                  <a:srgbClr val="000000"/>
                </a:solidFill>
                <a:effectLst/>
                <a:uFillTx/>
                <a:latin typeface="TexMaths Symbols"/>
                <a:ea typeface="TexMaths Symbols"/>
              </a:rPr>
              <a:t>R ∈ [40, 50])</a:t>
            </a:r>
            <a:endParaRPr lang="en-US" sz="24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Evaluate costs across all obstacle rollouts for each robot trajectory </a:t>
            </a:r>
            <a:endParaRPr lang="en-US" sz="20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Obstacle trajectory prediction takes current position and velocity as inputs</a:t>
            </a:r>
            <a:endParaRPr lang="en-US"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R is kept small to prevent large computational overhead while maintaining robust prediction capabilities</a:t>
            </a:r>
            <a:endParaRPr lang="en-US" sz="24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of Dynamic MPPI (1/2)</a:t>
            </a:r>
            <a:endParaRPr lang="en-US" sz="3200" b="0" u="none" strike="noStrike">
              <a:solidFill>
                <a:srgbClr val="BE5700"/>
              </a:solidFill>
              <a:effectLst/>
              <a:uFillTx/>
              <a:latin typeface="Arial"/>
            </a:endParaRPr>
          </a:p>
        </p:txBody>
      </p:sp>
      <p:sp>
        <p:nvSpPr>
          <p:cNvPr id="144" name="TextBox 143"/>
          <p:cNvSpPr txBox="1"/>
          <p:nvPr/>
        </p:nvSpPr>
        <p:spPr>
          <a:xfrm>
            <a:off x="8512920" y="4596840"/>
            <a:ext cx="3832560" cy="427320"/>
          </a:xfrm>
          <a:prstGeom prst="rect">
            <a:avLst/>
          </a:prstGeom>
          <a:noFill/>
          <a:ln w="0">
            <a:noFill/>
          </a:ln>
        </p:spPr>
        <p:txBody>
          <a:bodyPr wrap="none" lIns="90000" tIns="45000" rIns="90000" bIns="45000" anchor="t">
            <a:spAutoFit/>
          </a:bodyPr>
          <a:lstStyle/>
          <a:p>
            <a:fld id="{4E2363BA-2C86-450F-8346-9A552F058000}" type="slidenum">
              <a:rPr lang="en-US" sz="1800" b="0" u="none" strike="noStrike">
                <a:solidFill>
                  <a:srgbClr val="000000"/>
                </a:solidFill>
                <a:effectLst/>
                <a:uFillTx/>
                <a:latin typeface="Arial"/>
              </a:rPr>
              <a:t>30</a:t>
            </a:fld>
            <a:endParaRPr lang="en-US" sz="1800" b="0" u="none" strike="noStrike">
              <a:solidFill>
                <a:srgbClr val="000000"/>
              </a:solidFill>
              <a:effectLst/>
              <a:uFillTx/>
              <a:latin typeface="Arial"/>
            </a:endParaRPr>
          </a:p>
        </p:txBody>
      </p:sp>
      <p:sp>
        <p:nvSpPr>
          <p:cNvPr id="145" name="TextBox 144"/>
          <p:cNvSpPr txBox="1"/>
          <p:nvPr/>
        </p:nvSpPr>
        <p:spPr>
          <a:xfrm>
            <a:off x="457200" y="1600200"/>
            <a:ext cx="4114800" cy="304992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Deploy in square environment with start position (0,0) and goal position (10,10) to allow obstacles room to traverse</a:t>
            </a:r>
            <a:endParaRPr lang="en-US"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Create 7 obstacles with a speed of 1.34 m/s (human walking pace) and randomized initial positions and headings</a:t>
            </a:r>
            <a:endParaRPr lang="en-US"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Obstacles have robot avoidance strategy by treating robot as neighboring obstacle</a:t>
            </a:r>
            <a:endParaRPr lang="en-US" sz="1800" b="0" u="none" strike="noStrike">
              <a:solidFill>
                <a:srgbClr val="000000"/>
              </a:solidFill>
              <a:effectLst/>
              <a:uFillTx/>
              <a:latin typeface="Arial"/>
            </a:endParaRPr>
          </a:p>
        </p:txBody>
      </p:sp>
      <p:pic>
        <p:nvPicPr>
          <p:cNvPr id="146" name="Picture 145"/>
          <p:cNvPicPr/>
          <p:nvPr/>
        </p:nvPicPr>
        <p:blipFill>
          <a:blip r:embed="rId2"/>
          <a:stretch/>
        </p:blipFill>
        <p:spPr>
          <a:xfrm>
            <a:off x="4943520" y="1542600"/>
            <a:ext cx="3202560" cy="2858040"/>
          </a:xfrm>
          <a:prstGeom prst="rect">
            <a:avLst/>
          </a:prstGeom>
          <a:noFill/>
          <a:ln w="0">
            <a:noFill/>
          </a:ln>
        </p:spPr>
      </p:pic>
      <p:sp>
        <p:nvSpPr>
          <p:cNvPr id="147" name="TextBox 146"/>
          <p:cNvSpPr txBox="1"/>
          <p:nvPr/>
        </p:nvSpPr>
        <p:spPr>
          <a:xfrm>
            <a:off x="4800600" y="4343400"/>
            <a:ext cx="32004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9: Robust Dynamic MPPI Implementation in Superflat Terrain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of Dynamic MPPI (2/2)</a:t>
            </a:r>
            <a:endParaRPr lang="en-US" sz="3200" b="0" u="none" strike="noStrike">
              <a:solidFill>
                <a:srgbClr val="BE5700"/>
              </a:solidFill>
              <a:effectLst/>
              <a:uFillTx/>
              <a:latin typeface="Arial"/>
            </a:endParaRPr>
          </a:p>
        </p:txBody>
      </p:sp>
      <p:sp>
        <p:nvSpPr>
          <p:cNvPr id="149" name="TextBox 148"/>
          <p:cNvSpPr txBox="1"/>
          <p:nvPr/>
        </p:nvSpPr>
        <p:spPr>
          <a:xfrm>
            <a:off x="8512920" y="4596840"/>
            <a:ext cx="3832560" cy="427320"/>
          </a:xfrm>
          <a:prstGeom prst="rect">
            <a:avLst/>
          </a:prstGeom>
          <a:noFill/>
          <a:ln w="0">
            <a:noFill/>
          </a:ln>
        </p:spPr>
        <p:txBody>
          <a:bodyPr wrap="none" lIns="90000" tIns="45000" rIns="90000" bIns="45000" anchor="t">
            <a:spAutoFit/>
          </a:bodyPr>
          <a:lstStyle/>
          <a:p>
            <a:fld id="{2F0DDE5B-1415-4D87-8542-533034535A8F}" type="slidenum">
              <a:rPr lang="en-US" sz="1800" b="0" u="none" strike="noStrike">
                <a:solidFill>
                  <a:srgbClr val="000000"/>
                </a:solidFill>
                <a:effectLst/>
                <a:uFillTx/>
                <a:latin typeface="Arial"/>
              </a:rPr>
              <a:t>31</a:t>
            </a:fld>
            <a:endParaRPr lang="en-US" sz="1800" b="0" u="none" strike="noStrike">
              <a:solidFill>
                <a:srgbClr val="000000"/>
              </a:solidFill>
              <a:effectLst/>
              <a:uFillTx/>
              <a:latin typeface="Arial"/>
            </a:endParaRPr>
          </a:p>
        </p:txBody>
      </p:sp>
      <p:sp>
        <p:nvSpPr>
          <p:cNvPr id="150" name="TextBox 149"/>
          <p:cNvSpPr txBox="1"/>
          <p:nvPr/>
        </p:nvSpPr>
        <p:spPr>
          <a:xfrm>
            <a:off x="457200" y="1600200"/>
            <a:ext cx="34290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Step solve time of 0.028 seconds for 7 obstacles, 50 rollouts, and 15000 samples =&gt; control frequency of 36 Hz</a:t>
            </a:r>
            <a:endParaRPr lang="en-US"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Average collision probability = 0.10</a:t>
            </a:r>
            <a:endParaRPr lang="en-US" sz="20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Taken by computing complement of proportion of safe trajectories</a:t>
            </a:r>
            <a:endParaRPr lang="en-US" sz="2000" b="0" u="none" strike="noStrike">
              <a:solidFill>
                <a:srgbClr val="000000"/>
              </a:solidFill>
              <a:effectLst/>
              <a:uFillTx/>
              <a:latin typeface="Arial"/>
            </a:endParaRPr>
          </a:p>
        </p:txBody>
      </p:sp>
      <p:pic>
        <p:nvPicPr>
          <p:cNvPr id="151" name="Picture 150"/>
          <p:cNvPicPr/>
          <p:nvPr/>
        </p:nvPicPr>
        <p:blipFill>
          <a:blip r:embed="rId2"/>
          <a:stretch/>
        </p:blipFill>
        <p:spPr>
          <a:xfrm>
            <a:off x="4238280" y="1600200"/>
            <a:ext cx="3534120" cy="3029400"/>
          </a:xfrm>
          <a:prstGeom prst="rect">
            <a:avLst/>
          </a:prstGeom>
          <a:noFill/>
          <a:ln w="0">
            <a:noFill/>
          </a:ln>
        </p:spPr>
      </p:pic>
      <p:sp>
        <p:nvSpPr>
          <p:cNvPr id="152" name="TextBox 151"/>
          <p:cNvSpPr txBox="1"/>
          <p:nvPr/>
        </p:nvSpPr>
        <p:spPr>
          <a:xfrm>
            <a:off x="4343400" y="4597560"/>
            <a:ext cx="34290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10: Velocity, Covariance, and Orientation over 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153" name="Straight Connector 4"/>
          <p:cNvCxnSpPr/>
          <p:nvPr/>
        </p:nvCxnSpPr>
        <p:spPr>
          <a:xfrm>
            <a:off x="628560" y="3105000"/>
            <a:ext cx="5619960" cy="360"/>
          </a:xfrm>
          <a:prstGeom prst="straightConnector1">
            <a:avLst/>
          </a:prstGeom>
          <a:ln w="19080">
            <a:solidFill>
              <a:srgbClr val="FFFFFF"/>
            </a:solidFill>
            <a:round/>
          </a:ln>
        </p:spPr>
      </p:cxnSp>
      <p:sp>
        <p:nvSpPr>
          <p:cNvPr id="154" name="Title Placeholder 5"/>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Terrain awareness in mppi control</a:t>
            </a:r>
            <a:endParaRPr lang="en-US" sz="4800" b="0" u="none" strike="noStrike">
              <a:solidFill>
                <a:srgbClr val="FFFFFF"/>
              </a:solidFill>
              <a:effectLst/>
              <a:uFillTx/>
              <a:latin typeface="Arial"/>
            </a:endParaRPr>
          </a:p>
        </p:txBody>
      </p:sp>
      <p:sp>
        <p:nvSpPr>
          <p:cNvPr id="155" name="Text Placeholder 4"/>
          <p:cNvSpPr/>
          <p:nvPr/>
        </p:nvSpPr>
        <p:spPr>
          <a:xfrm>
            <a:off x="548640" y="3333600"/>
            <a:ext cx="7886520" cy="10098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Quantitative Terrain Evaluation via Digital Elevation Map Rendering</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Qualitative Terrain Evaluation via Bayesian Classification</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Robust Navigation via Waypoint Heuristics</a:t>
            </a:r>
            <a:endParaRPr lang="en-US" sz="1400" b="0" u="none" strike="noStrike">
              <a:solidFill>
                <a:srgbClr val="FFFFFF"/>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Quantitative Terrain Evaluation (1/4)</a:t>
            </a:r>
            <a:endParaRPr lang="en-US" sz="3000" b="0" u="none" strike="noStrike">
              <a:solidFill>
                <a:srgbClr val="BE5700"/>
              </a:solidFill>
              <a:effectLst/>
              <a:uFillTx/>
              <a:latin typeface="Arial"/>
            </a:endParaRPr>
          </a:p>
        </p:txBody>
      </p:sp>
      <p:sp>
        <p:nvSpPr>
          <p:cNvPr id="157" name="TextBox 156"/>
          <p:cNvSpPr txBox="1"/>
          <p:nvPr/>
        </p:nvSpPr>
        <p:spPr>
          <a:xfrm>
            <a:off x="8512920" y="4596840"/>
            <a:ext cx="3832560" cy="427320"/>
          </a:xfrm>
          <a:prstGeom prst="rect">
            <a:avLst/>
          </a:prstGeom>
          <a:noFill/>
          <a:ln w="0">
            <a:noFill/>
          </a:ln>
        </p:spPr>
        <p:txBody>
          <a:bodyPr wrap="none" lIns="90000" tIns="45000" rIns="90000" bIns="45000" anchor="t">
            <a:spAutoFit/>
          </a:bodyPr>
          <a:lstStyle/>
          <a:p>
            <a:fld id="{84B9E45C-42C4-4F77-A34C-3B80FA2D4F18}" type="slidenum">
              <a:rPr lang="en-US" sz="1800" b="0" u="none" strike="noStrike">
                <a:solidFill>
                  <a:srgbClr val="000000"/>
                </a:solidFill>
                <a:effectLst/>
                <a:uFillTx/>
                <a:latin typeface="Arial"/>
              </a:rPr>
              <a:t>33</a:t>
            </a:fld>
            <a:endParaRPr lang="en-US" sz="1800" b="0" u="none" strike="noStrike">
              <a:solidFill>
                <a:srgbClr val="000000"/>
              </a:solidFill>
              <a:effectLst/>
              <a:uFillTx/>
              <a:latin typeface="Arial"/>
            </a:endParaRPr>
          </a:p>
        </p:txBody>
      </p:sp>
      <p:sp>
        <p:nvSpPr>
          <p:cNvPr id="158" name="TextBox 157"/>
          <p:cNvSpPr txBox="1"/>
          <p:nvPr/>
        </p:nvSpPr>
        <p:spPr>
          <a:xfrm>
            <a:off x="457200" y="1600200"/>
            <a:ext cx="82296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600" b="0" u="none" strike="noStrike">
                <a:solidFill>
                  <a:srgbClr val="000000"/>
                </a:solidFill>
                <a:effectLst/>
                <a:uFillTx/>
                <a:latin typeface="Arial"/>
                <a:ea typeface="DejaVu Sans"/>
              </a:rPr>
              <a:t>In terraneous environments, robots may be prone to slip or excess battery/fuel consumption</a:t>
            </a:r>
            <a:endParaRPr lang="en-US" sz="2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600" b="0" u="none" strike="noStrike">
                <a:solidFill>
                  <a:srgbClr val="000000"/>
                </a:solidFill>
                <a:effectLst/>
                <a:uFillTx/>
                <a:latin typeface="Arial"/>
                <a:ea typeface="DejaVu Sans"/>
              </a:rPr>
              <a:t>Need a method for optimizing path across terrain</a:t>
            </a:r>
            <a:endParaRPr lang="en-US" sz="26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200" b="0" u="none" strike="noStrike">
                <a:solidFill>
                  <a:srgbClr val="000000"/>
                </a:solidFill>
                <a:effectLst/>
                <a:uFillTx/>
                <a:latin typeface="Arial"/>
                <a:ea typeface="DejaVu Sans"/>
              </a:rPr>
              <a:t>Goal: Acquire understanding of local terrain and determine terrain cost</a:t>
            </a:r>
            <a:endParaRPr lang="en-US" sz="2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Quantitative Terrain Evaluation (2/4)</a:t>
            </a:r>
            <a:endParaRPr lang="en-US" sz="3000" b="0" u="none" strike="noStrike">
              <a:solidFill>
                <a:srgbClr val="BE5700"/>
              </a:solidFill>
              <a:effectLst/>
              <a:uFillTx/>
              <a:latin typeface="Arial"/>
            </a:endParaRPr>
          </a:p>
        </p:txBody>
      </p:sp>
      <p:sp>
        <p:nvSpPr>
          <p:cNvPr id="160" name="TextBox 159"/>
          <p:cNvSpPr txBox="1"/>
          <p:nvPr/>
        </p:nvSpPr>
        <p:spPr>
          <a:xfrm>
            <a:off x="8512920" y="4596840"/>
            <a:ext cx="3832560" cy="427320"/>
          </a:xfrm>
          <a:prstGeom prst="rect">
            <a:avLst/>
          </a:prstGeom>
          <a:noFill/>
          <a:ln w="0">
            <a:noFill/>
          </a:ln>
        </p:spPr>
        <p:txBody>
          <a:bodyPr wrap="none" lIns="90000" tIns="45000" rIns="90000" bIns="45000" anchor="t">
            <a:spAutoFit/>
          </a:bodyPr>
          <a:lstStyle/>
          <a:p>
            <a:fld id="{26C2F5E9-C736-441E-9CC3-C468CE5552ED}" type="slidenum">
              <a:rPr lang="en-US" sz="1800" b="0" u="none" strike="noStrike">
                <a:solidFill>
                  <a:srgbClr val="000000"/>
                </a:solidFill>
                <a:effectLst/>
                <a:uFillTx/>
                <a:latin typeface="Arial"/>
              </a:rPr>
              <a:t>34</a:t>
            </a:fld>
            <a:endParaRPr lang="en-US" sz="1800" b="0" u="none" strike="noStrike">
              <a:solidFill>
                <a:srgbClr val="000000"/>
              </a:solidFill>
              <a:effectLst/>
              <a:uFillTx/>
              <a:latin typeface="Arial"/>
            </a:endParaRPr>
          </a:p>
        </p:txBody>
      </p:sp>
      <p:sp>
        <p:nvSpPr>
          <p:cNvPr id="161" name="TextBox 160"/>
          <p:cNvSpPr txBox="1"/>
          <p:nvPr/>
        </p:nvSpPr>
        <p:spPr>
          <a:xfrm>
            <a:off x="457200" y="1600200"/>
            <a:ext cx="36576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How do we acquire terrain knowledge?</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600" b="0" u="none" strike="noStrike">
                <a:solidFill>
                  <a:srgbClr val="000000"/>
                </a:solidFill>
                <a:effectLst/>
                <a:uFillTx/>
                <a:latin typeface="Arial"/>
                <a:ea typeface="DejaVu Sans"/>
              </a:rPr>
              <a:t>Simulate visual sensor (camera)</a:t>
            </a:r>
            <a:endParaRPr lang="en-US" sz="16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600" b="0" u="none" strike="noStrike">
                <a:solidFill>
                  <a:srgbClr val="000000"/>
                </a:solidFill>
                <a:effectLst/>
                <a:uFillTx/>
                <a:latin typeface="Arial"/>
                <a:ea typeface="DejaVu Sans"/>
              </a:rPr>
              <a:t>Extract square images with a specified horizontal FOV angle and vertical FOV</a:t>
            </a:r>
            <a:endParaRPr lang="en-US" sz="16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600" b="0" u="none" strike="noStrike">
                <a:solidFill>
                  <a:srgbClr val="000000"/>
                </a:solidFill>
                <a:effectLst/>
                <a:uFillTx/>
                <a:latin typeface="Arial"/>
                <a:ea typeface="DejaVu Sans"/>
              </a:rPr>
              <a:t>Performs parallelized ray marching algorithm to find all intersections with terrain</a:t>
            </a:r>
            <a:endParaRPr lang="en-US" sz="16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600" b="0" u="none" strike="noStrike">
                <a:solidFill>
                  <a:srgbClr val="000000"/>
                </a:solidFill>
                <a:effectLst/>
                <a:uFillTx/>
                <a:latin typeface="Arial"/>
                <a:ea typeface="DejaVu Sans"/>
              </a:rPr>
              <a:t>Generates local point of view of terrain with noisy elevation and slope estimates</a:t>
            </a:r>
            <a:endParaRPr lang="en-US" sz="1600" b="0" u="none" strike="noStrike">
              <a:solidFill>
                <a:srgbClr val="000000"/>
              </a:solidFill>
              <a:effectLst/>
              <a:uFillTx/>
              <a:latin typeface="Arial"/>
            </a:endParaRPr>
          </a:p>
        </p:txBody>
      </p:sp>
      <p:pic>
        <p:nvPicPr>
          <p:cNvPr id="162" name="Picture 161"/>
          <p:cNvPicPr/>
          <p:nvPr/>
        </p:nvPicPr>
        <p:blipFill>
          <a:blip r:embed="rId2"/>
          <a:stretch/>
        </p:blipFill>
        <p:spPr>
          <a:xfrm>
            <a:off x="4114800" y="1600200"/>
            <a:ext cx="4753080" cy="2313720"/>
          </a:xfrm>
          <a:prstGeom prst="rect">
            <a:avLst/>
          </a:prstGeom>
          <a:noFill/>
          <a:ln w="0">
            <a:noFill/>
          </a:ln>
        </p:spPr>
      </p:pic>
      <p:sp>
        <p:nvSpPr>
          <p:cNvPr id="163" name="TextBox 162"/>
          <p:cNvSpPr txBox="1"/>
          <p:nvPr/>
        </p:nvSpPr>
        <p:spPr>
          <a:xfrm>
            <a:off x="4114800" y="3911760"/>
            <a:ext cx="48006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11: Camera sensor optics (generated by Claude Opus 4.6)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Quantitative Terrain Evaluation (3/4)</a:t>
            </a:r>
            <a:endParaRPr lang="en-US" sz="3000" b="0" u="none" strike="noStrike">
              <a:solidFill>
                <a:srgbClr val="BE5700"/>
              </a:solidFill>
              <a:effectLst/>
              <a:uFillTx/>
              <a:latin typeface="Arial"/>
            </a:endParaRPr>
          </a:p>
        </p:txBody>
      </p:sp>
      <p:sp>
        <p:nvSpPr>
          <p:cNvPr id="165" name="TextBox 164"/>
          <p:cNvSpPr txBox="1"/>
          <p:nvPr/>
        </p:nvSpPr>
        <p:spPr>
          <a:xfrm>
            <a:off x="8512920" y="4596840"/>
            <a:ext cx="3832560" cy="427320"/>
          </a:xfrm>
          <a:prstGeom prst="rect">
            <a:avLst/>
          </a:prstGeom>
          <a:noFill/>
          <a:ln w="0">
            <a:noFill/>
          </a:ln>
        </p:spPr>
        <p:txBody>
          <a:bodyPr wrap="none" lIns="90000" tIns="45000" rIns="90000" bIns="45000" anchor="t">
            <a:spAutoFit/>
          </a:bodyPr>
          <a:lstStyle/>
          <a:p>
            <a:fld id="{19EF1AA5-84B5-4183-85D3-339CCCA784F7}" type="slidenum">
              <a:rPr lang="en-US" sz="1800" b="0" u="none" strike="noStrike">
                <a:solidFill>
                  <a:srgbClr val="000000"/>
                </a:solidFill>
                <a:effectLst/>
                <a:uFillTx/>
                <a:latin typeface="Arial"/>
              </a:rPr>
              <a:t>35</a:t>
            </a:fld>
            <a:endParaRPr lang="en-US" sz="1800" b="0" u="none" strike="noStrike">
              <a:solidFill>
                <a:srgbClr val="000000"/>
              </a:solidFill>
              <a:effectLst/>
              <a:uFillTx/>
              <a:latin typeface="Arial"/>
            </a:endParaRPr>
          </a:p>
        </p:txBody>
      </p:sp>
      <p:sp>
        <p:nvSpPr>
          <p:cNvPr id="166" name="TextBox 165"/>
          <p:cNvSpPr txBox="1"/>
          <p:nvPr/>
        </p:nvSpPr>
        <p:spPr>
          <a:xfrm>
            <a:off x="457200" y="1600200"/>
            <a:ext cx="41148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Derive digital elevation map (DEM) from camera point cloud</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Camera point cloud → continuous patches “stitched” together</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Slope and roughness are computed for each patch</a:t>
            </a:r>
            <a:endParaRPr lang="en-US"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For patches repeatedly observed, the DEM fuses each observation and increases confidence and precision for each patch estimate  </a:t>
            </a:r>
            <a:endParaRPr lang="en-US" sz="1800" b="0" u="none" strike="noStrike">
              <a:solidFill>
                <a:srgbClr val="000000"/>
              </a:solidFill>
              <a:effectLst/>
              <a:uFillTx/>
              <a:latin typeface="Arial"/>
            </a:endParaRPr>
          </a:p>
        </p:txBody>
      </p:sp>
      <p:pic>
        <p:nvPicPr>
          <p:cNvPr id="167" name="Graphic 166" descr="28§display§C_{k+1}=C_k+C_c§svg§600§TRUE§"/>
          <p:cNvPicPr/>
          <p:nvPr/>
        </p:nvPicPr>
        <p:blipFill>
          <a:blip>
            <a:extLst>
              <a:ext uri="{96DAC541-7B7A-43D3-8B79-37D633B846F1}">
                <asvg:svgBlip xmlns:asvg="http://schemas.microsoft.com/office/drawing/2016/SVG/main" r:embed="rId2"/>
              </a:ext>
            </a:extLst>
          </a:blip>
          <a:stretch/>
        </p:blipFill>
        <p:spPr>
          <a:xfrm>
            <a:off x="4821480" y="1816920"/>
            <a:ext cx="1807920" cy="240480"/>
          </a:xfrm>
          <a:prstGeom prst="rect">
            <a:avLst/>
          </a:prstGeom>
          <a:noFill/>
          <a:ln w="0">
            <a:noFill/>
          </a:ln>
        </p:spPr>
      </p:pic>
      <p:pic>
        <p:nvPicPr>
          <p:cNvPr id="168" name="Graphic 167" descr="28§display§z_{k+1}=\frac{z_k C_k + z_c C_c}{C_k+C_c}§svg§600§TRUE§"/>
          <p:cNvPicPr/>
          <p:nvPr/>
        </p:nvPicPr>
        <p:blipFill>
          <a:blip>
            <a:extLst>
              <a:ext uri="{96DAC541-7B7A-43D3-8B79-37D633B846F1}">
                <asvg:svgBlip xmlns:asvg="http://schemas.microsoft.com/office/drawing/2016/SVG/main" r:embed="rId3"/>
              </a:ext>
            </a:extLst>
          </a:blip>
          <a:stretch/>
        </p:blipFill>
        <p:spPr>
          <a:xfrm>
            <a:off x="4800600" y="2281680"/>
            <a:ext cx="2514600" cy="650520"/>
          </a:xfrm>
          <a:prstGeom prst="rect">
            <a:avLst/>
          </a:prstGeom>
          <a:noFill/>
          <a:ln w="0">
            <a:noFill/>
          </a:ln>
        </p:spPr>
      </p:pic>
      <p:pic>
        <p:nvPicPr>
          <p:cNvPr id="169" name="Graphic 168" descr="28§display§\sigma_{k+1}=\frac{\sigma_k C_k + \sigma_c C_c}{C_k+C_c}§svg§600§TRUE§"/>
          <p:cNvPicPr/>
          <p:nvPr/>
        </p:nvPicPr>
        <p:blipFill>
          <a:blip>
            <a:extLst>
              <a:ext uri="{96DAC541-7B7A-43D3-8B79-37D633B846F1}">
                <asvg:svgBlip xmlns:asvg="http://schemas.microsoft.com/office/drawing/2016/SVG/main" r:embed="rId4"/>
              </a:ext>
            </a:extLst>
          </a:blip>
          <a:stretch/>
        </p:blipFill>
        <p:spPr>
          <a:xfrm>
            <a:off x="4819680" y="3034440"/>
            <a:ext cx="2495520" cy="623160"/>
          </a:xfrm>
          <a:prstGeom prst="rect">
            <a:avLst/>
          </a:prstGeom>
          <a:noFill/>
          <a:ln w="0">
            <a:noFill/>
          </a:ln>
        </p:spPr>
      </p:pic>
      <p:pic>
        <p:nvPicPr>
          <p:cNvPr id="170" name="Graphic 169" descr="28§display§\text{slope}=\nabla\hat{z},\;\varepsilon=\text{Var}[\hat{z}]§svg§600§TRUE§"/>
          <p:cNvPicPr/>
          <p:nvPr/>
        </p:nvPicPr>
        <p:blipFill>
          <a:blip>
            <a:extLst>
              <a:ext uri="{96DAC541-7B7A-43D3-8B79-37D633B846F1}">
                <asvg:svgBlip xmlns:asvg="http://schemas.microsoft.com/office/drawing/2016/SVG/main" r:embed="rId5"/>
              </a:ext>
            </a:extLst>
          </a:blip>
          <a:stretch/>
        </p:blipFill>
        <p:spPr>
          <a:xfrm>
            <a:off x="4466880" y="3963240"/>
            <a:ext cx="3534120" cy="380160"/>
          </a:xfrm>
          <a:prstGeom prst="rect">
            <a:avLst/>
          </a:prstGeom>
          <a:noFill/>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Quantitative Terrain Evaluation (4/4)</a:t>
            </a:r>
            <a:endParaRPr lang="en-US" sz="3000" b="0" u="none" strike="noStrike">
              <a:solidFill>
                <a:srgbClr val="BE5700"/>
              </a:solidFill>
              <a:effectLst/>
              <a:uFillTx/>
              <a:latin typeface="Arial"/>
            </a:endParaRPr>
          </a:p>
        </p:txBody>
      </p:sp>
      <p:sp>
        <p:nvSpPr>
          <p:cNvPr id="172" name="TextBox 171"/>
          <p:cNvSpPr txBox="1"/>
          <p:nvPr/>
        </p:nvSpPr>
        <p:spPr>
          <a:xfrm>
            <a:off x="8512920" y="4596840"/>
            <a:ext cx="3832560" cy="427320"/>
          </a:xfrm>
          <a:prstGeom prst="rect">
            <a:avLst/>
          </a:prstGeom>
          <a:noFill/>
          <a:ln w="0">
            <a:noFill/>
          </a:ln>
        </p:spPr>
        <p:txBody>
          <a:bodyPr wrap="none" lIns="90000" tIns="45000" rIns="90000" bIns="45000" anchor="t">
            <a:spAutoFit/>
          </a:bodyPr>
          <a:lstStyle/>
          <a:p>
            <a:fld id="{7384E224-B00E-451C-B537-CA24B0352E19}" type="slidenum">
              <a:rPr lang="en-US" sz="1800" b="0" u="none" strike="noStrike">
                <a:solidFill>
                  <a:srgbClr val="000000"/>
                </a:solidFill>
                <a:effectLst/>
                <a:uFillTx/>
                <a:latin typeface="Arial"/>
              </a:rPr>
              <a:t>36</a:t>
            </a:fld>
            <a:endParaRPr lang="en-US" sz="1800" b="0" u="none" strike="noStrike">
              <a:solidFill>
                <a:srgbClr val="000000"/>
              </a:solidFill>
              <a:effectLst/>
              <a:uFillTx/>
              <a:latin typeface="Arial"/>
            </a:endParaRPr>
          </a:p>
        </p:txBody>
      </p:sp>
      <p:sp>
        <p:nvSpPr>
          <p:cNvPr id="173" name="TextBox 172"/>
          <p:cNvSpPr txBox="1"/>
          <p:nvPr/>
        </p:nvSpPr>
        <p:spPr>
          <a:xfrm>
            <a:off x="457200" y="1542600"/>
            <a:ext cx="4114800" cy="6858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Using DEM estimates, acquire a costmap of the terrain</a:t>
            </a:r>
            <a:endParaRPr lang="en-US" sz="2000" b="0" u="none" strike="noStrike">
              <a:solidFill>
                <a:srgbClr val="000000"/>
              </a:solidFill>
              <a:effectLst/>
              <a:uFillTx/>
              <a:latin typeface="Arial"/>
            </a:endParaRPr>
          </a:p>
        </p:txBody>
      </p:sp>
      <p:pic>
        <p:nvPicPr>
          <p:cNvPr id="174" name="Graphic 173" descr="28§display§Q_{tr}^{(i)}=\beta_{s}\nabla{\hat{z}}_i+\beta_r\varepsilon_i+\beta_u\frac{\sigma_i}{C_i}§svg§600§TRUE§"/>
          <p:cNvPicPr/>
          <p:nvPr/>
        </p:nvPicPr>
        <p:blipFill>
          <a:blip>
            <a:extLst>
              <a:ext uri="{96DAC541-7B7A-43D3-8B79-37D633B846F1}">
                <asvg:svgBlip xmlns:asvg="http://schemas.microsoft.com/office/drawing/2016/SVG/main" r:embed="rId2"/>
              </a:ext>
            </a:extLst>
          </a:blip>
          <a:stretch/>
        </p:blipFill>
        <p:spPr>
          <a:xfrm>
            <a:off x="914400" y="2228400"/>
            <a:ext cx="2864520" cy="471600"/>
          </a:xfrm>
          <a:prstGeom prst="rect">
            <a:avLst/>
          </a:prstGeom>
          <a:noFill/>
          <a:ln w="0">
            <a:noFill/>
          </a:ln>
        </p:spPr>
      </p:pic>
      <p:pic>
        <p:nvPicPr>
          <p:cNvPr id="175" name="Picture 174"/>
          <p:cNvPicPr/>
          <p:nvPr/>
        </p:nvPicPr>
        <p:blipFill>
          <a:blip r:embed="rId3"/>
          <a:stretch/>
        </p:blipFill>
        <p:spPr>
          <a:xfrm>
            <a:off x="4800600" y="1485720"/>
            <a:ext cx="3429000" cy="2857680"/>
          </a:xfrm>
          <a:prstGeom prst="rect">
            <a:avLst/>
          </a:prstGeom>
          <a:noFill/>
          <a:ln w="0">
            <a:noFill/>
          </a:ln>
        </p:spPr>
      </p:pic>
      <p:pic>
        <p:nvPicPr>
          <p:cNvPr id="176" name="Picture 175"/>
          <p:cNvPicPr/>
          <p:nvPr/>
        </p:nvPicPr>
        <p:blipFill>
          <a:blip r:embed="rId4"/>
          <a:stretch/>
        </p:blipFill>
        <p:spPr>
          <a:xfrm>
            <a:off x="457200" y="2743200"/>
            <a:ext cx="3657600" cy="2133360"/>
          </a:xfrm>
          <a:prstGeom prst="rect">
            <a:avLst/>
          </a:prstGeom>
          <a:noFill/>
          <a:ln w="0">
            <a:noFill/>
          </a:ln>
        </p:spPr>
      </p:pic>
      <p:sp>
        <p:nvSpPr>
          <p:cNvPr id="177" name="TextBox 176"/>
          <p:cNvSpPr txBox="1"/>
          <p:nvPr/>
        </p:nvSpPr>
        <p:spPr>
          <a:xfrm>
            <a:off x="228600" y="4712040"/>
            <a:ext cx="4343400" cy="31716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12: Rendered Digital Elevation Map vs. Ground Truth</a:t>
            </a:r>
          </a:p>
        </p:txBody>
      </p:sp>
      <p:sp>
        <p:nvSpPr>
          <p:cNvPr id="178" name="TextBox 177"/>
          <p:cNvSpPr txBox="1"/>
          <p:nvPr/>
        </p:nvSpPr>
        <p:spPr>
          <a:xfrm>
            <a:off x="4800600" y="4343400"/>
            <a:ext cx="3429000" cy="43164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13: Observed Costmap, Confidence, and Error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Qualitative Terrain Evaluation (1/3)</a:t>
            </a:r>
            <a:endParaRPr lang="en-US" sz="3000" b="0" u="none" strike="noStrike">
              <a:solidFill>
                <a:srgbClr val="BE5700"/>
              </a:solidFill>
              <a:effectLst/>
              <a:uFillTx/>
              <a:latin typeface="Arial"/>
            </a:endParaRPr>
          </a:p>
        </p:txBody>
      </p:sp>
      <p:sp>
        <p:nvSpPr>
          <p:cNvPr id="180" name="TextBox 179"/>
          <p:cNvSpPr txBox="1"/>
          <p:nvPr/>
        </p:nvSpPr>
        <p:spPr>
          <a:xfrm>
            <a:off x="8512920" y="4596840"/>
            <a:ext cx="3832560" cy="427320"/>
          </a:xfrm>
          <a:prstGeom prst="rect">
            <a:avLst/>
          </a:prstGeom>
          <a:noFill/>
          <a:ln w="0">
            <a:noFill/>
          </a:ln>
        </p:spPr>
        <p:txBody>
          <a:bodyPr wrap="none" lIns="90000" tIns="45000" rIns="90000" bIns="45000" anchor="t">
            <a:spAutoFit/>
          </a:bodyPr>
          <a:lstStyle/>
          <a:p>
            <a:fld id="{200DA5C9-60B4-40AA-BE5D-89CEABA3F556}" type="slidenum">
              <a:rPr lang="en-US" sz="1800" b="0" u="none" strike="noStrike">
                <a:solidFill>
                  <a:srgbClr val="000000"/>
                </a:solidFill>
                <a:effectLst/>
                <a:uFillTx/>
                <a:latin typeface="Arial"/>
              </a:rPr>
              <a:t>37</a:t>
            </a:fld>
            <a:endParaRPr lang="en-US" sz="1800" b="0" u="none" strike="noStrike">
              <a:solidFill>
                <a:srgbClr val="000000"/>
              </a:solidFill>
              <a:effectLst/>
              <a:uFillTx/>
              <a:latin typeface="Arial"/>
            </a:endParaRPr>
          </a:p>
        </p:txBody>
      </p:sp>
      <p:sp>
        <p:nvSpPr>
          <p:cNvPr id="181" name="TextBox 180"/>
          <p:cNvSpPr txBox="1"/>
          <p:nvPr/>
        </p:nvSpPr>
        <p:spPr>
          <a:xfrm>
            <a:off x="457200" y="1600200"/>
            <a:ext cx="80010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Quantitative (DEM) approach only provides soft constraint – could be insufficient for fully preventing robot tip-over</a:t>
            </a:r>
            <a:endParaRPr lang="en-US" sz="2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Goal: mask out dangerous terrain such that the robot navigates on traversable terrain exclusively</a:t>
            </a:r>
            <a:endParaRPr lang="en-US" sz="24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Approach: Bayesian classification of terrain patches</a:t>
            </a:r>
            <a:endParaRPr lang="en-US" sz="24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Qualitative Terrain Evaluation (2/3)</a:t>
            </a:r>
            <a:endParaRPr lang="en-US" sz="3000" b="0" u="none" strike="noStrike">
              <a:solidFill>
                <a:srgbClr val="BE5700"/>
              </a:solidFill>
              <a:effectLst/>
              <a:uFillTx/>
              <a:latin typeface="Arial"/>
            </a:endParaRPr>
          </a:p>
        </p:txBody>
      </p:sp>
      <p:sp>
        <p:nvSpPr>
          <p:cNvPr id="183" name="TextBox 182"/>
          <p:cNvSpPr txBox="1"/>
          <p:nvPr/>
        </p:nvSpPr>
        <p:spPr>
          <a:xfrm>
            <a:off x="8512920" y="4596840"/>
            <a:ext cx="3832560" cy="427320"/>
          </a:xfrm>
          <a:prstGeom prst="rect">
            <a:avLst/>
          </a:prstGeom>
          <a:noFill/>
          <a:ln w="0">
            <a:noFill/>
          </a:ln>
        </p:spPr>
        <p:txBody>
          <a:bodyPr wrap="none" lIns="90000" tIns="45000" rIns="90000" bIns="45000" anchor="t">
            <a:spAutoFit/>
          </a:bodyPr>
          <a:lstStyle/>
          <a:p>
            <a:fld id="{9BEB44F9-6729-4D1C-B35D-F8B2CA547C47}" type="slidenum">
              <a:rPr lang="en-US" sz="1800" b="0" u="none" strike="noStrike">
                <a:solidFill>
                  <a:srgbClr val="000000"/>
                </a:solidFill>
                <a:effectLst/>
                <a:uFillTx/>
                <a:latin typeface="Arial"/>
              </a:rPr>
              <a:t>38</a:t>
            </a:fld>
            <a:endParaRPr lang="en-US" sz="1800" b="0" u="none" strike="noStrike">
              <a:solidFill>
                <a:srgbClr val="000000"/>
              </a:solidFill>
              <a:effectLst/>
              <a:uFillTx/>
              <a:latin typeface="Arial"/>
            </a:endParaRPr>
          </a:p>
        </p:txBody>
      </p:sp>
      <p:sp>
        <p:nvSpPr>
          <p:cNvPr id="184" name="TextBox 183"/>
          <p:cNvSpPr txBox="1"/>
          <p:nvPr/>
        </p:nvSpPr>
        <p:spPr>
          <a:xfrm>
            <a:off x="457200" y="1542600"/>
            <a:ext cx="7315200" cy="6570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Define 8-dimensional feature vector of each patch</a:t>
            </a:r>
            <a:endParaRPr lang="en-US" sz="2000" b="0" u="none" strike="noStrike">
              <a:solidFill>
                <a:srgbClr val="000000"/>
              </a:solidFill>
              <a:effectLst/>
              <a:uFillTx/>
              <a:latin typeface="Arial"/>
            </a:endParaRPr>
          </a:p>
        </p:txBody>
      </p:sp>
      <p:pic>
        <p:nvPicPr>
          <p:cNvPr id="185" name="Graphic 184" descr="28§display§\mathbf{v}=\begin{bmatrix}\rho_{cell}&amp;\text{Var}[\hat{z}]&amp;\mathbb{E}[\mathbf{n}_x]&amp;\mathbb{E}[\mathbf{n}_y]&amp;\mathbb{E}[\mathbf{n}_z]&amp;\text{Var}[\mathbf{n}_x]&amp;\text{Var}[\mathbf{n}_y]&amp;\text{Var}[\mathbf{n}_z]\end{bmatrix}§svg§600§TRUE§"/>
          <p:cNvPicPr/>
          <p:nvPr/>
        </p:nvPicPr>
        <p:blipFill>
          <a:blip>
            <a:extLst>
              <a:ext uri="{96DAC541-7B7A-43D3-8B79-37D633B846F1}">
                <asvg:svgBlip xmlns:asvg="http://schemas.microsoft.com/office/drawing/2016/SVG/main" r:embed="rId2"/>
              </a:ext>
            </a:extLst>
          </a:blip>
          <a:stretch/>
        </p:blipFill>
        <p:spPr>
          <a:xfrm>
            <a:off x="685800" y="2057400"/>
            <a:ext cx="6858000" cy="282960"/>
          </a:xfrm>
          <a:prstGeom prst="rect">
            <a:avLst/>
          </a:prstGeom>
          <a:noFill/>
          <a:ln w="0">
            <a:noFill/>
          </a:ln>
        </p:spPr>
      </p:pic>
      <p:sp>
        <p:nvSpPr>
          <p:cNvPr id="186" name="TextBox 185"/>
          <p:cNvSpPr txBox="1"/>
          <p:nvPr/>
        </p:nvSpPr>
        <p:spPr>
          <a:xfrm>
            <a:off x="457200" y="2514600"/>
            <a:ext cx="7315200" cy="6570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Using Bayes’ Theorem, determine probability of belonging to each class</a:t>
            </a:r>
            <a:endParaRPr lang="en-US" sz="2000" b="0" u="none" strike="noStrike">
              <a:solidFill>
                <a:srgbClr val="000000"/>
              </a:solidFill>
              <a:effectLst/>
              <a:uFillTx/>
              <a:latin typeface="Arial"/>
            </a:endParaRPr>
          </a:p>
        </p:txBody>
      </p:sp>
      <p:pic>
        <p:nvPicPr>
          <p:cNvPr id="187" name="Graphic 186" descr="28§display§P(\mathcal{C}_i|\mathbf{v})=\frac{P(\mathbf{v}|\mathcal{C}_i)P(\mathcal{C}_i)}{P(\mathbf{v})},\;\ln({\mathbf{v}|\mathcal{C}_i})\sim\mathcal{N}(\mathbb{E}[\mathcal{C}_i],\text{Var}[\mathcal{C}_i])§svg§600§TRUE§"/>
          <p:cNvPicPr/>
          <p:nvPr/>
        </p:nvPicPr>
        <p:blipFill>
          <a:blip>
            <a:extLst>
              <a:ext uri="{96DAC541-7B7A-43D3-8B79-37D633B846F1}">
                <asvg:svgBlip xmlns:asvg="http://schemas.microsoft.com/office/drawing/2016/SVG/main" r:embed="rId3"/>
              </a:ext>
            </a:extLst>
          </a:blip>
          <a:stretch/>
        </p:blipFill>
        <p:spPr>
          <a:xfrm>
            <a:off x="860040" y="3225960"/>
            <a:ext cx="7369560" cy="771480"/>
          </a:xfrm>
          <a:prstGeom prst="rect">
            <a:avLst/>
          </a:prstGeom>
          <a:noFill/>
          <a:ln w="0">
            <a:noFill/>
          </a:ln>
        </p:spPr>
      </p:pic>
      <p:sp>
        <p:nvSpPr>
          <p:cNvPr id="188" name="TextBox 187"/>
          <p:cNvSpPr txBox="1"/>
          <p:nvPr/>
        </p:nvSpPr>
        <p:spPr>
          <a:xfrm>
            <a:off x="457200" y="4114800"/>
            <a:ext cx="8001000" cy="6570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C</a:t>
            </a:r>
            <a:r>
              <a:rPr lang="en-US" sz="1800" b="0" u="none" strike="noStrike" baseline="-8000">
                <a:solidFill>
                  <a:srgbClr val="000000"/>
                </a:solidFill>
                <a:effectLst/>
                <a:uFillTx/>
                <a:latin typeface="Arial"/>
                <a:ea typeface="DejaVu Sans"/>
              </a:rPr>
              <a:t>i</a:t>
            </a:r>
            <a:r>
              <a:rPr lang="en-US" sz="1800" b="0" u="none" strike="noStrike">
                <a:solidFill>
                  <a:srgbClr val="000000"/>
                </a:solidFill>
                <a:effectLst/>
                <a:uFillTx/>
                <a:latin typeface="Arial"/>
                <a:ea typeface="DejaVu Sans"/>
              </a:rPr>
              <a:t> = class, P(C</a:t>
            </a:r>
            <a:r>
              <a:rPr lang="en-US" sz="1800" b="0" u="none" strike="noStrike" baseline="-8000">
                <a:solidFill>
                  <a:srgbClr val="000000"/>
                </a:solidFill>
                <a:effectLst/>
                <a:uFillTx/>
                <a:latin typeface="Arial"/>
                <a:ea typeface="DejaVu Sans"/>
              </a:rPr>
              <a:t>i</a:t>
            </a:r>
            <a:r>
              <a:rPr lang="en-US" sz="1800" b="0" u="none" strike="noStrike">
                <a:solidFill>
                  <a:srgbClr val="000000"/>
                </a:solidFill>
                <a:effectLst/>
                <a:uFillTx/>
                <a:latin typeface="Arial"/>
                <a:ea typeface="DejaVu Sans"/>
              </a:rPr>
              <a:t>|v) = posterior probability, P(v|C</a:t>
            </a:r>
            <a:r>
              <a:rPr lang="en-US" sz="1800" b="0" u="none" strike="noStrike" baseline="-8000">
                <a:solidFill>
                  <a:srgbClr val="000000"/>
                </a:solidFill>
                <a:effectLst/>
                <a:uFillTx/>
                <a:latin typeface="Arial"/>
                <a:ea typeface="DejaVu Sans"/>
              </a:rPr>
              <a:t>i</a:t>
            </a:r>
            <a:r>
              <a:rPr lang="en-US" sz="1800" b="0" u="none" strike="noStrike">
                <a:solidFill>
                  <a:srgbClr val="000000"/>
                </a:solidFill>
                <a:effectLst/>
                <a:uFillTx/>
                <a:latin typeface="Arial"/>
                <a:ea typeface="DejaVu Sans"/>
              </a:rPr>
              <a:t>) = likelihood, P(C</a:t>
            </a:r>
            <a:r>
              <a:rPr lang="en-US" sz="1800" b="0" u="none" strike="noStrike" baseline="-8000">
                <a:solidFill>
                  <a:srgbClr val="000000"/>
                </a:solidFill>
                <a:effectLst/>
                <a:uFillTx/>
                <a:latin typeface="Arial"/>
                <a:ea typeface="DejaVu Sans"/>
              </a:rPr>
              <a:t>i</a:t>
            </a:r>
            <a:r>
              <a:rPr lang="en-US" sz="1800" b="0" u="none" strike="noStrike">
                <a:solidFill>
                  <a:srgbClr val="000000"/>
                </a:solidFill>
                <a:effectLst/>
                <a:uFillTx/>
                <a:latin typeface="Arial"/>
                <a:ea typeface="DejaVu Sans"/>
              </a:rPr>
              <a:t>) = prior, P(v) = evidence </a:t>
            </a:r>
            <a:endParaRPr lang="en-US" sz="18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3000" b="1" u="none" strike="noStrike">
                <a:solidFill>
                  <a:srgbClr val="333F48"/>
                </a:solidFill>
                <a:effectLst/>
                <a:uFillTx/>
                <a:latin typeface="Arial Black"/>
              </a:rPr>
              <a:t>Qualitative Terrain Evaluation (3/3)</a:t>
            </a:r>
            <a:endParaRPr lang="en-US" sz="3000" b="0" u="none" strike="noStrike">
              <a:solidFill>
                <a:srgbClr val="BE5700"/>
              </a:solidFill>
              <a:effectLst/>
              <a:uFillTx/>
              <a:latin typeface="Arial"/>
            </a:endParaRPr>
          </a:p>
        </p:txBody>
      </p:sp>
      <p:sp>
        <p:nvSpPr>
          <p:cNvPr id="190" name="TextBox 189"/>
          <p:cNvSpPr txBox="1"/>
          <p:nvPr/>
        </p:nvSpPr>
        <p:spPr>
          <a:xfrm>
            <a:off x="8512920" y="4596840"/>
            <a:ext cx="3832560" cy="427320"/>
          </a:xfrm>
          <a:prstGeom prst="rect">
            <a:avLst/>
          </a:prstGeom>
          <a:noFill/>
          <a:ln w="0">
            <a:noFill/>
          </a:ln>
        </p:spPr>
        <p:txBody>
          <a:bodyPr wrap="none" lIns="90000" tIns="45000" rIns="90000" bIns="45000" anchor="t">
            <a:spAutoFit/>
          </a:bodyPr>
          <a:lstStyle/>
          <a:p>
            <a:fld id="{7BF944AC-8855-4DD5-B7CF-81E6F84DB8E2}" type="slidenum">
              <a:rPr lang="en-US" sz="1800" b="0" u="none" strike="noStrike">
                <a:solidFill>
                  <a:srgbClr val="000000"/>
                </a:solidFill>
                <a:effectLst/>
                <a:uFillTx/>
                <a:latin typeface="Arial"/>
              </a:rPr>
              <a:t>39</a:t>
            </a:fld>
            <a:endParaRPr lang="en-US" sz="1800" b="0" u="none" strike="noStrike">
              <a:solidFill>
                <a:srgbClr val="000000"/>
              </a:solidFill>
              <a:effectLst/>
              <a:uFillTx/>
              <a:latin typeface="Arial"/>
            </a:endParaRPr>
          </a:p>
        </p:txBody>
      </p:sp>
      <p:sp>
        <p:nvSpPr>
          <p:cNvPr id="191" name="TextBox 190"/>
          <p:cNvSpPr txBox="1"/>
          <p:nvPr/>
        </p:nvSpPr>
        <p:spPr>
          <a:xfrm>
            <a:off x="457200" y="1600200"/>
            <a:ext cx="80010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Obtain class priors by bootstrapping the algorithm</a:t>
            </a:r>
            <a:endParaRPr lang="en-US" sz="24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Classifier uses a circular buffer to store simulated results for all cells in given terrain</a:t>
            </a:r>
            <a:endParaRPr lang="en-US" sz="2000" b="0" u="none" strike="noStrike">
              <a:solidFill>
                <a:srgbClr val="000000"/>
              </a:solidFill>
              <a:effectLst/>
              <a:uFillTx/>
              <a:latin typeface="Arial"/>
            </a:endParaRPr>
          </a:p>
          <a:p>
            <a:pPr marL="648000" lvl="2"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Class means, variances, and priors are obtained</a:t>
            </a:r>
            <a:endParaRPr lang="en-US" sz="1800" b="0" u="none" strike="noStrike">
              <a:solidFill>
                <a:srgbClr val="000000"/>
              </a:solidFill>
              <a:effectLst/>
              <a:uFillTx/>
              <a:latin typeface="Arial"/>
            </a:endParaRPr>
          </a:p>
          <a:p>
            <a:pPr marL="648000" lvl="2"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Bootstrapped results eventually get diluted by posterior estimates from online learning</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Each cell is classified as traversable (zero cost multiplier), cautious (half cost multiplier), and non-traversable (full cost)</a:t>
            </a:r>
            <a:endParaRPr lang="en-US"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Costs of each cell class are added to terrain costmap</a:t>
            </a:r>
            <a:endParaRPr lang="en-US" sz="24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2600" b="1" u="none" strike="noStrike">
                <a:solidFill>
                  <a:srgbClr val="333F48"/>
                </a:solidFill>
                <a:effectLst/>
                <a:uFillTx/>
                <a:latin typeface="Arial Black"/>
              </a:rPr>
              <a:t>Waypoint-Heuristic Motion Planning (1/4)</a:t>
            </a:r>
            <a:endParaRPr lang="en-US" sz="2600" b="0" u="none" strike="noStrike">
              <a:solidFill>
                <a:srgbClr val="BE5700"/>
              </a:solidFill>
              <a:effectLst/>
              <a:uFillTx/>
              <a:latin typeface="Arial"/>
            </a:endParaRPr>
          </a:p>
        </p:txBody>
      </p:sp>
      <p:sp>
        <p:nvSpPr>
          <p:cNvPr id="193" name="TextBox 192"/>
          <p:cNvSpPr txBox="1"/>
          <p:nvPr/>
        </p:nvSpPr>
        <p:spPr>
          <a:xfrm>
            <a:off x="8512920" y="4596840"/>
            <a:ext cx="3832560" cy="427320"/>
          </a:xfrm>
          <a:prstGeom prst="rect">
            <a:avLst/>
          </a:prstGeom>
          <a:noFill/>
          <a:ln w="0">
            <a:noFill/>
          </a:ln>
        </p:spPr>
        <p:txBody>
          <a:bodyPr wrap="none" lIns="90000" tIns="45000" rIns="90000" bIns="45000" anchor="t">
            <a:spAutoFit/>
          </a:bodyPr>
          <a:lstStyle/>
          <a:p>
            <a:fld id="{48FE273C-E983-4C2F-8D46-E9061625300C}" type="slidenum">
              <a:rPr lang="en-US" sz="1800" b="0" u="none" strike="noStrike">
                <a:solidFill>
                  <a:srgbClr val="000000"/>
                </a:solidFill>
                <a:effectLst/>
                <a:uFillTx/>
                <a:latin typeface="Arial"/>
              </a:rPr>
              <a:t>40</a:t>
            </a:fld>
            <a:endParaRPr lang="en-US" sz="1800" b="0" u="none" strike="noStrike">
              <a:solidFill>
                <a:srgbClr val="000000"/>
              </a:solidFill>
              <a:effectLst/>
              <a:uFillTx/>
              <a:latin typeface="Arial"/>
            </a:endParaRPr>
          </a:p>
        </p:txBody>
      </p:sp>
      <p:sp>
        <p:nvSpPr>
          <p:cNvPr id="194" name="TextBox 193"/>
          <p:cNvSpPr txBox="1"/>
          <p:nvPr/>
        </p:nvSpPr>
        <p:spPr>
          <a:xfrm>
            <a:off x="457560" y="1600200"/>
            <a:ext cx="8001000" cy="335088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Quantitative and qualitative terrain costmap introduces local minima located away from goal position</a:t>
            </a:r>
            <a:endParaRPr lang="en-US" sz="24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Covariance adaptation insufficient for driving robot away from terrain-driven minima</a:t>
            </a:r>
            <a:endParaRPr lang="en-US" sz="20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Need robust method of driving robot towards goal incrementally, discouraging settling at local minima</a:t>
            </a:r>
            <a:endParaRPr lang="en-US"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2400" b="0" u="none" strike="noStrike">
                <a:solidFill>
                  <a:srgbClr val="000000"/>
                </a:solidFill>
                <a:effectLst/>
                <a:uFillTx/>
                <a:latin typeface="Arial"/>
                <a:ea typeface="DejaVu Sans"/>
              </a:rPr>
              <a:t>Proposed solution: create a waypoint heuristic which selects subgoals along the robot’s way towards the goal</a:t>
            </a:r>
            <a:endParaRPr lang="en-US" sz="24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2600" b="1" u="none" strike="noStrike">
                <a:solidFill>
                  <a:srgbClr val="333F48"/>
                </a:solidFill>
                <a:effectLst/>
                <a:uFillTx/>
                <a:latin typeface="Arial Black"/>
              </a:rPr>
              <a:t>Waypoint-Heuristic Motion Planning (2/4)</a:t>
            </a:r>
            <a:endParaRPr lang="en-US" sz="2600" b="0" u="none" strike="noStrike">
              <a:solidFill>
                <a:srgbClr val="BE5700"/>
              </a:solidFill>
              <a:effectLst/>
              <a:uFillTx/>
              <a:latin typeface="Arial"/>
            </a:endParaRPr>
          </a:p>
        </p:txBody>
      </p:sp>
      <p:sp>
        <p:nvSpPr>
          <p:cNvPr id="196" name="TextBox 195"/>
          <p:cNvSpPr txBox="1"/>
          <p:nvPr/>
        </p:nvSpPr>
        <p:spPr>
          <a:xfrm>
            <a:off x="8512920" y="4596840"/>
            <a:ext cx="3832560" cy="427320"/>
          </a:xfrm>
          <a:prstGeom prst="rect">
            <a:avLst/>
          </a:prstGeom>
          <a:noFill/>
          <a:ln w="0">
            <a:noFill/>
          </a:ln>
        </p:spPr>
        <p:txBody>
          <a:bodyPr wrap="none" lIns="90000" tIns="45000" rIns="90000" bIns="45000" anchor="t">
            <a:spAutoFit/>
          </a:bodyPr>
          <a:lstStyle/>
          <a:p>
            <a:fld id="{C35B6A92-41FD-41CD-8BB5-7EF1DF1871C0}" type="slidenum">
              <a:rPr lang="en-US" sz="1800" b="0" u="none" strike="noStrike">
                <a:solidFill>
                  <a:srgbClr val="000000"/>
                </a:solidFill>
                <a:effectLst/>
                <a:uFillTx/>
                <a:latin typeface="Arial"/>
              </a:rPr>
              <a:t>41</a:t>
            </a:fld>
            <a:endParaRPr lang="en-US" sz="1800" b="0" u="none" strike="noStrike">
              <a:solidFill>
                <a:srgbClr val="000000"/>
              </a:solidFill>
              <a:effectLst/>
              <a:uFillTx/>
              <a:latin typeface="Arial"/>
            </a:endParaRPr>
          </a:p>
        </p:txBody>
      </p:sp>
      <p:sp>
        <p:nvSpPr>
          <p:cNvPr id="197" name="TextBox 196"/>
          <p:cNvSpPr txBox="1"/>
          <p:nvPr/>
        </p:nvSpPr>
        <p:spPr>
          <a:xfrm>
            <a:off x="457560" y="1600200"/>
            <a:ext cx="8229240" cy="13716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700" b="0" u="none" strike="noStrike">
                <a:solidFill>
                  <a:srgbClr val="000000"/>
                </a:solidFill>
                <a:effectLst/>
                <a:uFillTx/>
                <a:latin typeface="Arial"/>
                <a:ea typeface="DejaVu Sans"/>
              </a:rPr>
              <a:t>Setup: lay out local grid with robot at center with 2</a:t>
            </a:r>
            <a:r>
              <a:rPr lang="en-US" sz="1700" b="0" i="1" u="none" strike="noStrike">
                <a:solidFill>
                  <a:srgbClr val="000000"/>
                </a:solidFill>
                <a:effectLst/>
                <a:uFillTx/>
                <a:latin typeface="Arial"/>
                <a:ea typeface="DejaVu Sans"/>
              </a:rPr>
              <a:t>k</a:t>
            </a:r>
            <a:r>
              <a:rPr lang="en-US" sz="1700" b="0" u="none" strike="noStrike">
                <a:solidFill>
                  <a:srgbClr val="000000"/>
                </a:solidFill>
                <a:effectLst/>
                <a:uFillTx/>
                <a:latin typeface="Arial"/>
                <a:ea typeface="DejaVu Sans"/>
              </a:rPr>
              <a:t>+1 nodes in each row and column </a:t>
            </a:r>
            <a:endParaRPr lang="en-US" sz="17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US" sz="1700" b="0" u="none" strike="noStrike">
                <a:solidFill>
                  <a:srgbClr val="000000"/>
                </a:solidFill>
                <a:effectLst/>
                <a:uFillTx/>
                <a:latin typeface="Arial"/>
                <a:ea typeface="DejaVu Sans"/>
              </a:rPr>
              <a:t>Heuristic is weighted sum of progression towards goal (π), terrain costmap (Q</a:t>
            </a:r>
            <a:r>
              <a:rPr lang="en-US" sz="1700" b="0" u="none" strike="noStrike" baseline="-8000">
                <a:solidFill>
                  <a:srgbClr val="000000"/>
                </a:solidFill>
                <a:effectLst/>
                <a:uFillTx/>
                <a:latin typeface="Arial"/>
                <a:ea typeface="DejaVu Sans"/>
              </a:rPr>
              <a:t>tr</a:t>
            </a:r>
            <a:r>
              <a:rPr lang="en-US" sz="1700" b="0" u="none" strike="noStrike">
                <a:solidFill>
                  <a:srgbClr val="000000"/>
                </a:solidFill>
                <a:effectLst/>
                <a:uFillTx/>
                <a:latin typeface="Arial"/>
                <a:ea typeface="DejaVu Sans"/>
              </a:rPr>
              <a:t>), and obstacle aversion</a:t>
            </a:r>
            <a:endParaRPr lang="en-US" sz="1700" b="0" u="none" strike="noStrike">
              <a:solidFill>
                <a:srgbClr val="000000"/>
              </a:solidFill>
              <a:effectLst/>
              <a:uFillTx/>
              <a:latin typeface="Arial"/>
            </a:endParaRPr>
          </a:p>
        </p:txBody>
      </p:sp>
      <p:pic>
        <p:nvPicPr>
          <p:cNvPr id="198" name="Graphic 197" descr="28§display§\mathcal{H}(\mathbf{s}_{ij})=w_p\pi(\mathbf{s}_{ij})+w_tQ_{tr}(\mathbf{s}_{ij})+w_o\sum_{p=1}^P\left[\lVert\mathbf{s}_{ij}-\mathbf{s}_{\mathcal{O}_p}\rVert^{-2}+\alpha\mathbf{1}_{\mathcal{O}_p}(\mathbf{s}_{ij};\rho)\right],\alpha\gg 1§svg§600§TRUE§"/>
          <p:cNvPicPr/>
          <p:nvPr/>
        </p:nvPicPr>
        <p:blipFill>
          <a:blip>
            <a:extLst>
              <a:ext uri="{96DAC541-7B7A-43D3-8B79-37D633B846F1}">
                <asvg:svgBlip xmlns:asvg="http://schemas.microsoft.com/office/drawing/2016/SVG/main" r:embed="rId2"/>
              </a:ext>
            </a:extLst>
          </a:blip>
          <a:stretch/>
        </p:blipFill>
        <p:spPr>
          <a:xfrm>
            <a:off x="686160" y="2651400"/>
            <a:ext cx="8000640" cy="722880"/>
          </a:xfrm>
          <a:prstGeom prst="rect">
            <a:avLst/>
          </a:prstGeom>
          <a:noFill/>
          <a:ln w="0">
            <a:noFill/>
          </a:ln>
        </p:spPr>
      </p:pic>
      <p:pic>
        <p:nvPicPr>
          <p:cNvPr id="199" name="Graphic 198" descr="28§display§\pi(\mathbf{s}_{ij})=\lVert\mathbf{s}_{ij}-\mathbf{s}_{goal}\rVert^2 - \lVert\mathbf{s}_{ij}-\mathbf{s}_{0}\rVert^2§svg§600§TRUE§"/>
          <p:cNvPicPr/>
          <p:nvPr/>
        </p:nvPicPr>
        <p:blipFill>
          <a:blip>
            <a:extLst>
              <a:ext uri="{96DAC541-7B7A-43D3-8B79-37D633B846F1}">
                <asvg:svgBlip xmlns:asvg="http://schemas.microsoft.com/office/drawing/2016/SVG/main" r:embed="rId3"/>
              </a:ext>
            </a:extLst>
          </a:blip>
          <a:stretch/>
        </p:blipFill>
        <p:spPr>
          <a:xfrm>
            <a:off x="685800" y="3576960"/>
            <a:ext cx="3886200" cy="309240"/>
          </a:xfrm>
          <a:prstGeom prst="rect">
            <a:avLst/>
          </a:prstGeom>
          <a:noFill/>
          <a:ln w="0">
            <a:noFill/>
          </a:ln>
        </p:spPr>
      </p:pic>
      <p:pic>
        <p:nvPicPr>
          <p:cNvPr id="200" name="Graphic 199" descr="28§display§Q_{tr}(\mathbf{s}_{ij})=\beta_{s}\nabla{\hat{z}}_{ij}+\beta_r\varepsilon_{ij}+\beta_u\frac{\sigma_{ij}}{C_{ij}}+\sum_{n=1}^3 \beta_{n}P(\mathcal{C}=\mathcal{C}_n|\mathbf{v}_{ij})§svg§600§TRUE§"/>
          <p:cNvPicPr/>
          <p:nvPr/>
        </p:nvPicPr>
        <p:blipFill>
          <a:blip>
            <a:extLst>
              <a:ext uri="{96DAC541-7B7A-43D3-8B79-37D633B846F1}">
                <asvg:svgBlip xmlns:asvg="http://schemas.microsoft.com/office/drawing/2016/SVG/main" r:embed="rId4"/>
              </a:ext>
            </a:extLst>
          </a:blip>
          <a:stretch/>
        </p:blipFill>
        <p:spPr>
          <a:xfrm>
            <a:off x="685800" y="4114800"/>
            <a:ext cx="4937040" cy="578160"/>
          </a:xfrm>
          <a:prstGeom prst="rect">
            <a:avLst/>
          </a:prstGeom>
          <a:noFill/>
          <a:ln w="0">
            <a:noFill/>
          </a:ln>
        </p:spPr>
      </p:pic>
      <p:pic>
        <p:nvPicPr>
          <p:cNvPr id="201" name="Graphic 200" descr="28§display§\mathbf{1}_{\mathcal{O}_p}(\mathbf{s}_{ij};\rho)=\begin{cases}&#10;1,&amp;\lVert\mathbf{s}_{ij}-\mathbf{s}_{\mathcal{O}_p}\rVert\le\rho\\&#10;0,&amp;\lVert\mathbf{s}_{ij}-\mathbf{s}_{\mathcal{O}_p}\rVert&gt;\rho\\&#10;\end{cases}§svg§600§TRUE§"/>
          <p:cNvPicPr/>
          <p:nvPr/>
        </p:nvPicPr>
        <p:blipFill>
          <a:blip>
            <a:extLst>
              <a:ext uri="{96DAC541-7B7A-43D3-8B79-37D633B846F1}">
                <asvg:svgBlip xmlns:asvg="http://schemas.microsoft.com/office/drawing/2016/SVG/main" r:embed="rId5"/>
              </a:ext>
            </a:extLst>
          </a:blip>
          <a:stretch/>
        </p:blipFill>
        <p:spPr>
          <a:xfrm>
            <a:off x="5113800" y="3413520"/>
            <a:ext cx="3573000" cy="701280"/>
          </a:xfrm>
          <a:prstGeom prst="rect">
            <a:avLst/>
          </a:prstGeom>
          <a:noFill/>
          <a:ln w="0">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2600" b="1" u="none" strike="noStrike">
                <a:solidFill>
                  <a:srgbClr val="333F48"/>
                </a:solidFill>
                <a:effectLst/>
                <a:uFillTx/>
                <a:latin typeface="Arial Black"/>
              </a:rPr>
              <a:t>Waypoint-Heuristic Motion Planning (3/4)</a:t>
            </a:r>
            <a:endParaRPr lang="en-US" sz="2600" b="0" u="none" strike="noStrike">
              <a:solidFill>
                <a:srgbClr val="BE5700"/>
              </a:solidFill>
              <a:effectLst/>
              <a:uFillTx/>
              <a:latin typeface="Arial"/>
            </a:endParaRPr>
          </a:p>
        </p:txBody>
      </p:sp>
      <p:sp>
        <p:nvSpPr>
          <p:cNvPr id="203" name="TextBox 202"/>
          <p:cNvSpPr txBox="1"/>
          <p:nvPr/>
        </p:nvSpPr>
        <p:spPr>
          <a:xfrm>
            <a:off x="8512920" y="4596840"/>
            <a:ext cx="3832560" cy="427320"/>
          </a:xfrm>
          <a:prstGeom prst="rect">
            <a:avLst/>
          </a:prstGeom>
          <a:noFill/>
          <a:ln w="0">
            <a:noFill/>
          </a:ln>
        </p:spPr>
        <p:txBody>
          <a:bodyPr wrap="none" lIns="90000" tIns="45000" rIns="90000" bIns="45000" anchor="t">
            <a:spAutoFit/>
          </a:bodyPr>
          <a:lstStyle/>
          <a:p>
            <a:fld id="{C1CD5FAE-BD8B-44EC-8DEF-546EB5287516}" type="slidenum">
              <a:rPr lang="en-US" sz="1800" b="0" u="none" strike="noStrike">
                <a:solidFill>
                  <a:srgbClr val="000000"/>
                </a:solidFill>
                <a:effectLst/>
                <a:uFillTx/>
                <a:latin typeface="Arial"/>
              </a:rPr>
              <a:t>42</a:t>
            </a:fld>
            <a:endParaRPr lang="en-US" sz="1800" b="0" u="none" strike="noStrike">
              <a:solidFill>
                <a:srgbClr val="000000"/>
              </a:solidFill>
              <a:effectLst/>
              <a:uFillTx/>
              <a:latin typeface="Arial"/>
            </a:endParaRPr>
          </a:p>
        </p:txBody>
      </p:sp>
      <p:sp>
        <p:nvSpPr>
          <p:cNvPr id="204" name="TextBox 203"/>
          <p:cNvSpPr txBox="1"/>
          <p:nvPr/>
        </p:nvSpPr>
        <p:spPr>
          <a:xfrm>
            <a:off x="457560" y="1600200"/>
            <a:ext cx="8229240" cy="6570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Path-integral procedure is applied for deriving optimal waypoint coordinates</a:t>
            </a:r>
            <a:endParaRPr lang="en-US" sz="2000" b="0" u="none" strike="noStrike">
              <a:solidFill>
                <a:srgbClr val="000000"/>
              </a:solidFill>
              <a:effectLst/>
              <a:uFillTx/>
              <a:latin typeface="Arial"/>
            </a:endParaRPr>
          </a:p>
        </p:txBody>
      </p:sp>
      <p:pic>
        <p:nvPicPr>
          <p:cNvPr id="205" name="Graphic 204" descr="28§display§\mathbf{s}'=\arg\min_{\mathbf{s}\in\mathcal{G}}\mathcal{H}(\mathbf{s})§svg§600§TRUE§"/>
          <p:cNvPicPr/>
          <p:nvPr/>
        </p:nvPicPr>
        <p:blipFill>
          <a:blip>
            <a:extLst>
              <a:ext uri="{96DAC541-7B7A-43D3-8B79-37D633B846F1}">
                <asvg:svgBlip xmlns:asvg="http://schemas.microsoft.com/office/drawing/2016/SVG/main" r:embed="rId2"/>
              </a:ext>
            </a:extLst>
          </a:blip>
          <a:stretch/>
        </p:blipFill>
        <p:spPr>
          <a:xfrm>
            <a:off x="686160" y="2630880"/>
            <a:ext cx="1599840" cy="340920"/>
          </a:xfrm>
          <a:prstGeom prst="rect">
            <a:avLst/>
          </a:prstGeom>
          <a:noFill/>
          <a:ln w="0">
            <a:noFill/>
          </a:ln>
        </p:spPr>
      </p:pic>
      <p:pic>
        <p:nvPicPr>
          <p:cNvPr id="206" name="Graphic 205" descr="28§display§w_{ij}=\frac{\exp\left(-\frac{\mathcal{H}(\mathbf{s}_{ij}) - \mathcal{H}(\mathbf{s}')}{2}\right)}{\sum_{r=1}^{R_G}\sum_{c=1}^{C_G}\exp\left(-\frac{\mathcal{H}(\mathbf{s}_{rc}) - \mathcal{H}(\mathbf{s}')}{2}\right)}§svg§600§TRUE§"/>
          <p:cNvPicPr/>
          <p:nvPr/>
        </p:nvPicPr>
        <p:blipFill>
          <a:blip>
            <a:extLst>
              <a:ext uri="{96DAC541-7B7A-43D3-8B79-37D633B846F1}">
                <asvg:svgBlip xmlns:asvg="http://schemas.microsoft.com/office/drawing/2016/SVG/main" r:embed="rId3"/>
              </a:ext>
            </a:extLst>
          </a:blip>
          <a:stretch/>
        </p:blipFill>
        <p:spPr>
          <a:xfrm>
            <a:off x="3657600" y="2257200"/>
            <a:ext cx="4114080" cy="934560"/>
          </a:xfrm>
          <a:prstGeom prst="rect">
            <a:avLst/>
          </a:prstGeom>
          <a:noFill/>
          <a:ln w="0">
            <a:noFill/>
          </a:ln>
        </p:spPr>
      </p:pic>
      <p:pic>
        <p:nvPicPr>
          <p:cNvPr id="207" name="Graphic 206" descr="28§display§\mathbf{s}^{\star}=\sum_{i=1}^{R_G}\sum_{j=1}^{C_G}w_{ij}\mathbf{s}_{ij}§svg§600§TRUE§"/>
          <p:cNvPicPr/>
          <p:nvPr/>
        </p:nvPicPr>
        <p:blipFill>
          <a:blip>
            <a:extLst>
              <a:ext uri="{96DAC541-7B7A-43D3-8B79-37D633B846F1}">
                <asvg:svgBlip xmlns:asvg="http://schemas.microsoft.com/office/drawing/2016/SVG/main" r:embed="rId4"/>
              </a:ext>
            </a:extLst>
          </a:blip>
          <a:stretch/>
        </p:blipFill>
        <p:spPr>
          <a:xfrm>
            <a:off x="686160" y="3150000"/>
            <a:ext cx="2057040" cy="809280"/>
          </a:xfrm>
          <a:prstGeom prst="rect">
            <a:avLst/>
          </a:prstGeom>
          <a:noFill/>
          <a:ln w="0">
            <a:noFill/>
          </a:ln>
        </p:spPr>
      </p:pic>
      <p:sp>
        <p:nvSpPr>
          <p:cNvPr id="208" name="Arrow: Right 207"/>
          <p:cNvSpPr/>
          <p:nvPr/>
        </p:nvSpPr>
        <p:spPr>
          <a:xfrm>
            <a:off x="2514600" y="2514600"/>
            <a:ext cx="914400" cy="457200"/>
          </a:xfrm>
          <a:prstGeom prst="rightArrow">
            <a:avLst>
              <a:gd name="adj1" fmla="val 50000"/>
              <a:gd name="adj2" fmla="val 50000"/>
            </a:avLst>
          </a:prstGeom>
          <a:solidFill>
            <a:srgbClr val="F7961F"/>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09" name="TextBox 208"/>
          <p:cNvSpPr txBox="1"/>
          <p:nvPr/>
        </p:nvSpPr>
        <p:spPr>
          <a:xfrm>
            <a:off x="457200" y="4071600"/>
            <a:ext cx="8229240" cy="72900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The optimal waypoint is treated as goal position until robot reaches it</a:t>
            </a:r>
            <a:endParaRPr lang="en-US" sz="20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ea typeface="DejaVu Sans"/>
              </a:rPr>
              <a:t>Forces waypoint recalculation</a:t>
            </a:r>
            <a:endParaRPr lang="en-US" sz="20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685800"/>
            <a:ext cx="8458200" cy="856800"/>
          </a:xfrm>
          <a:prstGeom prst="rect">
            <a:avLst/>
          </a:prstGeom>
          <a:noFill/>
          <a:ln w="0">
            <a:noFill/>
          </a:ln>
        </p:spPr>
        <p:txBody>
          <a:bodyPr lIns="91440" tIns="45720" rIns="91440" bIns="45720" anchor="ctr">
            <a:noAutofit/>
          </a:bodyPr>
          <a:lstStyle/>
          <a:p>
            <a:pPr indent="0">
              <a:lnSpc>
                <a:spcPct val="100000"/>
              </a:lnSpc>
              <a:buNone/>
            </a:pPr>
            <a:r>
              <a:rPr lang="en-US" sz="2600" b="1" u="none" strike="noStrike">
                <a:solidFill>
                  <a:srgbClr val="333F48"/>
                </a:solidFill>
                <a:effectLst/>
                <a:uFillTx/>
                <a:latin typeface="Arial Black"/>
              </a:rPr>
              <a:t>Waypoint-Heuristic Motion Planning (4/4)</a:t>
            </a:r>
            <a:endParaRPr lang="en-US" sz="2600" b="0" u="none" strike="noStrike">
              <a:solidFill>
                <a:srgbClr val="BE5700"/>
              </a:solidFill>
              <a:effectLst/>
              <a:uFillTx/>
              <a:latin typeface="Arial"/>
            </a:endParaRPr>
          </a:p>
        </p:txBody>
      </p:sp>
      <p:sp>
        <p:nvSpPr>
          <p:cNvPr id="211" name="TextBox 210"/>
          <p:cNvSpPr txBox="1"/>
          <p:nvPr/>
        </p:nvSpPr>
        <p:spPr>
          <a:xfrm>
            <a:off x="8512920" y="4596840"/>
            <a:ext cx="3832560" cy="427320"/>
          </a:xfrm>
          <a:prstGeom prst="rect">
            <a:avLst/>
          </a:prstGeom>
          <a:noFill/>
          <a:ln w="0">
            <a:noFill/>
          </a:ln>
        </p:spPr>
        <p:txBody>
          <a:bodyPr wrap="none" lIns="90000" tIns="45000" rIns="90000" bIns="45000" anchor="t">
            <a:spAutoFit/>
          </a:bodyPr>
          <a:lstStyle/>
          <a:p>
            <a:fld id="{14CC752D-AE41-4019-A508-B1C2C3ADBD73}" type="slidenum">
              <a:rPr lang="en-US" sz="1800" b="0" u="none" strike="noStrike">
                <a:solidFill>
                  <a:srgbClr val="000000"/>
                </a:solidFill>
                <a:effectLst/>
                <a:uFillTx/>
                <a:latin typeface="Arial"/>
              </a:rPr>
              <a:t>43</a:t>
            </a:fld>
            <a:endParaRPr lang="en-US" sz="1800" b="0" u="none" strike="noStrike">
              <a:solidFill>
                <a:srgbClr val="000000"/>
              </a:solidFill>
              <a:effectLst/>
              <a:uFillTx/>
              <a:latin typeface="Arial"/>
            </a:endParaRPr>
          </a:p>
        </p:txBody>
      </p:sp>
      <p:sp>
        <p:nvSpPr>
          <p:cNvPr id="212" name="TextBox 211"/>
          <p:cNvSpPr txBox="1"/>
          <p:nvPr/>
        </p:nvSpPr>
        <p:spPr>
          <a:xfrm>
            <a:off x="457560" y="1600200"/>
            <a:ext cx="4114440" cy="3193920"/>
          </a:xfrm>
          <a:prstGeom prst="rect">
            <a:avLst/>
          </a:prstGeom>
          <a:noFill/>
          <a:ln w="0">
            <a:noFill/>
          </a:ln>
        </p:spPr>
        <p:txBody>
          <a:bodyPr lIns="90000" tIns="45000" rIns="90000" bIns="45000" anchor="t">
            <a:spAutoFit/>
          </a:bodyPr>
          <a:lstStyle/>
          <a:p>
            <a:pPr marL="216000"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Weights determine priority of constraint</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For large β</a:t>
            </a:r>
            <a:r>
              <a:rPr lang="en-US" sz="1800" b="0" u="none" strike="noStrike" baseline="-8000">
                <a:solidFill>
                  <a:srgbClr val="000000"/>
                </a:solidFill>
                <a:effectLst/>
                <a:uFillTx/>
                <a:latin typeface="Arial"/>
                <a:ea typeface="DejaVu Sans"/>
              </a:rPr>
              <a:t>p</a:t>
            </a:r>
            <a:r>
              <a:rPr lang="en-US" sz="1800" b="0" u="none" strike="noStrike">
                <a:solidFill>
                  <a:srgbClr val="000000"/>
                </a:solidFill>
                <a:effectLst/>
                <a:uFillTx/>
                <a:latin typeface="Arial"/>
                <a:ea typeface="DejaVu Sans"/>
              </a:rPr>
              <a:t>, we prioritize progress towards the goal</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For large β</a:t>
            </a:r>
            <a:r>
              <a:rPr lang="en-US" sz="1800" b="0" u="none" strike="noStrike" baseline="-8000">
                <a:solidFill>
                  <a:srgbClr val="000000"/>
                </a:solidFill>
                <a:effectLst/>
                <a:uFillTx/>
                <a:latin typeface="Arial"/>
                <a:ea typeface="DejaVu Sans"/>
              </a:rPr>
              <a:t>o</a:t>
            </a:r>
            <a:r>
              <a:rPr lang="en-US" sz="1800" b="0" u="none" strike="noStrike">
                <a:solidFill>
                  <a:srgbClr val="000000"/>
                </a:solidFill>
                <a:effectLst/>
                <a:uFillTx/>
                <a:latin typeface="Arial"/>
                <a:ea typeface="DejaVu Sans"/>
              </a:rPr>
              <a:t>, we heavily prioritize obstacle avoidance</a:t>
            </a:r>
            <a:endParaRPr lang="en-US" sz="1800" b="0" u="none" strike="noStrike">
              <a:solidFill>
                <a:srgbClr val="000000"/>
              </a:solidFill>
              <a:effectLst/>
              <a:uFillTx/>
              <a:latin typeface="Arial"/>
            </a:endParaRPr>
          </a:p>
          <a:p>
            <a:pPr marL="648000" lvl="2"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May observe subgoal recalculation if intercepted by obstacle</a:t>
            </a:r>
            <a:endParaRPr lang="en-US" sz="1800" b="0" u="none" strike="noStrike">
              <a:solidFill>
                <a:srgbClr val="000000"/>
              </a:solidFill>
              <a:effectLst/>
              <a:uFillTx/>
              <a:latin typeface="Arial"/>
            </a:endParaRPr>
          </a:p>
          <a:p>
            <a:pPr marL="432000" lvl="1" indent="-216000">
              <a:lnSpc>
                <a:spcPct val="100000"/>
              </a:lnSpc>
              <a:spcBef>
                <a:spcPts val="283"/>
              </a:spcBef>
              <a:spcAft>
                <a:spcPts val="283"/>
              </a:spcAft>
              <a:buClr>
                <a:srgbClr val="000000"/>
              </a:buClr>
              <a:buSzPct val="45000"/>
              <a:buFont typeface="Wingdings" charset="2"/>
              <a:buChar char=""/>
            </a:pPr>
            <a:r>
              <a:rPr lang="en-US" sz="1800" b="0" u="none" strike="noStrike">
                <a:solidFill>
                  <a:srgbClr val="000000"/>
                </a:solidFill>
                <a:effectLst/>
                <a:uFillTx/>
                <a:latin typeface="Arial"/>
                <a:ea typeface="DejaVu Sans"/>
              </a:rPr>
              <a:t>For large β</a:t>
            </a:r>
            <a:r>
              <a:rPr lang="en-US" sz="1800" b="0" u="none" strike="noStrike" baseline="-8000">
                <a:solidFill>
                  <a:srgbClr val="000000"/>
                </a:solidFill>
                <a:effectLst/>
                <a:uFillTx/>
                <a:latin typeface="Arial"/>
                <a:ea typeface="DejaVu Sans"/>
              </a:rPr>
              <a:t>t</a:t>
            </a:r>
            <a:r>
              <a:rPr lang="en-US" sz="1800" b="0" u="none" strike="noStrike">
                <a:solidFill>
                  <a:srgbClr val="000000"/>
                </a:solidFill>
                <a:effectLst/>
                <a:uFillTx/>
                <a:latin typeface="Arial"/>
                <a:ea typeface="DejaVu Sans"/>
              </a:rPr>
              <a:t>, we prioritize traversing safe terrain</a:t>
            </a:r>
            <a:endParaRPr lang="en-US" sz="1800" b="0" u="none" strike="noStrike">
              <a:solidFill>
                <a:srgbClr val="000000"/>
              </a:solidFill>
              <a:effectLst/>
              <a:uFillTx/>
              <a:latin typeface="Arial"/>
            </a:endParaRPr>
          </a:p>
        </p:txBody>
      </p:sp>
      <p:graphicFrame>
        <p:nvGraphicFramePr>
          <p:cNvPr id="213" name="Table 212"/>
          <p:cNvGraphicFramePr/>
          <p:nvPr>
            <p:extLst>
              <p:ext uri="{D42A27DB-BD31-4B8C-83A1-F6EECF244321}">
                <p14:modId xmlns:p14="http://schemas.microsoft.com/office/powerpoint/2010/main" val="2001353931"/>
              </p:ext>
            </p:extLst>
          </p:nvPr>
        </p:nvGraphicFramePr>
        <p:xfrm>
          <a:off x="5085718" y="2095920"/>
          <a:ext cx="2248335" cy="2150856"/>
        </p:xfrm>
        <a:graphic>
          <a:graphicData uri="http://schemas.openxmlformats.org/drawingml/2006/table">
            <a:tbl>
              <a:tblPr/>
              <a:tblGrid>
                <a:gridCol w="372736">
                  <a:extLst>
                    <a:ext uri="{9D8B030D-6E8A-4147-A177-3AD203B41FA5}">
                      <a16:colId xmlns:a16="http://schemas.microsoft.com/office/drawing/2014/main" val="20000"/>
                    </a:ext>
                  </a:extLst>
                </a:gridCol>
                <a:gridCol w="372736">
                  <a:extLst>
                    <a:ext uri="{9D8B030D-6E8A-4147-A177-3AD203B41FA5}">
                      <a16:colId xmlns:a16="http://schemas.microsoft.com/office/drawing/2014/main" val="20001"/>
                    </a:ext>
                  </a:extLst>
                </a:gridCol>
                <a:gridCol w="372736">
                  <a:extLst>
                    <a:ext uri="{9D8B030D-6E8A-4147-A177-3AD203B41FA5}">
                      <a16:colId xmlns:a16="http://schemas.microsoft.com/office/drawing/2014/main" val="20002"/>
                    </a:ext>
                  </a:extLst>
                </a:gridCol>
                <a:gridCol w="372736">
                  <a:extLst>
                    <a:ext uri="{9D8B030D-6E8A-4147-A177-3AD203B41FA5}">
                      <a16:colId xmlns:a16="http://schemas.microsoft.com/office/drawing/2014/main" val="20003"/>
                    </a:ext>
                  </a:extLst>
                </a:gridCol>
                <a:gridCol w="372736">
                  <a:extLst>
                    <a:ext uri="{9D8B030D-6E8A-4147-A177-3AD203B41FA5}">
                      <a16:colId xmlns:a16="http://schemas.microsoft.com/office/drawing/2014/main" val="20004"/>
                    </a:ext>
                  </a:extLst>
                </a:gridCol>
                <a:gridCol w="384655">
                  <a:extLst>
                    <a:ext uri="{9D8B030D-6E8A-4147-A177-3AD203B41FA5}">
                      <a16:colId xmlns:a16="http://schemas.microsoft.com/office/drawing/2014/main" val="20005"/>
                    </a:ext>
                  </a:extLst>
                </a:gridCol>
              </a:tblGrid>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0"/>
                  </a:ext>
                </a:extLst>
              </a:tr>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1"/>
                  </a:ext>
                </a:extLst>
              </a:tr>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2"/>
                  </a:ext>
                </a:extLst>
              </a:tr>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dirty="0">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dirty="0">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3"/>
                  </a:ext>
                </a:extLst>
              </a:tr>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dirty="0">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4"/>
                  </a:ext>
                </a:extLst>
              </a:tr>
              <a:tr h="358476">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tc>
                  <a:txBody>
                    <a:bodyPr/>
                    <a:lstStyle/>
                    <a:p>
                      <a:endParaRPr lang="en-US" sz="1200" b="0" u="none" strike="noStrike" dirty="0">
                        <a:solidFill>
                          <a:srgbClr val="000000"/>
                        </a:solidFill>
                        <a:effectLst/>
                        <a:uFillTx/>
                        <a:latin typeface="Arial"/>
                      </a:endParaRPr>
                    </a:p>
                  </a:txBody>
                  <a:tcPr marL="90000" marR="90000" marT="46800" marB="46800">
                    <a:lnL w="10800">
                      <a:solidFill>
                        <a:srgbClr val="000000"/>
                      </a:solidFill>
                      <a:prstDash val="solid"/>
                    </a:lnL>
                    <a:lnR w="10800">
                      <a:solidFill>
                        <a:srgbClr val="000000"/>
                      </a:solidFill>
                      <a:prstDash val="solid"/>
                    </a:lnR>
                    <a:lnT w="10800">
                      <a:solidFill>
                        <a:srgbClr val="000000"/>
                      </a:solidFill>
                      <a:prstDash val="solid"/>
                    </a:lnT>
                    <a:lnB w="10800">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214" name="Oval 213"/>
          <p:cNvSpPr/>
          <p:nvPr/>
        </p:nvSpPr>
        <p:spPr>
          <a:xfrm>
            <a:off x="6062400" y="3016800"/>
            <a:ext cx="291600" cy="297360"/>
          </a:xfrm>
          <a:prstGeom prst="ellipse">
            <a:avLst/>
          </a:prstGeom>
          <a:solidFill>
            <a:srgbClr val="F7961F"/>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15" name="Star: 5 Points 214"/>
          <p:cNvSpPr/>
          <p:nvPr/>
        </p:nvSpPr>
        <p:spPr>
          <a:xfrm>
            <a:off x="7726320" y="1650600"/>
            <a:ext cx="438480" cy="415800"/>
          </a:xfrm>
          <a:prstGeom prst="star5">
            <a:avLst/>
          </a:prstGeom>
          <a:solidFill>
            <a:srgbClr val="158466"/>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FFFFFF"/>
              </a:solidFill>
              <a:effectLst/>
              <a:uFillTx/>
              <a:latin typeface="Arial"/>
            </a:endParaRPr>
          </a:p>
        </p:txBody>
      </p:sp>
      <p:sp>
        <p:nvSpPr>
          <p:cNvPr id="216" name="Oval 215"/>
          <p:cNvSpPr/>
          <p:nvPr/>
        </p:nvSpPr>
        <p:spPr>
          <a:xfrm>
            <a:off x="5409000" y="204624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17" name="Oval 216"/>
          <p:cNvSpPr/>
          <p:nvPr/>
        </p:nvSpPr>
        <p:spPr>
          <a:xfrm>
            <a:off x="5038920" y="204624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18" name="Oval 217"/>
          <p:cNvSpPr/>
          <p:nvPr/>
        </p:nvSpPr>
        <p:spPr>
          <a:xfrm>
            <a:off x="6158880" y="204660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19" name="Oval 218"/>
          <p:cNvSpPr/>
          <p:nvPr/>
        </p:nvSpPr>
        <p:spPr>
          <a:xfrm>
            <a:off x="5788440" y="204660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20" name="Oval 219"/>
          <p:cNvSpPr/>
          <p:nvPr/>
        </p:nvSpPr>
        <p:spPr>
          <a:xfrm>
            <a:off x="6903000" y="205200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1" name="Oval 220"/>
          <p:cNvSpPr/>
          <p:nvPr/>
        </p:nvSpPr>
        <p:spPr>
          <a:xfrm>
            <a:off x="6532560" y="205200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2" name="Oval 221"/>
          <p:cNvSpPr/>
          <p:nvPr/>
        </p:nvSpPr>
        <p:spPr>
          <a:xfrm>
            <a:off x="7282440" y="205236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3" name="Oval 222"/>
          <p:cNvSpPr/>
          <p:nvPr/>
        </p:nvSpPr>
        <p:spPr>
          <a:xfrm>
            <a:off x="5406480" y="240480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4" name="Oval 223"/>
          <p:cNvSpPr/>
          <p:nvPr/>
        </p:nvSpPr>
        <p:spPr>
          <a:xfrm>
            <a:off x="5036400" y="240480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5" name="Oval 224"/>
          <p:cNvSpPr/>
          <p:nvPr/>
        </p:nvSpPr>
        <p:spPr>
          <a:xfrm>
            <a:off x="6156360" y="240516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6" name="Oval 225"/>
          <p:cNvSpPr/>
          <p:nvPr/>
        </p:nvSpPr>
        <p:spPr>
          <a:xfrm>
            <a:off x="5785920" y="240516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7" name="Oval 226"/>
          <p:cNvSpPr/>
          <p:nvPr/>
        </p:nvSpPr>
        <p:spPr>
          <a:xfrm>
            <a:off x="6900480" y="241056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8" name="Oval 227"/>
          <p:cNvSpPr/>
          <p:nvPr/>
        </p:nvSpPr>
        <p:spPr>
          <a:xfrm>
            <a:off x="6530040" y="241056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29" name="Oval 228"/>
          <p:cNvSpPr/>
          <p:nvPr/>
        </p:nvSpPr>
        <p:spPr>
          <a:xfrm>
            <a:off x="7279920" y="241056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30" name="Oval 229"/>
          <p:cNvSpPr/>
          <p:nvPr/>
        </p:nvSpPr>
        <p:spPr>
          <a:xfrm>
            <a:off x="5409360" y="276228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31" name="Oval 230"/>
          <p:cNvSpPr/>
          <p:nvPr/>
        </p:nvSpPr>
        <p:spPr>
          <a:xfrm>
            <a:off x="5038920" y="276228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32" name="Oval 231"/>
          <p:cNvSpPr/>
          <p:nvPr/>
        </p:nvSpPr>
        <p:spPr>
          <a:xfrm>
            <a:off x="6158880" y="276264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33" name="Oval 232"/>
          <p:cNvSpPr/>
          <p:nvPr/>
        </p:nvSpPr>
        <p:spPr>
          <a:xfrm>
            <a:off x="5788800" y="276264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34" name="Oval 233"/>
          <p:cNvSpPr/>
          <p:nvPr/>
        </p:nvSpPr>
        <p:spPr>
          <a:xfrm>
            <a:off x="6903360" y="276804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35" name="Oval 234"/>
          <p:cNvSpPr/>
          <p:nvPr/>
        </p:nvSpPr>
        <p:spPr>
          <a:xfrm>
            <a:off x="6532920" y="276804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36" name="Oval 235"/>
          <p:cNvSpPr/>
          <p:nvPr/>
        </p:nvSpPr>
        <p:spPr>
          <a:xfrm>
            <a:off x="7282800" y="276840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37" name="Oval 236"/>
          <p:cNvSpPr/>
          <p:nvPr/>
        </p:nvSpPr>
        <p:spPr>
          <a:xfrm>
            <a:off x="5406480" y="347364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38" name="Oval 237"/>
          <p:cNvSpPr/>
          <p:nvPr/>
        </p:nvSpPr>
        <p:spPr>
          <a:xfrm>
            <a:off x="5036400" y="347364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39" name="Oval 238"/>
          <p:cNvSpPr/>
          <p:nvPr/>
        </p:nvSpPr>
        <p:spPr>
          <a:xfrm>
            <a:off x="6156360" y="347400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40" name="Oval 239"/>
          <p:cNvSpPr/>
          <p:nvPr/>
        </p:nvSpPr>
        <p:spPr>
          <a:xfrm>
            <a:off x="5785920" y="347400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41" name="Oval 240"/>
          <p:cNvSpPr/>
          <p:nvPr/>
        </p:nvSpPr>
        <p:spPr>
          <a:xfrm>
            <a:off x="6900480" y="347904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2" name="Oval 241"/>
          <p:cNvSpPr/>
          <p:nvPr/>
        </p:nvSpPr>
        <p:spPr>
          <a:xfrm>
            <a:off x="6530040" y="347904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3" name="Oval 242"/>
          <p:cNvSpPr/>
          <p:nvPr/>
        </p:nvSpPr>
        <p:spPr>
          <a:xfrm>
            <a:off x="7279920" y="347940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4" name="Oval 243"/>
          <p:cNvSpPr/>
          <p:nvPr/>
        </p:nvSpPr>
        <p:spPr>
          <a:xfrm>
            <a:off x="5403960" y="383184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5" name="Oval 244"/>
          <p:cNvSpPr/>
          <p:nvPr/>
        </p:nvSpPr>
        <p:spPr>
          <a:xfrm>
            <a:off x="5033880" y="383184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6" name="Oval 245"/>
          <p:cNvSpPr/>
          <p:nvPr/>
        </p:nvSpPr>
        <p:spPr>
          <a:xfrm>
            <a:off x="6153840" y="383220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7" name="Oval 246"/>
          <p:cNvSpPr/>
          <p:nvPr/>
        </p:nvSpPr>
        <p:spPr>
          <a:xfrm>
            <a:off x="5783760" y="383220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8" name="Oval 247"/>
          <p:cNvSpPr/>
          <p:nvPr/>
        </p:nvSpPr>
        <p:spPr>
          <a:xfrm>
            <a:off x="6897960" y="383760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49" name="Oval 248"/>
          <p:cNvSpPr/>
          <p:nvPr/>
        </p:nvSpPr>
        <p:spPr>
          <a:xfrm>
            <a:off x="6527880" y="383760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0" name="Oval 249"/>
          <p:cNvSpPr/>
          <p:nvPr/>
        </p:nvSpPr>
        <p:spPr>
          <a:xfrm>
            <a:off x="7277400" y="383796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1" name="Oval 250"/>
          <p:cNvSpPr/>
          <p:nvPr/>
        </p:nvSpPr>
        <p:spPr>
          <a:xfrm>
            <a:off x="5406840" y="418968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52" name="Oval 251"/>
          <p:cNvSpPr/>
          <p:nvPr/>
        </p:nvSpPr>
        <p:spPr>
          <a:xfrm>
            <a:off x="5036760" y="418968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53" name="Oval 252"/>
          <p:cNvSpPr/>
          <p:nvPr/>
        </p:nvSpPr>
        <p:spPr>
          <a:xfrm>
            <a:off x="6156720" y="419004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54" name="Oval 253"/>
          <p:cNvSpPr/>
          <p:nvPr/>
        </p:nvSpPr>
        <p:spPr>
          <a:xfrm>
            <a:off x="5786280" y="4190040"/>
            <a:ext cx="10080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55" name="Oval 254"/>
          <p:cNvSpPr/>
          <p:nvPr/>
        </p:nvSpPr>
        <p:spPr>
          <a:xfrm>
            <a:off x="6900840" y="419508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6" name="Oval 255"/>
          <p:cNvSpPr/>
          <p:nvPr/>
        </p:nvSpPr>
        <p:spPr>
          <a:xfrm>
            <a:off x="6530400" y="419508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7" name="Oval 256"/>
          <p:cNvSpPr/>
          <p:nvPr/>
        </p:nvSpPr>
        <p:spPr>
          <a:xfrm>
            <a:off x="7280280" y="419544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8" name="Oval 257"/>
          <p:cNvSpPr/>
          <p:nvPr/>
        </p:nvSpPr>
        <p:spPr>
          <a:xfrm>
            <a:off x="6903360" y="312408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59" name="Oval 258"/>
          <p:cNvSpPr/>
          <p:nvPr/>
        </p:nvSpPr>
        <p:spPr>
          <a:xfrm>
            <a:off x="6533280" y="312408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60" name="Oval 259"/>
          <p:cNvSpPr/>
          <p:nvPr/>
        </p:nvSpPr>
        <p:spPr>
          <a:xfrm>
            <a:off x="7283160" y="3124440"/>
            <a:ext cx="100440" cy="9288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1240" rIns="90000" bIns="21240" anchor="ctr">
            <a:noAutofit/>
          </a:bodyPr>
          <a:lstStyle/>
          <a:p>
            <a:endParaRPr lang="en-US" sz="1800" b="0" u="none" strike="noStrike">
              <a:solidFill>
                <a:srgbClr val="FFFFFF"/>
              </a:solidFill>
              <a:effectLst/>
              <a:uFillTx/>
              <a:latin typeface="Arial"/>
            </a:endParaRPr>
          </a:p>
        </p:txBody>
      </p:sp>
      <p:sp>
        <p:nvSpPr>
          <p:cNvPr id="261" name="Oval 260"/>
          <p:cNvSpPr/>
          <p:nvPr/>
        </p:nvSpPr>
        <p:spPr>
          <a:xfrm>
            <a:off x="5410440" y="312156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62" name="Oval 261"/>
          <p:cNvSpPr/>
          <p:nvPr/>
        </p:nvSpPr>
        <p:spPr>
          <a:xfrm>
            <a:off x="5040000" y="3121560"/>
            <a:ext cx="10080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63" name="Oval 262"/>
          <p:cNvSpPr/>
          <p:nvPr/>
        </p:nvSpPr>
        <p:spPr>
          <a:xfrm>
            <a:off x="5789880" y="3121920"/>
            <a:ext cx="100440" cy="93240"/>
          </a:xfrm>
          <a:prstGeom prst="ellipse">
            <a:avLst/>
          </a:prstGeom>
          <a:solidFill>
            <a:srgbClr val="000000"/>
          </a:solidFill>
          <a:ln w="0">
            <a:solidFill>
              <a:srgbClr val="864C05"/>
            </a:solidFill>
          </a:ln>
        </p:spPr>
        <p:style>
          <a:lnRef idx="0">
            <a:scrgbClr r="0" g="0" b="0"/>
          </a:lnRef>
          <a:fillRef idx="0">
            <a:scrgbClr r="0" g="0" b="0"/>
          </a:fillRef>
          <a:effectRef idx="0">
            <a:scrgbClr r="0" g="0" b="0"/>
          </a:effectRef>
          <a:fontRef idx="minor"/>
        </p:style>
        <p:txBody>
          <a:bodyPr lIns="90000" tIns="20880" rIns="90000" bIns="20880" anchor="ctr">
            <a:noAutofit/>
          </a:bodyPr>
          <a:lstStyle/>
          <a:p>
            <a:endParaRPr lang="en-US" sz="1800" b="0" u="none" strike="noStrike">
              <a:solidFill>
                <a:srgbClr val="FFFFFF"/>
              </a:solidFill>
              <a:effectLst/>
              <a:uFillTx/>
              <a:latin typeface="Arial"/>
            </a:endParaRPr>
          </a:p>
        </p:txBody>
      </p:sp>
      <p:sp>
        <p:nvSpPr>
          <p:cNvPr id="264" name="Star: 5 Points 263"/>
          <p:cNvSpPr/>
          <p:nvPr/>
        </p:nvSpPr>
        <p:spPr>
          <a:xfrm>
            <a:off x="6740280" y="2608560"/>
            <a:ext cx="163080" cy="159480"/>
          </a:xfrm>
          <a:prstGeom prst="star5">
            <a:avLst/>
          </a:prstGeom>
          <a:solidFill>
            <a:srgbClr val="3465A4"/>
          </a:solidFill>
          <a:ln w="0">
            <a:solidFill>
              <a:srgbClr val="864C05"/>
            </a:solidFill>
          </a:ln>
        </p:spPr>
        <p:style>
          <a:lnRef idx="0">
            <a:scrgbClr r="0" g="0" b="0"/>
          </a:lnRef>
          <a:fillRef idx="0">
            <a:scrgbClr r="0" g="0" b="0"/>
          </a:fillRef>
          <a:effectRef idx="0">
            <a:scrgbClr r="0" g="0" b="0"/>
          </a:effectRef>
          <a:fontRef idx="minor"/>
        </p:style>
        <p:txBody>
          <a:bodyPr lIns="90000" tIns="8280" rIns="90000" bIns="8280" anchor="ctr">
            <a:noAutofit/>
          </a:bodyPr>
          <a:lstStyle/>
          <a:p>
            <a:endParaRPr lang="en-US" sz="1800" b="0" u="none" strike="noStrike">
              <a:solidFill>
                <a:srgbClr val="FFFFFF"/>
              </a:solidFill>
              <a:effectLst/>
              <a:uFillTx/>
              <a:latin typeface="Arial"/>
            </a:endParaRPr>
          </a:p>
        </p:txBody>
      </p:sp>
      <p:sp>
        <p:nvSpPr>
          <p:cNvPr id="265" name="Star: 5 Points 264"/>
          <p:cNvSpPr/>
          <p:nvPr/>
        </p:nvSpPr>
        <p:spPr>
          <a:xfrm>
            <a:off x="6499440" y="2011320"/>
            <a:ext cx="163080" cy="159480"/>
          </a:xfrm>
          <a:prstGeom prst="star5">
            <a:avLst/>
          </a:prstGeom>
          <a:solidFill>
            <a:srgbClr val="FF0000"/>
          </a:solidFill>
          <a:ln w="0">
            <a:solidFill>
              <a:srgbClr val="864C05"/>
            </a:solidFill>
          </a:ln>
        </p:spPr>
        <p:style>
          <a:lnRef idx="0">
            <a:scrgbClr r="0" g="0" b="0"/>
          </a:lnRef>
          <a:fillRef idx="0">
            <a:scrgbClr r="0" g="0" b="0"/>
          </a:fillRef>
          <a:effectRef idx="0">
            <a:scrgbClr r="0" g="0" b="0"/>
          </a:effectRef>
          <a:fontRef idx="minor"/>
        </p:style>
        <p:txBody>
          <a:bodyPr lIns="90000" tIns="8280" rIns="90000" bIns="8280" anchor="ctr">
            <a:noAutofit/>
          </a:bodyPr>
          <a:lstStyle/>
          <a:p>
            <a:endParaRPr lang="en-US" sz="1800" b="0" u="none" strike="noStrike">
              <a:solidFill>
                <a:srgbClr val="FFFFFF"/>
              </a:solidFill>
              <a:effectLst/>
              <a:uFillTx/>
              <a:latin typeface="Arial"/>
            </a:endParaRPr>
          </a:p>
        </p:txBody>
      </p:sp>
      <p:sp>
        <p:nvSpPr>
          <p:cNvPr id="266" name="TextBox 265"/>
          <p:cNvSpPr txBox="1"/>
          <p:nvPr/>
        </p:nvSpPr>
        <p:spPr>
          <a:xfrm>
            <a:off x="5029200" y="4395240"/>
            <a:ext cx="3429000" cy="60228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14: Waypoint Heuristic Diagram with Minimizer (red) and Optimal Waypoint (blue)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267" name="Straight Connector 5"/>
          <p:cNvCxnSpPr/>
          <p:nvPr/>
        </p:nvCxnSpPr>
        <p:spPr>
          <a:xfrm>
            <a:off x="628560" y="3105000"/>
            <a:ext cx="5619960" cy="360"/>
          </a:xfrm>
          <a:prstGeom prst="straightConnector1">
            <a:avLst/>
          </a:prstGeom>
          <a:ln w="19080">
            <a:solidFill>
              <a:srgbClr val="FFFFFF"/>
            </a:solidFill>
            <a:round/>
          </a:ln>
        </p:spPr>
      </p:cxnSp>
      <p:sp>
        <p:nvSpPr>
          <p:cNvPr id="268" name="Title Placeholder 6"/>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Simulations and results</a:t>
            </a:r>
            <a:endParaRPr lang="en-US" sz="4800" b="0" u="none" strike="noStrike">
              <a:solidFill>
                <a:srgbClr val="FFFFFF"/>
              </a:solidFill>
              <a:effectLst/>
              <a:uFillTx/>
              <a:latin typeface="Arial"/>
            </a:endParaRPr>
          </a:p>
        </p:txBody>
      </p:sp>
      <p:sp>
        <p:nvSpPr>
          <p:cNvPr id="269" name="Text Placeholder 5"/>
          <p:cNvSpPr/>
          <p:nvPr/>
        </p:nvSpPr>
        <p:spPr>
          <a:xfrm>
            <a:off x="548640" y="3333600"/>
            <a:ext cx="7886520" cy="10098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Algorithm Demonstration</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Computational Evaluation</a:t>
            </a:r>
            <a:endParaRPr lang="en-US" sz="1400" b="0" u="none" strike="noStrike">
              <a:solidFill>
                <a:srgbClr val="FFFFFF"/>
              </a:solidFill>
              <a:effectLst/>
              <a:uFillTx/>
              <a:latin typeface="Arial"/>
            </a:endParaRPr>
          </a:p>
          <a:p>
            <a:pPr marL="216000" indent="-216000">
              <a:lnSpc>
                <a:spcPct val="90000"/>
              </a:lnSpc>
              <a:spcBef>
                <a:spcPts val="1001"/>
              </a:spcBef>
              <a:buClr>
                <a:srgbClr val="FFFFFF"/>
              </a:buClr>
              <a:buSzPct val="45000"/>
              <a:buFont typeface="Wingdings" charset="2"/>
              <a:buChar char=""/>
              <a:tabLst>
                <a:tab pos="0" algn="l"/>
              </a:tabLst>
            </a:pPr>
            <a:r>
              <a:rPr lang="en-US" sz="1400" b="0" u="none" strike="noStrike">
                <a:solidFill>
                  <a:srgbClr val="FFFFFF"/>
                </a:solidFill>
                <a:effectLst/>
                <a:uFillTx/>
                <a:latin typeface="Arial"/>
                <a:ea typeface="Arial"/>
              </a:rPr>
              <a:t>Future Work</a:t>
            </a:r>
            <a:endParaRPr lang="en-US" sz="1400" b="0" u="none" strike="noStrike">
              <a:solidFill>
                <a:srgbClr val="FFFFFF"/>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Algorithm Block Diagram</a:t>
            </a:r>
            <a:endParaRPr lang="en-US" sz="3200" b="0" u="none" strike="noStrike">
              <a:solidFill>
                <a:srgbClr val="BE5700"/>
              </a:solidFill>
              <a:effectLst/>
              <a:uFillTx/>
              <a:latin typeface="Arial"/>
            </a:endParaRPr>
          </a:p>
        </p:txBody>
      </p:sp>
      <p:sp>
        <p:nvSpPr>
          <p:cNvPr id="271" name="TextBox 270"/>
          <p:cNvSpPr txBox="1"/>
          <p:nvPr/>
        </p:nvSpPr>
        <p:spPr>
          <a:xfrm>
            <a:off x="8512920" y="4596840"/>
            <a:ext cx="3832560" cy="427320"/>
          </a:xfrm>
          <a:prstGeom prst="rect">
            <a:avLst/>
          </a:prstGeom>
          <a:noFill/>
          <a:ln w="0">
            <a:noFill/>
          </a:ln>
        </p:spPr>
        <p:txBody>
          <a:bodyPr wrap="none" lIns="90000" tIns="45000" rIns="90000" bIns="45000" anchor="t">
            <a:spAutoFit/>
          </a:bodyPr>
          <a:lstStyle/>
          <a:p>
            <a:fld id="{2373847C-AF57-4378-82DB-9B45857CCD87}" type="slidenum">
              <a:rPr lang="en-US" sz="1800" b="0" u="none" strike="noStrike">
                <a:solidFill>
                  <a:srgbClr val="000000"/>
                </a:solidFill>
                <a:effectLst/>
                <a:uFillTx/>
                <a:latin typeface="Arial"/>
              </a:rPr>
              <a:t>45</a:t>
            </a:fld>
            <a:endParaRPr lang="en-US" sz="1800" b="0" u="none" strike="noStrike">
              <a:solidFill>
                <a:srgbClr val="000000"/>
              </a:solidFill>
              <a:effectLst/>
              <a:uFillTx/>
              <a:latin typeface="Arial"/>
            </a:endParaRPr>
          </a:p>
        </p:txBody>
      </p:sp>
      <p:sp>
        <p:nvSpPr>
          <p:cNvPr id="272" name="Rectangle: Rounded Corners 271"/>
          <p:cNvSpPr/>
          <p:nvPr/>
        </p:nvSpPr>
        <p:spPr>
          <a:xfrm>
            <a:off x="363600" y="2485080"/>
            <a:ext cx="1033560" cy="715320"/>
          </a:xfrm>
          <a:prstGeom prst="roundRect">
            <a:avLst>
              <a:gd name="adj" fmla="val 16667"/>
            </a:avLst>
          </a:prstGeom>
          <a:solidFill>
            <a:srgbClr val="B4C7DC"/>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200" b="0" u="none" strike="noStrike">
                <a:solidFill>
                  <a:srgbClr val="000000"/>
                </a:solidFill>
                <a:effectLst/>
                <a:uFillTx/>
                <a:latin typeface="Arial"/>
              </a:rPr>
              <a:t>Bootstrap Bayes Classifier</a:t>
            </a:r>
          </a:p>
        </p:txBody>
      </p:sp>
      <p:sp>
        <p:nvSpPr>
          <p:cNvPr id="273" name="Rectangle: Rounded Corners 272"/>
          <p:cNvSpPr/>
          <p:nvPr/>
        </p:nvSpPr>
        <p:spPr>
          <a:xfrm>
            <a:off x="1828800" y="2485080"/>
            <a:ext cx="1033560" cy="715320"/>
          </a:xfrm>
          <a:prstGeom prst="roundRect">
            <a:avLst>
              <a:gd name="adj" fmla="val 16667"/>
            </a:avLst>
          </a:prstGeom>
          <a:solidFill>
            <a:srgbClr val="AFD095"/>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200" b="0" u="none" strike="noStrike">
                <a:solidFill>
                  <a:srgbClr val="000000"/>
                </a:solidFill>
                <a:effectLst/>
                <a:uFillTx/>
                <a:latin typeface="Arial"/>
              </a:rPr>
              <a:t>Sense Terrain with Camera</a:t>
            </a:r>
          </a:p>
        </p:txBody>
      </p:sp>
      <p:sp>
        <p:nvSpPr>
          <p:cNvPr id="274" name="Rectangle: Rounded Corners 273"/>
          <p:cNvSpPr/>
          <p:nvPr/>
        </p:nvSpPr>
        <p:spPr>
          <a:xfrm>
            <a:off x="3200400" y="1853640"/>
            <a:ext cx="1033560" cy="715320"/>
          </a:xfrm>
          <a:prstGeom prst="roundRect">
            <a:avLst>
              <a:gd name="adj" fmla="val 16667"/>
            </a:avLst>
          </a:prstGeom>
          <a:solidFill>
            <a:srgbClr val="AFD095"/>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000" b="0" u="none" strike="noStrike">
                <a:solidFill>
                  <a:srgbClr val="000000"/>
                </a:solidFill>
                <a:effectLst/>
                <a:uFillTx/>
                <a:latin typeface="Arial"/>
              </a:rPr>
              <a:t>Classify Terrain Traversability</a:t>
            </a:r>
          </a:p>
        </p:txBody>
      </p:sp>
      <p:sp>
        <p:nvSpPr>
          <p:cNvPr id="275" name="Rectangle: Rounded Corners 274"/>
          <p:cNvSpPr/>
          <p:nvPr/>
        </p:nvSpPr>
        <p:spPr>
          <a:xfrm>
            <a:off x="3200400" y="3170880"/>
            <a:ext cx="1033560" cy="715320"/>
          </a:xfrm>
          <a:prstGeom prst="roundRect">
            <a:avLst>
              <a:gd name="adj" fmla="val 16667"/>
            </a:avLst>
          </a:prstGeom>
          <a:solidFill>
            <a:srgbClr val="B4C7DC"/>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900" b="0" u="none" strike="noStrike">
                <a:solidFill>
                  <a:srgbClr val="000000"/>
                </a:solidFill>
                <a:effectLst/>
                <a:uFillTx/>
                <a:latin typeface="Arial"/>
              </a:rPr>
              <a:t>Create/Render Digital Elevation Map</a:t>
            </a:r>
          </a:p>
        </p:txBody>
      </p:sp>
      <p:sp>
        <p:nvSpPr>
          <p:cNvPr id="276" name="Rectangle: Rounded Corners 275"/>
          <p:cNvSpPr/>
          <p:nvPr/>
        </p:nvSpPr>
        <p:spPr>
          <a:xfrm>
            <a:off x="4572000" y="2485080"/>
            <a:ext cx="1033560" cy="715320"/>
          </a:xfrm>
          <a:prstGeom prst="roundRect">
            <a:avLst>
              <a:gd name="adj" fmla="val 16667"/>
            </a:avLst>
          </a:prstGeom>
          <a:solidFill>
            <a:srgbClr val="B4C7DC"/>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100" b="0" u="none" strike="noStrike">
                <a:solidFill>
                  <a:srgbClr val="000000"/>
                </a:solidFill>
                <a:effectLst/>
                <a:uFillTx/>
                <a:latin typeface="Arial"/>
              </a:rPr>
              <a:t>Build costmap, port to cost function </a:t>
            </a:r>
          </a:p>
        </p:txBody>
      </p:sp>
      <p:sp>
        <p:nvSpPr>
          <p:cNvPr id="277" name="Rectangle: Rounded Corners 276"/>
          <p:cNvSpPr/>
          <p:nvPr/>
        </p:nvSpPr>
        <p:spPr>
          <a:xfrm>
            <a:off x="5943600" y="2485080"/>
            <a:ext cx="1033560" cy="715320"/>
          </a:xfrm>
          <a:prstGeom prst="roundRect">
            <a:avLst>
              <a:gd name="adj" fmla="val 16667"/>
            </a:avLst>
          </a:prstGeom>
          <a:solidFill>
            <a:srgbClr val="FFDE59"/>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200" b="0" u="none" strike="noStrike">
                <a:solidFill>
                  <a:srgbClr val="000000"/>
                </a:solidFill>
                <a:effectLst/>
                <a:uFillTx/>
                <a:latin typeface="Arial"/>
              </a:rPr>
              <a:t>MPPI Control</a:t>
            </a:r>
          </a:p>
        </p:txBody>
      </p:sp>
      <p:sp>
        <p:nvSpPr>
          <p:cNvPr id="278" name="Rectangle: Rounded Corners 277"/>
          <p:cNvSpPr/>
          <p:nvPr/>
        </p:nvSpPr>
        <p:spPr>
          <a:xfrm>
            <a:off x="5943600" y="1371600"/>
            <a:ext cx="1033560" cy="715320"/>
          </a:xfrm>
          <a:prstGeom prst="roundRect">
            <a:avLst>
              <a:gd name="adj" fmla="val 16667"/>
            </a:avLst>
          </a:prstGeom>
          <a:solidFill>
            <a:srgbClr val="FFDE59"/>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200" b="0" u="none" strike="noStrike">
                <a:solidFill>
                  <a:srgbClr val="000000"/>
                </a:solidFill>
                <a:effectLst/>
                <a:uFillTx/>
                <a:latin typeface="Arial"/>
              </a:rPr>
              <a:t>Obstacle Motion</a:t>
            </a:r>
          </a:p>
        </p:txBody>
      </p:sp>
      <p:sp>
        <p:nvSpPr>
          <p:cNvPr id="279" name="Rectangle: Rounded Corners 278"/>
          <p:cNvSpPr/>
          <p:nvPr/>
        </p:nvSpPr>
        <p:spPr>
          <a:xfrm>
            <a:off x="7315200" y="2485080"/>
            <a:ext cx="1033560" cy="715320"/>
          </a:xfrm>
          <a:prstGeom prst="roundRect">
            <a:avLst>
              <a:gd name="adj" fmla="val 16667"/>
            </a:avLst>
          </a:prstGeom>
          <a:solidFill>
            <a:srgbClr val="FFDE59"/>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200" b="0" u="none" strike="noStrike">
                <a:solidFill>
                  <a:srgbClr val="000000"/>
                </a:solidFill>
                <a:effectLst/>
                <a:uFillTx/>
                <a:latin typeface="Arial"/>
              </a:rPr>
              <a:t>Robot Dynamics</a:t>
            </a:r>
          </a:p>
        </p:txBody>
      </p:sp>
      <p:sp>
        <p:nvSpPr>
          <p:cNvPr id="280" name="Arrow: Right 279"/>
          <p:cNvSpPr/>
          <p:nvPr/>
        </p:nvSpPr>
        <p:spPr>
          <a:xfrm>
            <a:off x="1397160" y="2743200"/>
            <a:ext cx="431640" cy="228600"/>
          </a:xfrm>
          <a:prstGeom prst="rightArrow">
            <a:avLst>
              <a:gd name="adj1" fmla="val 50000"/>
              <a:gd name="adj2" fmla="val 47205"/>
            </a:avLst>
          </a:prstGeom>
          <a:solidFill>
            <a:srgbClr val="F7961F"/>
          </a:solidFill>
          <a:ln w="0">
            <a:solidFill>
              <a:srgbClr val="864C05"/>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1" name="Arrow: Right 280"/>
          <p:cNvSpPr/>
          <p:nvPr/>
        </p:nvSpPr>
        <p:spPr>
          <a:xfrm>
            <a:off x="1397160" y="2743200"/>
            <a:ext cx="431640" cy="228600"/>
          </a:xfrm>
          <a:prstGeom prst="rightArrow">
            <a:avLst>
              <a:gd name="adj1" fmla="val 50000"/>
              <a:gd name="adj2" fmla="val 47205"/>
            </a:avLst>
          </a:pr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2" name="Arrow: Right 281"/>
          <p:cNvSpPr/>
          <p:nvPr/>
        </p:nvSpPr>
        <p:spPr>
          <a:xfrm>
            <a:off x="5605560" y="2743200"/>
            <a:ext cx="338040" cy="228600"/>
          </a:xfrm>
          <a:prstGeom prst="rightArrow">
            <a:avLst>
              <a:gd name="adj1" fmla="val 50000"/>
              <a:gd name="adj2" fmla="val 36969"/>
            </a:avLst>
          </a:pr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3" name="Arrow: Right 282"/>
          <p:cNvSpPr/>
          <p:nvPr/>
        </p:nvSpPr>
        <p:spPr>
          <a:xfrm>
            <a:off x="6977160" y="2743200"/>
            <a:ext cx="338040" cy="228600"/>
          </a:xfrm>
          <a:prstGeom prst="rightArrow">
            <a:avLst>
              <a:gd name="adj1" fmla="val 50000"/>
              <a:gd name="adj2" fmla="val 36969"/>
            </a:avLst>
          </a:pr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4" name="Freeform: Shape 283"/>
          <p:cNvSpPr/>
          <p:nvPr/>
        </p:nvSpPr>
        <p:spPr>
          <a:xfrm rot="5400000">
            <a:off x="2725200" y="2669760"/>
            <a:ext cx="669600" cy="391680"/>
          </a:xfrm>
          <a:custGeom>
            <a:avLst/>
            <a:gdLst/>
            <a:ahLst/>
            <a:cxnLst/>
            <a:rect l="l" t="t" r="r" b="b"/>
            <a:pathLst>
              <a:path w="787" h="799">
                <a:moveTo>
                  <a:pt x="439" y="12"/>
                </a:moveTo>
                <a:lnTo>
                  <a:pt x="535" y="102"/>
                </a:lnTo>
                <a:lnTo>
                  <a:pt x="391" y="246"/>
                </a:lnTo>
                <a:lnTo>
                  <a:pt x="252" y="108"/>
                </a:lnTo>
                <a:lnTo>
                  <a:pt x="349" y="12"/>
                </a:lnTo>
                <a:lnTo>
                  <a:pt x="0" y="0"/>
                </a:lnTo>
                <a:lnTo>
                  <a:pt x="12" y="348"/>
                </a:lnTo>
                <a:lnTo>
                  <a:pt x="108" y="258"/>
                </a:lnTo>
                <a:lnTo>
                  <a:pt x="282" y="433"/>
                </a:lnTo>
                <a:lnTo>
                  <a:pt x="282" y="799"/>
                </a:lnTo>
                <a:lnTo>
                  <a:pt x="511" y="799"/>
                </a:lnTo>
                <a:lnTo>
                  <a:pt x="511" y="427"/>
                </a:lnTo>
                <a:lnTo>
                  <a:pt x="685" y="252"/>
                </a:lnTo>
                <a:lnTo>
                  <a:pt x="781" y="348"/>
                </a:lnTo>
                <a:lnTo>
                  <a:pt x="787" y="0"/>
                </a:lnTo>
                <a:lnTo>
                  <a:pt x="439" y="12"/>
                </a:lnTo>
                <a:close/>
              </a:path>
            </a:pathLst>
          </a:cu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5" name="Freeform: Shape 284"/>
          <p:cNvSpPr/>
          <p:nvPr/>
        </p:nvSpPr>
        <p:spPr>
          <a:xfrm>
            <a:off x="3585240" y="2558880"/>
            <a:ext cx="986760" cy="471960"/>
          </a:xfrm>
          <a:custGeom>
            <a:avLst/>
            <a:gdLst/>
            <a:ahLst/>
            <a:cxn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6" name="Freeform: Shape 285"/>
          <p:cNvSpPr/>
          <p:nvPr/>
        </p:nvSpPr>
        <p:spPr>
          <a:xfrm flipV="1">
            <a:off x="3585240" y="2711520"/>
            <a:ext cx="986760" cy="459360"/>
          </a:xfrm>
          <a:custGeom>
            <a:avLst/>
            <a:gdLst/>
            <a:ahLst/>
            <a:cxn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287" name="Arrow: Down 286"/>
          <p:cNvSpPr/>
          <p:nvPr/>
        </p:nvSpPr>
        <p:spPr>
          <a:xfrm>
            <a:off x="6355800" y="2086920"/>
            <a:ext cx="259920" cy="409680"/>
          </a:xfrm>
          <a:prstGeom prst="downArrow">
            <a:avLst>
              <a:gd name="adj1" fmla="val 50000"/>
              <a:gd name="adj2" fmla="val 39404"/>
            </a:avLst>
          </a:prstGeom>
          <a:solidFill>
            <a:srgbClr val="B4C7DC"/>
          </a:solidFill>
          <a:ln w="0">
            <a:solidFill>
              <a:srgbClr val="B4C7DC"/>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cxnSp>
        <p:nvCxnSpPr>
          <p:cNvPr id="288" name="Connector: Elbow 287"/>
          <p:cNvCxnSpPr>
            <a:cxnSpLocks/>
            <a:stCxn id="279" idx="2"/>
          </p:cNvCxnSpPr>
          <p:nvPr/>
        </p:nvCxnSpPr>
        <p:spPr>
          <a:xfrm rot="5400000" flipH="1">
            <a:off x="5073751" y="442171"/>
            <a:ext cx="29878" cy="5486580"/>
          </a:xfrm>
          <a:prstGeom prst="bentConnector4">
            <a:avLst>
              <a:gd name="adj1" fmla="val -3778231"/>
              <a:gd name="adj2" fmla="val 100154"/>
            </a:avLst>
          </a:prstGeom>
          <a:ln w="38160">
            <a:solidFill>
              <a:srgbClr val="B4C7DC"/>
            </a:solidFill>
            <a:round/>
            <a:tailEnd type="triangle" w="med" len="med"/>
          </a:ln>
        </p:spPr>
      </p:cxnSp>
      <p:sp>
        <p:nvSpPr>
          <p:cNvPr id="289" name="TextBox 288"/>
          <p:cNvSpPr txBox="1"/>
          <p:nvPr/>
        </p:nvSpPr>
        <p:spPr>
          <a:xfrm>
            <a:off x="228600" y="4483440"/>
            <a:ext cx="8229600" cy="317160"/>
          </a:xfrm>
          <a:prstGeom prst="rect">
            <a:avLst/>
          </a:prstGeom>
          <a:noFill/>
          <a:ln w="0">
            <a:noFill/>
          </a:ln>
        </p:spPr>
        <p:txBody>
          <a:bodyPr lIns="90000" tIns="45000" rIns="90000" bIns="45000" anchor="t">
            <a:spAutoFit/>
          </a:bodyPr>
          <a:lstStyle/>
          <a:p>
            <a:pPr algn="ctr"/>
            <a:r>
              <a:rPr lang="en-US" sz="1200" b="0" u="none" strike="noStrike">
                <a:solidFill>
                  <a:srgbClr val="000000"/>
                </a:solidFill>
                <a:effectLst/>
                <a:uFillTx/>
                <a:latin typeface="Arial"/>
              </a:rPr>
              <a:t>Figure 15: Fully Integrated Algorithm Block Diagram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 name="Picture 289">
            <a:hlinkClick r:id="" action="ppaction://media"/>
          </p:cNvPr>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 y="1371600"/>
            <a:ext cx="3657600" cy="3250440"/>
          </a:xfrm>
          <a:prstGeom prst="rect">
            <a:avLst/>
          </a:prstGeom>
          <a:ln w="0">
            <a:noFill/>
          </a:ln>
        </p:spPr>
      </p:pic>
      <p:sp>
        <p:nvSpPr>
          <p:cNvPr id="291"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Example (1/5)</a:t>
            </a:r>
            <a:endParaRPr lang="en-US" sz="3200" b="0" u="none" strike="noStrike">
              <a:solidFill>
                <a:srgbClr val="BE5700"/>
              </a:solidFill>
              <a:effectLst/>
              <a:uFillTx/>
              <a:latin typeface="Arial"/>
            </a:endParaRPr>
          </a:p>
        </p:txBody>
      </p:sp>
      <p:sp>
        <p:nvSpPr>
          <p:cNvPr id="292" name="TextBox 291"/>
          <p:cNvSpPr txBox="1"/>
          <p:nvPr/>
        </p:nvSpPr>
        <p:spPr>
          <a:xfrm>
            <a:off x="8512920" y="4596840"/>
            <a:ext cx="3832560" cy="427320"/>
          </a:xfrm>
          <a:prstGeom prst="rect">
            <a:avLst/>
          </a:prstGeom>
          <a:noFill/>
          <a:ln w="0">
            <a:noFill/>
          </a:ln>
        </p:spPr>
        <p:txBody>
          <a:bodyPr wrap="none" lIns="90000" tIns="45000" rIns="90000" bIns="45000" anchor="t">
            <a:spAutoFit/>
          </a:bodyPr>
          <a:lstStyle/>
          <a:p>
            <a:fld id="{62F8E214-8B04-4FEB-B6F0-D913700F98C1}" type="slidenum">
              <a:rPr lang="en-US" sz="1800" b="0" u="none" strike="noStrike">
                <a:solidFill>
                  <a:srgbClr val="000000"/>
                </a:solidFill>
                <a:effectLst/>
                <a:uFillTx/>
                <a:latin typeface="Arial"/>
              </a:rPr>
              <a:t>46</a:t>
            </a:fld>
            <a:endParaRPr lang="en-US" sz="1800" b="0" u="none" strike="noStrike">
              <a:solidFill>
                <a:srgbClr val="000000"/>
              </a:solidFill>
              <a:effectLst/>
              <a:uFillTx/>
              <a:latin typeface="Arial"/>
            </a:endParaRPr>
          </a:p>
        </p:txBody>
      </p:sp>
      <p:pic>
        <p:nvPicPr>
          <p:cNvPr id="293" name="Picture 292">
            <a:hlinkClick r:id="" action="ppaction://media"/>
          </p:cNvPr>
          <p:cNvPicPr/>
          <p:nvPr>
            <a:videoFile r:link="rId4"/>
            <p:extLst>
              <p:ext uri="{DAA4B4D4-6D71-4841-9C94-3DE7FCFB9230}">
                <p14:media xmlns:p14="http://schemas.microsoft.com/office/powerpoint/2010/main" r:embed="rId3"/>
              </p:ext>
            </p:extLst>
          </p:nvPr>
        </p:nvPicPr>
        <p:blipFill>
          <a:blip r:embed="rId6"/>
          <a:stretch>
            <a:fillRect/>
          </a:stretch>
        </p:blipFill>
        <p:spPr>
          <a:xfrm>
            <a:off x="4343400" y="1676880"/>
            <a:ext cx="3555720" cy="2666520"/>
          </a:xfrm>
          <a:prstGeom prst="rect">
            <a:avLst/>
          </a:prstGeom>
          <a:ln w="0">
            <a:noFill/>
          </a:ln>
        </p:spPr>
      </p:pic>
      <p:sp>
        <p:nvSpPr>
          <p:cNvPr id="294" name="TextBox 293"/>
          <p:cNvSpPr txBox="1"/>
          <p:nvPr/>
        </p:nvSpPr>
        <p:spPr>
          <a:xfrm>
            <a:off x="228600" y="459756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16: Bird’s Eye View of Hilly Terrain Simulation</a:t>
            </a:r>
          </a:p>
        </p:txBody>
      </p:sp>
      <p:sp>
        <p:nvSpPr>
          <p:cNvPr id="295" name="TextBox 294"/>
          <p:cNvSpPr txBox="1"/>
          <p:nvPr/>
        </p:nvSpPr>
        <p:spPr>
          <a:xfrm>
            <a:off x="4114800" y="457200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17: Camera POV of Hilly Terrain Simulation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Example (2/5)</a:t>
            </a:r>
            <a:endParaRPr lang="en-US" sz="3200" b="0" u="none" strike="noStrike">
              <a:solidFill>
                <a:srgbClr val="BE5700"/>
              </a:solidFill>
              <a:effectLst/>
              <a:uFillTx/>
              <a:latin typeface="Arial"/>
            </a:endParaRPr>
          </a:p>
        </p:txBody>
      </p:sp>
      <p:sp>
        <p:nvSpPr>
          <p:cNvPr id="297" name="TextBox 296"/>
          <p:cNvSpPr txBox="1"/>
          <p:nvPr/>
        </p:nvSpPr>
        <p:spPr>
          <a:xfrm>
            <a:off x="8512920" y="4596840"/>
            <a:ext cx="3832560" cy="427320"/>
          </a:xfrm>
          <a:prstGeom prst="rect">
            <a:avLst/>
          </a:prstGeom>
          <a:noFill/>
          <a:ln w="0">
            <a:noFill/>
          </a:ln>
        </p:spPr>
        <p:txBody>
          <a:bodyPr wrap="none" lIns="90000" tIns="45000" rIns="90000" bIns="45000" anchor="t">
            <a:spAutoFit/>
          </a:bodyPr>
          <a:lstStyle/>
          <a:p>
            <a:fld id="{6E73B8BE-1DD3-41F5-9A75-8655C902EB7B}" type="slidenum">
              <a:rPr lang="en-US" sz="1800" b="0" u="none" strike="noStrike">
                <a:solidFill>
                  <a:srgbClr val="000000"/>
                </a:solidFill>
                <a:effectLst/>
                <a:uFillTx/>
                <a:latin typeface="Arial"/>
              </a:rPr>
              <a:t>47</a:t>
            </a:fld>
            <a:endParaRPr lang="en-US" sz="1800" b="0" u="none" strike="noStrike">
              <a:solidFill>
                <a:srgbClr val="000000"/>
              </a:solidFill>
              <a:effectLst/>
              <a:uFillTx/>
              <a:latin typeface="Arial"/>
            </a:endParaRPr>
          </a:p>
        </p:txBody>
      </p:sp>
      <p:sp>
        <p:nvSpPr>
          <p:cNvPr id="298" name="TextBox 297"/>
          <p:cNvSpPr txBox="1"/>
          <p:nvPr/>
        </p:nvSpPr>
        <p:spPr>
          <a:xfrm>
            <a:off x="228600" y="4597560"/>
            <a:ext cx="3886200" cy="431640"/>
          </a:xfrm>
          <a:prstGeom prst="rect">
            <a:avLst/>
          </a:prstGeom>
          <a:noFill/>
          <a:ln w="0">
            <a:noFill/>
          </a:ln>
        </p:spPr>
        <p:txBody>
          <a:bodyPr lIns="90000" tIns="45000" rIns="90000" bIns="45000" anchor="ctr">
            <a:spAutoFit/>
          </a:bodyPr>
          <a:lstStyle/>
          <a:p>
            <a:pPr algn="ctr"/>
            <a:r>
              <a:rPr lang="en-US" sz="1100" b="0" u="none" strike="noStrike">
                <a:solidFill>
                  <a:srgbClr val="000000"/>
                </a:solidFill>
                <a:effectLst/>
                <a:uFillTx/>
                <a:latin typeface="Arial"/>
              </a:rPr>
              <a:t>Figure 18: Hilly Terrain Observed Costmap with Confidence and Error Shown (online learning time per step = 4.9 ms)</a:t>
            </a:r>
          </a:p>
        </p:txBody>
      </p:sp>
      <p:sp>
        <p:nvSpPr>
          <p:cNvPr id="299" name="TextBox 298"/>
          <p:cNvSpPr txBox="1"/>
          <p:nvPr/>
        </p:nvSpPr>
        <p:spPr>
          <a:xfrm>
            <a:off x="4572000" y="391176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19: Rendered Digital Elevation Map</a:t>
            </a:r>
          </a:p>
        </p:txBody>
      </p:sp>
      <p:pic>
        <p:nvPicPr>
          <p:cNvPr id="300" name="Picture 299"/>
          <p:cNvPicPr/>
          <p:nvPr/>
        </p:nvPicPr>
        <p:blipFill>
          <a:blip r:embed="rId2"/>
          <a:stretch/>
        </p:blipFill>
        <p:spPr>
          <a:xfrm>
            <a:off x="291960" y="1310040"/>
            <a:ext cx="3914280" cy="3261960"/>
          </a:xfrm>
          <a:prstGeom prst="rect">
            <a:avLst/>
          </a:prstGeom>
          <a:noFill/>
          <a:ln w="0">
            <a:noFill/>
          </a:ln>
        </p:spPr>
      </p:pic>
      <p:pic>
        <p:nvPicPr>
          <p:cNvPr id="301" name="Picture 300"/>
          <p:cNvPicPr/>
          <p:nvPr/>
        </p:nvPicPr>
        <p:blipFill>
          <a:blip r:embed="rId3"/>
          <a:stretch/>
        </p:blipFill>
        <p:spPr>
          <a:xfrm>
            <a:off x="4343400" y="1371600"/>
            <a:ext cx="4311000" cy="2514600"/>
          </a:xfrm>
          <a:prstGeom prst="rect">
            <a:avLst/>
          </a:prstGeom>
          <a:noFill/>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Example (3/5)</a:t>
            </a:r>
            <a:endParaRPr lang="en-US" sz="3200" b="0" u="none" strike="noStrike">
              <a:solidFill>
                <a:srgbClr val="BE5700"/>
              </a:solidFill>
              <a:effectLst/>
              <a:uFillTx/>
              <a:latin typeface="Arial"/>
            </a:endParaRPr>
          </a:p>
        </p:txBody>
      </p:sp>
      <p:sp>
        <p:nvSpPr>
          <p:cNvPr id="303" name="TextBox 302"/>
          <p:cNvSpPr txBox="1"/>
          <p:nvPr/>
        </p:nvSpPr>
        <p:spPr>
          <a:xfrm>
            <a:off x="8512920" y="4596840"/>
            <a:ext cx="3832560" cy="427320"/>
          </a:xfrm>
          <a:prstGeom prst="rect">
            <a:avLst/>
          </a:prstGeom>
          <a:noFill/>
          <a:ln w="0">
            <a:noFill/>
          </a:ln>
        </p:spPr>
        <p:txBody>
          <a:bodyPr wrap="none" lIns="90000" tIns="45000" rIns="90000" bIns="45000" anchor="t">
            <a:spAutoFit/>
          </a:bodyPr>
          <a:lstStyle/>
          <a:p>
            <a:fld id="{28362CC2-EFF5-49F1-9532-376A36C60842}" type="slidenum">
              <a:rPr lang="en-US" sz="1800" b="0" u="none" strike="noStrike">
                <a:solidFill>
                  <a:srgbClr val="000000"/>
                </a:solidFill>
                <a:effectLst/>
                <a:uFillTx/>
                <a:latin typeface="Arial"/>
              </a:rPr>
              <a:t>48</a:t>
            </a:fld>
            <a:endParaRPr lang="en-US" sz="1800" b="0" u="none" strike="noStrike">
              <a:solidFill>
                <a:srgbClr val="000000"/>
              </a:solidFill>
              <a:effectLst/>
              <a:uFillTx/>
              <a:latin typeface="Arial"/>
            </a:endParaRPr>
          </a:p>
        </p:txBody>
      </p:sp>
      <p:sp>
        <p:nvSpPr>
          <p:cNvPr id="304" name="TextBox 303"/>
          <p:cNvSpPr txBox="1"/>
          <p:nvPr/>
        </p:nvSpPr>
        <p:spPr>
          <a:xfrm>
            <a:off x="228600" y="4572000"/>
            <a:ext cx="41148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20: Bird’s Eye View of Rough Terrain Simulation</a:t>
            </a:r>
          </a:p>
        </p:txBody>
      </p:sp>
      <p:sp>
        <p:nvSpPr>
          <p:cNvPr id="305" name="TextBox 304"/>
          <p:cNvSpPr txBox="1"/>
          <p:nvPr/>
        </p:nvSpPr>
        <p:spPr>
          <a:xfrm>
            <a:off x="4343400" y="457200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21: Camera POV of Rough Terrain Simulation</a:t>
            </a:r>
          </a:p>
        </p:txBody>
      </p:sp>
      <p:pic>
        <p:nvPicPr>
          <p:cNvPr id="306" name="Picture 305">
            <a:hlinkClick r:id="" action="ppaction://media"/>
          </p:cNvPr>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 y="1145160"/>
            <a:ext cx="3855960" cy="3426840"/>
          </a:xfrm>
          <a:prstGeom prst="rect">
            <a:avLst/>
          </a:prstGeom>
          <a:ln w="0">
            <a:noFill/>
          </a:ln>
        </p:spPr>
      </p:pic>
      <p:pic>
        <p:nvPicPr>
          <p:cNvPr id="307" name="Picture 306">
            <a:hlinkClick r:id="" action="ppaction://media"/>
          </p:cNvPr>
          <p:cNvPicPr/>
          <p:nvPr>
            <a:videoFile r:link="rId4"/>
            <p:extLst>
              <p:ext uri="{DAA4B4D4-6D71-4841-9C94-3DE7FCFB9230}">
                <p14:media xmlns:p14="http://schemas.microsoft.com/office/powerpoint/2010/main" r:embed="rId3"/>
              </p:ext>
            </p:extLst>
          </p:nvPr>
        </p:nvPicPr>
        <p:blipFill>
          <a:blip r:embed="rId6"/>
          <a:stretch>
            <a:fillRect/>
          </a:stretch>
        </p:blipFill>
        <p:spPr>
          <a:xfrm>
            <a:off x="4313160" y="1448280"/>
            <a:ext cx="3860280" cy="2895120"/>
          </a:xfrm>
          <a:prstGeom prst="rect">
            <a:avLst/>
          </a:prstGeom>
          <a:ln w="0">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Example (4/5)</a:t>
            </a:r>
            <a:endParaRPr lang="en-US" sz="3200" b="0" u="none" strike="noStrike">
              <a:solidFill>
                <a:srgbClr val="BE5700"/>
              </a:solidFill>
              <a:effectLst/>
              <a:uFillTx/>
              <a:latin typeface="Arial"/>
            </a:endParaRPr>
          </a:p>
        </p:txBody>
      </p:sp>
      <p:sp>
        <p:nvSpPr>
          <p:cNvPr id="309" name="TextBox 308"/>
          <p:cNvSpPr txBox="1"/>
          <p:nvPr/>
        </p:nvSpPr>
        <p:spPr>
          <a:xfrm>
            <a:off x="8512920" y="4596840"/>
            <a:ext cx="3832560" cy="427320"/>
          </a:xfrm>
          <a:prstGeom prst="rect">
            <a:avLst/>
          </a:prstGeom>
          <a:noFill/>
          <a:ln w="0">
            <a:noFill/>
          </a:ln>
        </p:spPr>
        <p:txBody>
          <a:bodyPr wrap="none" lIns="90000" tIns="45000" rIns="90000" bIns="45000" anchor="t">
            <a:spAutoFit/>
          </a:bodyPr>
          <a:lstStyle/>
          <a:p>
            <a:fld id="{EA8E4309-3348-41E0-A1FA-AE4DA9006D4A}" type="slidenum">
              <a:rPr lang="en-US" sz="1800" b="0" u="none" strike="noStrike">
                <a:solidFill>
                  <a:srgbClr val="000000"/>
                </a:solidFill>
                <a:effectLst/>
                <a:uFillTx/>
                <a:latin typeface="Arial"/>
              </a:rPr>
              <a:t>49</a:t>
            </a:fld>
            <a:endParaRPr lang="en-US" sz="1800" b="0" u="none" strike="noStrike">
              <a:solidFill>
                <a:srgbClr val="000000"/>
              </a:solidFill>
              <a:effectLst/>
              <a:uFillTx/>
              <a:latin typeface="Arial"/>
            </a:endParaRPr>
          </a:p>
        </p:txBody>
      </p:sp>
      <p:sp>
        <p:nvSpPr>
          <p:cNvPr id="310" name="TextBox 309"/>
          <p:cNvSpPr txBox="1"/>
          <p:nvPr/>
        </p:nvSpPr>
        <p:spPr>
          <a:xfrm>
            <a:off x="91440" y="4512240"/>
            <a:ext cx="4251960" cy="602280"/>
          </a:xfrm>
          <a:prstGeom prst="rect">
            <a:avLst/>
          </a:prstGeom>
          <a:noFill/>
          <a:ln w="0">
            <a:noFill/>
          </a:ln>
        </p:spPr>
        <p:txBody>
          <a:bodyPr lIns="90000" tIns="45000" rIns="90000" bIns="45000" anchor="ctr">
            <a:spAutoFit/>
          </a:bodyPr>
          <a:lstStyle/>
          <a:p>
            <a:pPr algn="ctr">
              <a:lnSpc>
                <a:spcPct val="100000"/>
              </a:lnSpc>
            </a:pPr>
            <a:r>
              <a:rPr lang="en-US" sz="1100" b="0" u="none" strike="noStrike">
                <a:solidFill>
                  <a:srgbClr val="000000"/>
                </a:solidFill>
                <a:effectLst/>
                <a:uFillTx/>
                <a:latin typeface="Arial"/>
                <a:ea typeface="DejaVu Sans"/>
              </a:rPr>
              <a:t>Figure 22: Rough Terrain Observed Costmap with Confidence and Error Shown </a:t>
            </a:r>
            <a:r>
              <a:rPr lang="en-US" sz="1100" b="0" u="none" strike="noStrike">
                <a:solidFill>
                  <a:srgbClr val="000000"/>
                </a:solidFill>
                <a:effectLst/>
                <a:uFillTx/>
                <a:latin typeface="Arial"/>
              </a:rPr>
              <a:t>(online learning time per step = 4.9 ms)</a:t>
            </a:r>
          </a:p>
        </p:txBody>
      </p:sp>
      <p:sp>
        <p:nvSpPr>
          <p:cNvPr id="311" name="TextBox 310"/>
          <p:cNvSpPr txBox="1"/>
          <p:nvPr/>
        </p:nvSpPr>
        <p:spPr>
          <a:xfrm>
            <a:off x="4572000" y="391176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23: Rendered Digital Elevation Map</a:t>
            </a:r>
          </a:p>
        </p:txBody>
      </p:sp>
      <p:pic>
        <p:nvPicPr>
          <p:cNvPr id="312" name="Picture 311"/>
          <p:cNvPicPr/>
          <p:nvPr/>
        </p:nvPicPr>
        <p:blipFill>
          <a:blip r:embed="rId2"/>
          <a:stretch/>
        </p:blipFill>
        <p:spPr>
          <a:xfrm>
            <a:off x="4343400" y="1352520"/>
            <a:ext cx="4343400" cy="2533680"/>
          </a:xfrm>
          <a:prstGeom prst="rect">
            <a:avLst/>
          </a:prstGeom>
          <a:noFill/>
          <a:ln w="0">
            <a:noFill/>
          </a:ln>
        </p:spPr>
      </p:pic>
      <p:pic>
        <p:nvPicPr>
          <p:cNvPr id="313" name="Picture 312"/>
          <p:cNvPicPr/>
          <p:nvPr/>
        </p:nvPicPr>
        <p:blipFill>
          <a:blip r:embed="rId3"/>
          <a:stretch/>
        </p:blipFill>
        <p:spPr>
          <a:xfrm>
            <a:off x="291960" y="1310040"/>
            <a:ext cx="3914280" cy="3261960"/>
          </a:xfrm>
          <a:prstGeom prst="rect">
            <a:avLst/>
          </a:prstGeom>
          <a:noFill/>
          <a:ln w="0">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Simulation Example (5/5)</a:t>
            </a:r>
            <a:endParaRPr lang="en-US" sz="3200" b="0" u="none" strike="noStrike">
              <a:solidFill>
                <a:srgbClr val="BE5700"/>
              </a:solidFill>
              <a:effectLst/>
              <a:uFillTx/>
              <a:latin typeface="Arial"/>
            </a:endParaRPr>
          </a:p>
        </p:txBody>
      </p:sp>
      <p:sp>
        <p:nvSpPr>
          <p:cNvPr id="315" name="TextBox 314"/>
          <p:cNvSpPr txBox="1"/>
          <p:nvPr/>
        </p:nvSpPr>
        <p:spPr>
          <a:xfrm>
            <a:off x="8512920" y="4596840"/>
            <a:ext cx="3832560" cy="427320"/>
          </a:xfrm>
          <a:prstGeom prst="rect">
            <a:avLst/>
          </a:prstGeom>
          <a:noFill/>
          <a:ln w="0">
            <a:noFill/>
          </a:ln>
        </p:spPr>
        <p:txBody>
          <a:bodyPr wrap="none" lIns="90000" tIns="45000" rIns="90000" bIns="45000" anchor="t">
            <a:spAutoFit/>
          </a:bodyPr>
          <a:lstStyle/>
          <a:p>
            <a:fld id="{2CC912A2-4F24-44FC-A857-CFA0132296DE}" type="slidenum">
              <a:rPr lang="en-US" sz="1800" b="0" u="none" strike="noStrike">
                <a:solidFill>
                  <a:srgbClr val="000000"/>
                </a:solidFill>
                <a:effectLst/>
                <a:uFillTx/>
                <a:latin typeface="Arial"/>
              </a:rPr>
              <a:t>50</a:t>
            </a:fld>
            <a:endParaRPr lang="en-US" sz="1800" b="0" u="none" strike="noStrike">
              <a:solidFill>
                <a:srgbClr val="000000"/>
              </a:solidFill>
              <a:effectLst/>
              <a:uFillTx/>
              <a:latin typeface="Arial"/>
            </a:endParaRPr>
          </a:p>
        </p:txBody>
      </p:sp>
      <p:sp>
        <p:nvSpPr>
          <p:cNvPr id="316" name="TextBox 315"/>
          <p:cNvSpPr txBox="1"/>
          <p:nvPr/>
        </p:nvSpPr>
        <p:spPr>
          <a:xfrm>
            <a:off x="228600" y="4572000"/>
            <a:ext cx="3886200" cy="431640"/>
          </a:xfrm>
          <a:prstGeom prst="rect">
            <a:avLst/>
          </a:prstGeom>
          <a:noFill/>
          <a:ln w="0">
            <a:noFill/>
          </a:ln>
        </p:spPr>
        <p:txBody>
          <a:bodyPr lIns="90000" tIns="45000" rIns="90000" bIns="45000" anchor="ctr">
            <a:spAutoFit/>
          </a:bodyPr>
          <a:lstStyle/>
          <a:p>
            <a:pPr algn="ctr"/>
            <a:r>
              <a:rPr lang="en-US" sz="1200" b="0" u="none" strike="noStrike">
                <a:solidFill>
                  <a:srgbClr val="000000"/>
                </a:solidFill>
                <a:effectLst/>
                <a:uFillTx/>
                <a:latin typeface="Arial"/>
              </a:rPr>
              <a:t>Figure 24: Covariance, Velocity, and Orientation over Time in Hilly Terrain</a:t>
            </a:r>
          </a:p>
        </p:txBody>
      </p:sp>
      <p:pic>
        <p:nvPicPr>
          <p:cNvPr id="317" name="Picture 316"/>
          <p:cNvPicPr/>
          <p:nvPr/>
        </p:nvPicPr>
        <p:blipFill>
          <a:blip r:embed="rId2"/>
          <a:stretch/>
        </p:blipFill>
        <p:spPr>
          <a:xfrm>
            <a:off x="457200" y="1371600"/>
            <a:ext cx="3538800" cy="3033360"/>
          </a:xfrm>
          <a:prstGeom prst="rect">
            <a:avLst/>
          </a:prstGeom>
          <a:noFill/>
          <a:ln w="0">
            <a:noFill/>
          </a:ln>
        </p:spPr>
      </p:pic>
      <p:pic>
        <p:nvPicPr>
          <p:cNvPr id="318" name="Picture 317"/>
          <p:cNvPicPr/>
          <p:nvPr/>
        </p:nvPicPr>
        <p:blipFill>
          <a:blip r:embed="rId3"/>
          <a:stretch/>
        </p:blipFill>
        <p:spPr>
          <a:xfrm>
            <a:off x="4343400" y="1371600"/>
            <a:ext cx="3534120" cy="3029400"/>
          </a:xfrm>
          <a:prstGeom prst="rect">
            <a:avLst/>
          </a:prstGeom>
          <a:noFill/>
          <a:ln w="0">
            <a:noFill/>
          </a:ln>
        </p:spPr>
      </p:pic>
      <p:sp>
        <p:nvSpPr>
          <p:cNvPr id="319" name="TextBox 318"/>
          <p:cNvSpPr txBox="1"/>
          <p:nvPr/>
        </p:nvSpPr>
        <p:spPr>
          <a:xfrm>
            <a:off x="4343400" y="4572000"/>
            <a:ext cx="3886200" cy="431640"/>
          </a:xfrm>
          <a:prstGeom prst="rect">
            <a:avLst/>
          </a:prstGeom>
          <a:noFill/>
          <a:ln w="0">
            <a:noFill/>
          </a:ln>
        </p:spPr>
        <p:txBody>
          <a:bodyPr lIns="90000" tIns="45000" rIns="90000" bIns="45000" anchor="ctr">
            <a:spAutoFit/>
          </a:bodyPr>
          <a:lstStyle/>
          <a:p>
            <a:pPr algn="ctr">
              <a:lnSpc>
                <a:spcPct val="100000"/>
              </a:lnSpc>
            </a:pPr>
            <a:r>
              <a:rPr lang="en-US" sz="1200" b="0" u="none" strike="noStrike">
                <a:solidFill>
                  <a:srgbClr val="000000"/>
                </a:solidFill>
                <a:effectLst/>
                <a:uFillTx/>
                <a:latin typeface="Arial"/>
                <a:ea typeface="DejaVu Sans"/>
              </a:rPr>
              <a:t>Figure 25: Covariance, Velocity, and Orientation over Time in Rough Terrain</a:t>
            </a:r>
            <a:endParaRPr lang="en-US" sz="120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Results</a:t>
            </a:r>
            <a:endParaRPr lang="en-US" sz="3200" b="0" u="none" strike="noStrike">
              <a:solidFill>
                <a:srgbClr val="BE5700"/>
              </a:solidFill>
              <a:effectLst/>
              <a:uFillTx/>
              <a:latin typeface="Arial"/>
            </a:endParaRPr>
          </a:p>
        </p:txBody>
      </p:sp>
      <p:sp>
        <p:nvSpPr>
          <p:cNvPr id="321" name="TextBox 320"/>
          <p:cNvSpPr txBox="1"/>
          <p:nvPr/>
        </p:nvSpPr>
        <p:spPr>
          <a:xfrm>
            <a:off x="8512920" y="4596840"/>
            <a:ext cx="3832560" cy="427320"/>
          </a:xfrm>
          <a:prstGeom prst="rect">
            <a:avLst/>
          </a:prstGeom>
          <a:noFill/>
          <a:ln w="0">
            <a:noFill/>
          </a:ln>
        </p:spPr>
        <p:txBody>
          <a:bodyPr wrap="none" lIns="90000" tIns="45000" rIns="90000" bIns="45000" anchor="t">
            <a:spAutoFit/>
          </a:bodyPr>
          <a:lstStyle/>
          <a:p>
            <a:fld id="{046F7693-BFA5-4FE6-BFA9-BF3802C1C8A2}" type="slidenum">
              <a:rPr lang="en-US" sz="1800" b="0" u="none" strike="noStrike">
                <a:solidFill>
                  <a:srgbClr val="000000"/>
                </a:solidFill>
                <a:effectLst/>
                <a:uFillTx/>
                <a:latin typeface="Arial"/>
              </a:rPr>
              <a:t>51</a:t>
            </a:fld>
            <a:endParaRPr lang="en-US" sz="1800" b="0" u="none" strike="noStrike">
              <a:solidFill>
                <a:srgbClr val="000000"/>
              </a:solidFill>
              <a:effectLst/>
              <a:uFillTx/>
              <a:latin typeface="Arial"/>
            </a:endParaRPr>
          </a:p>
        </p:txBody>
      </p:sp>
      <p:sp>
        <p:nvSpPr>
          <p:cNvPr id="322" name="PlaceHolder 2"/>
          <p:cNvSpPr>
            <a:spLocks noGrp="1"/>
          </p:cNvSpPr>
          <p:nvPr>
            <p:ph/>
          </p:nvPr>
        </p:nvSpPr>
        <p:spPr>
          <a:xfrm>
            <a:off x="228600" y="1200600"/>
            <a:ext cx="8458200" cy="3600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200" b="0" u="none" strike="noStrike">
                <a:solidFill>
                  <a:srgbClr val="333F48"/>
                </a:solidFill>
                <a:effectLst/>
                <a:uFillTx/>
                <a:latin typeface="Arial"/>
              </a:rPr>
              <a:t>Simulations were conducted with 15,000 samples, 40-step time horizon at Δt = 0.05 s, and 8 obstacles (7 dynamic, 1 static)</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Achieved MPPI solve step time of 30.6 ms and online learning of 5-6 ms (rougher terrain → more cells to learn)</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Total control loop frequency = 27.7 Hz</a:t>
            </a:r>
          </a:p>
          <a:p>
            <a:pPr marL="1296000" lvl="2" indent="-288000">
              <a:spcBef>
                <a:spcPts val="850"/>
              </a:spcBef>
              <a:buClr>
                <a:srgbClr val="000000"/>
              </a:buClr>
              <a:buSzPct val="45000"/>
              <a:buFont typeface="Wingdings" charset="2"/>
              <a:buChar char=""/>
            </a:pPr>
            <a:r>
              <a:rPr lang="en-US" sz="1600" b="0" u="none" strike="noStrike">
                <a:solidFill>
                  <a:srgbClr val="333F48"/>
                </a:solidFill>
                <a:effectLst/>
                <a:uFillTx/>
                <a:latin typeface="Arial"/>
              </a:rPr>
              <a:t>Exceeds real-time threshold frequency of 20 Hz</a:t>
            </a:r>
          </a:p>
          <a:p>
            <a:pPr marL="864000" lvl="1" indent="-324000">
              <a:spcBef>
                <a:spcPts val="1134"/>
              </a:spcBef>
              <a:buClr>
                <a:srgbClr val="000000"/>
              </a:buClr>
              <a:buSzPct val="75000"/>
              <a:buFont typeface="Symbol" charset="2"/>
              <a:buChar char=""/>
            </a:pPr>
            <a:r>
              <a:rPr lang="en-US" sz="1800" b="0" u="none" strike="noStrike">
                <a:solidFill>
                  <a:srgbClr val="333F48"/>
                </a:solidFill>
                <a:effectLst/>
                <a:uFillTx/>
                <a:latin typeface="Arial"/>
              </a:rPr>
              <a:t>Over 100 simulations, zero failures occurred via obstacle collision</a:t>
            </a:r>
          </a:p>
          <a:p>
            <a:pPr marL="1296000" lvl="2" indent="-288000">
              <a:spcBef>
                <a:spcPts val="850"/>
              </a:spcBef>
              <a:buClr>
                <a:srgbClr val="000000"/>
              </a:buClr>
              <a:buSzPct val="45000"/>
              <a:buFont typeface="Wingdings" charset="2"/>
              <a:buChar char=""/>
            </a:pPr>
            <a:r>
              <a:rPr lang="en-US" sz="1600" b="0" u="none" strike="noStrike">
                <a:solidFill>
                  <a:srgbClr val="333F48"/>
                </a:solidFill>
                <a:effectLst/>
                <a:uFillTx/>
                <a:latin typeface="Arial"/>
              </a:rPr>
              <a:t>Average safe trajectory rate = 0.877 → collision probability = 0.123</a:t>
            </a:r>
          </a:p>
          <a:p>
            <a:pPr marL="1296000" lvl="2" indent="-288000">
              <a:spcBef>
                <a:spcPts val="850"/>
              </a:spcBef>
              <a:buClr>
                <a:srgbClr val="000000"/>
              </a:buClr>
              <a:buSzPct val="45000"/>
              <a:buFont typeface="Wingdings" charset="2"/>
              <a:buChar char=""/>
            </a:pPr>
            <a:r>
              <a:rPr lang="en-US" sz="1600" b="0" u="none" strike="noStrike">
                <a:solidFill>
                  <a:srgbClr val="333F48"/>
                </a:solidFill>
                <a:effectLst/>
                <a:uFillTx/>
                <a:latin typeface="Arial"/>
              </a:rPr>
              <a:t>Maximum robot pitch = 19.8</a:t>
            </a:r>
            <a:r>
              <a:rPr lang="en-US" sz="1600" b="0" u="none" strike="noStrike" baseline="33000">
                <a:solidFill>
                  <a:srgbClr val="333F48"/>
                </a:solidFill>
                <a:effectLst/>
                <a:uFillTx/>
                <a:latin typeface="Arial"/>
              </a:rPr>
              <a:t>o</a:t>
            </a:r>
            <a:r>
              <a:rPr lang="en-US" sz="1600" b="0" u="none" strike="noStrike">
                <a:solidFill>
                  <a:srgbClr val="333F48"/>
                </a:solidFill>
                <a:effectLst/>
                <a:uFillTx/>
                <a:latin typeface="Arial"/>
              </a:rPr>
              <a:t>, Maximum robot roll = 14.2</a:t>
            </a:r>
            <a:r>
              <a:rPr lang="en-US" sz="1600" b="0" u="none" strike="noStrike" baseline="33000">
                <a:solidFill>
                  <a:srgbClr val="333F48"/>
                </a:solidFill>
                <a:effectLst/>
                <a:uFillTx/>
                <a:latin typeface="Arial"/>
              </a:rPr>
              <a:t>o</a:t>
            </a:r>
            <a:endParaRPr lang="en-US" sz="1600" b="0" u="none" strike="noStrike">
              <a:solidFill>
                <a:srgbClr val="333F48"/>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Future Work</a:t>
            </a:r>
            <a:endParaRPr lang="en-US" sz="3200" b="0" u="none" strike="noStrike">
              <a:solidFill>
                <a:srgbClr val="BE5700"/>
              </a:solidFill>
              <a:effectLst/>
              <a:uFillTx/>
              <a:latin typeface="Arial"/>
            </a:endParaRPr>
          </a:p>
        </p:txBody>
      </p:sp>
      <p:sp>
        <p:nvSpPr>
          <p:cNvPr id="324" name="TextBox 323"/>
          <p:cNvSpPr txBox="1"/>
          <p:nvPr/>
        </p:nvSpPr>
        <p:spPr>
          <a:xfrm>
            <a:off x="8512920" y="4596840"/>
            <a:ext cx="3832560" cy="427320"/>
          </a:xfrm>
          <a:prstGeom prst="rect">
            <a:avLst/>
          </a:prstGeom>
          <a:noFill/>
          <a:ln w="0">
            <a:noFill/>
          </a:ln>
        </p:spPr>
        <p:txBody>
          <a:bodyPr wrap="none" lIns="90000" tIns="45000" rIns="90000" bIns="45000" anchor="t">
            <a:spAutoFit/>
          </a:bodyPr>
          <a:lstStyle/>
          <a:p>
            <a:fld id="{11747913-98D5-4ACC-8948-A91C5EF92BCF}" type="slidenum">
              <a:rPr lang="en-US" sz="1800" b="0" u="none" strike="noStrike">
                <a:solidFill>
                  <a:srgbClr val="000000"/>
                </a:solidFill>
                <a:effectLst/>
                <a:uFillTx/>
                <a:latin typeface="Arial"/>
              </a:rPr>
              <a:t>52</a:t>
            </a:fld>
            <a:endParaRPr lang="en-US" sz="1800" b="0" u="none" strike="noStrike">
              <a:solidFill>
                <a:srgbClr val="000000"/>
              </a:solidFill>
              <a:effectLst/>
              <a:uFillTx/>
              <a:latin typeface="Arial"/>
            </a:endParaRPr>
          </a:p>
        </p:txBody>
      </p:sp>
      <p:sp>
        <p:nvSpPr>
          <p:cNvPr id="325" name="PlaceHolder 2"/>
          <p:cNvSpPr>
            <a:spLocks noGrp="1"/>
          </p:cNvSpPr>
          <p:nvPr>
            <p:ph/>
          </p:nvPr>
        </p:nvSpPr>
        <p:spPr>
          <a:xfrm>
            <a:off x="228600" y="1200600"/>
            <a:ext cx="8458200" cy="3600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200" b="0" u="none" strike="noStrike">
                <a:solidFill>
                  <a:srgbClr val="333F48"/>
                </a:solidFill>
                <a:effectLst/>
                <a:uFillTx/>
                <a:latin typeface="Arial"/>
              </a:rPr>
              <a:t>Eliminate omniscience in obstacle detection</a:t>
            </a: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Implement a method of observing dynamic obstacles on camera</a:t>
            </a:r>
          </a:p>
          <a:p>
            <a:pPr marL="864000" lvl="1" indent="-324000">
              <a:spcBef>
                <a:spcPts val="1134"/>
              </a:spcBef>
              <a:buClr>
                <a:srgbClr val="000000"/>
              </a:buClr>
              <a:buSzPct val="75000"/>
              <a:buFont typeface="Symbol" charset="2"/>
              <a:buChar char=""/>
            </a:pPr>
            <a:r>
              <a:rPr lang="en-US" sz="2000" b="0" u="none" strike="noStrike">
                <a:solidFill>
                  <a:srgbClr val="333F48"/>
                </a:solidFill>
                <a:effectLst/>
                <a:uFillTx/>
                <a:latin typeface="Arial"/>
              </a:rPr>
              <a:t>Adjust computation time depending on number of observed static and dynamic obstacles</a:t>
            </a:r>
          </a:p>
          <a:p>
            <a:pPr marL="432000" indent="-324000">
              <a:spcBef>
                <a:spcPts val="1417"/>
              </a:spcBef>
              <a:buClr>
                <a:srgbClr val="000000"/>
              </a:buClr>
              <a:buSzPct val="45000"/>
              <a:buFont typeface="Wingdings" charset="2"/>
              <a:buChar char=""/>
            </a:pPr>
            <a:r>
              <a:rPr lang="en-US" sz="2200" b="0" u="none" strike="noStrike">
                <a:solidFill>
                  <a:srgbClr val="333F48"/>
                </a:solidFill>
                <a:effectLst/>
                <a:uFillTx/>
                <a:latin typeface="Arial"/>
              </a:rPr>
              <a:t>Develop and implement robust safety measures to guarantee safe navigation [5]</a:t>
            </a:r>
          </a:p>
          <a:p>
            <a:pPr marL="432000" indent="-324000">
              <a:spcBef>
                <a:spcPts val="1417"/>
              </a:spcBef>
              <a:buClr>
                <a:srgbClr val="000000"/>
              </a:buClr>
              <a:buSzPct val="45000"/>
              <a:buFont typeface="Wingdings" charset="2"/>
              <a:buChar char=""/>
            </a:pPr>
            <a:r>
              <a:rPr lang="en-US" sz="2200" b="0" u="none" strike="noStrike">
                <a:solidFill>
                  <a:srgbClr val="333F48"/>
                </a:solidFill>
                <a:effectLst/>
                <a:uFillTx/>
                <a:latin typeface="Arial"/>
              </a:rPr>
              <a:t> Accelerate obstacle computation to guarantee real-time performance [6]</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cxnSp>
        <p:nvCxnSpPr>
          <p:cNvPr id="326" name="Straight Connector 6"/>
          <p:cNvCxnSpPr/>
          <p:nvPr/>
        </p:nvCxnSpPr>
        <p:spPr>
          <a:xfrm>
            <a:off x="628560" y="3105000"/>
            <a:ext cx="5619960" cy="360"/>
          </a:xfrm>
          <a:prstGeom prst="straightConnector1">
            <a:avLst/>
          </a:prstGeom>
          <a:ln w="19080">
            <a:solidFill>
              <a:srgbClr val="FFFFFF"/>
            </a:solidFill>
            <a:round/>
          </a:ln>
        </p:spPr>
      </p:cxnSp>
      <p:sp>
        <p:nvSpPr>
          <p:cNvPr id="327" name="Title Placeholder 8"/>
          <p:cNvSpPr/>
          <p:nvPr/>
        </p:nvSpPr>
        <p:spPr>
          <a:xfrm>
            <a:off x="502920" y="1371600"/>
            <a:ext cx="7886520" cy="17521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ts val="4000"/>
              </a:lnSpc>
            </a:pPr>
            <a:r>
              <a:rPr lang="en-US" sz="4800" b="1" u="none" strike="noStrike" cap="all">
                <a:solidFill>
                  <a:srgbClr val="FFFFFF"/>
                </a:solidFill>
                <a:effectLst/>
                <a:uFillTx/>
                <a:latin typeface="Arial Black"/>
                <a:ea typeface="Arial Black"/>
              </a:rPr>
              <a:t>Thank you!</a:t>
            </a:r>
            <a:endParaRPr lang="en-US" sz="4800" b="0" u="none" strike="noStrike">
              <a:solidFill>
                <a:srgbClr val="FFFFFF"/>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References (1/2)</a:t>
            </a:r>
            <a:endParaRPr lang="en-US" sz="3200" b="0" u="none" strike="noStrike">
              <a:solidFill>
                <a:srgbClr val="BE5700"/>
              </a:solidFill>
              <a:effectLst/>
              <a:uFillTx/>
              <a:latin typeface="Arial"/>
            </a:endParaRPr>
          </a:p>
        </p:txBody>
      </p:sp>
      <p:sp>
        <p:nvSpPr>
          <p:cNvPr id="330" name="TextBox 329"/>
          <p:cNvSpPr txBox="1"/>
          <p:nvPr/>
        </p:nvSpPr>
        <p:spPr>
          <a:xfrm>
            <a:off x="8512920" y="4596840"/>
            <a:ext cx="3832560" cy="427320"/>
          </a:xfrm>
          <a:prstGeom prst="rect">
            <a:avLst/>
          </a:prstGeom>
          <a:noFill/>
          <a:ln w="0">
            <a:noFill/>
          </a:ln>
        </p:spPr>
        <p:txBody>
          <a:bodyPr wrap="none" lIns="90000" tIns="45000" rIns="90000" bIns="45000" anchor="t">
            <a:spAutoFit/>
          </a:bodyPr>
          <a:lstStyle/>
          <a:p>
            <a:fld id="{8196ED3A-60C0-43F6-807B-3B5B0D678FB6}" type="slidenum">
              <a:rPr lang="en-US" sz="1800" b="0" u="none" strike="noStrike">
                <a:solidFill>
                  <a:srgbClr val="000000"/>
                </a:solidFill>
                <a:effectLst/>
                <a:uFillTx/>
                <a:latin typeface="Arial"/>
              </a:rPr>
              <a:t>54</a:t>
            </a:fld>
            <a:endParaRPr lang="en-US" sz="1800" b="0" u="none" strike="noStrike">
              <a:solidFill>
                <a:srgbClr val="000000"/>
              </a:solidFill>
              <a:effectLst/>
              <a:uFillTx/>
              <a:latin typeface="Arial"/>
            </a:endParaRPr>
          </a:p>
        </p:txBody>
      </p:sp>
      <p:sp>
        <p:nvSpPr>
          <p:cNvPr id="331" name="PlaceHolder 2"/>
          <p:cNvSpPr>
            <a:spLocks noGrp="1"/>
          </p:cNvSpPr>
          <p:nvPr>
            <p:ph/>
          </p:nvPr>
        </p:nvSpPr>
        <p:spPr>
          <a:xfrm>
            <a:off x="228600" y="1236600"/>
            <a:ext cx="8458200" cy="3600000"/>
          </a:xfrm>
          <a:prstGeom prst="rect">
            <a:avLst/>
          </a:prstGeom>
          <a:noFill/>
          <a:ln w="0">
            <a:noFill/>
          </a:ln>
        </p:spPr>
        <p:txBody>
          <a:bodyPr lIns="91440" tIns="45720" rIns="91440" bIns="45720" anchor="t">
            <a:noAutofit/>
          </a:bodyPr>
          <a:lstStyle/>
          <a:p>
            <a:pPr indent="0">
              <a:spcBef>
                <a:spcPts val="1417"/>
              </a:spcBef>
              <a:buNone/>
            </a:pPr>
            <a:r>
              <a:rPr lang="en-US" sz="1800" b="0" u="none" strike="noStrike">
                <a:solidFill>
                  <a:srgbClr val="333F48"/>
                </a:solidFill>
                <a:effectLst/>
                <a:uFillTx/>
                <a:latin typeface="Arial"/>
              </a:rPr>
              <a:t>[1] Sangeeth Venu, Muralimohan Gurusamy, A comprehensive review of path planning algorithms for autonomous navigation, Results in Engineering, Volume 28, 2025, 107750, ISSN 2590-1230, </a:t>
            </a:r>
            <a:r>
              <a:rPr lang="en-US" sz="1800" b="0" u="none" strike="noStrike">
                <a:solidFill>
                  <a:srgbClr val="333F48"/>
                </a:solidFill>
                <a:effectLst/>
                <a:uFillTx/>
                <a:latin typeface="Arial"/>
                <a:hlinkClick r:id="rId2"/>
              </a:rPr>
              <a:t>https://doi.org/10.1016/j.rineng.2025.107750</a:t>
            </a:r>
            <a:r>
              <a:rPr lang="en-US" sz="1800" b="0" u="none" strike="noStrike">
                <a:solidFill>
                  <a:srgbClr val="333F48"/>
                </a:solidFill>
                <a:effectLst/>
                <a:uFillTx/>
                <a:latin typeface="Arial"/>
              </a:rPr>
              <a:t>. </a:t>
            </a:r>
          </a:p>
          <a:p>
            <a:pPr indent="0">
              <a:spcBef>
                <a:spcPts val="1417"/>
              </a:spcBef>
              <a:buNone/>
            </a:pPr>
            <a:r>
              <a:rPr lang="en-US" sz="1800" b="0" u="none" strike="noStrike">
                <a:solidFill>
                  <a:srgbClr val="333F48"/>
                </a:solidFill>
                <a:effectLst/>
                <a:uFillTx/>
                <a:latin typeface="Arial"/>
              </a:rPr>
              <a:t>[2] A. Bemporad, M. Morari, V. Dua and E. N. Pistikopoulos, "The explicit solution of model predictive control via multiparametric quadratic programming," Proceedings of the 2000 American Control Conference. ACC (IEEE Cat. No.00CH36334), Chicago, IL, USA, 2000, pp. 872-876 vol.2, doi: 10.1109/ACC.2000.876624.</a:t>
            </a:r>
          </a:p>
          <a:p>
            <a:pPr indent="0">
              <a:spcBef>
                <a:spcPts val="1417"/>
              </a:spcBef>
              <a:buNone/>
            </a:pPr>
            <a:r>
              <a:rPr lang="en-US" sz="1800" b="0" u="none" strike="noStrike">
                <a:solidFill>
                  <a:srgbClr val="333F48"/>
                </a:solidFill>
                <a:effectLst/>
                <a:uFillTx/>
                <a:latin typeface="Arial"/>
              </a:rPr>
              <a:t>[3] Homburger, H., et al. "Optimality and Suboptimality of MPPI Control in Stochastic and Deterministic Settings," in IEEE Control Systems Letters, vol. 9, pp. 763–768, 2025.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457200" y="457200"/>
            <a:ext cx="8458200" cy="856800"/>
          </a:xfrm>
          <a:prstGeom prst="rect">
            <a:avLst/>
          </a:prstGeom>
          <a:noFill/>
          <a:ln w="0">
            <a:noFill/>
          </a:ln>
        </p:spPr>
        <p:txBody>
          <a:bodyPr lIns="91440" tIns="45720" rIns="91440" bIns="45720" anchor="ctr">
            <a:noAutofit/>
          </a:bodyPr>
          <a:lstStyle/>
          <a:p>
            <a:pPr indent="0">
              <a:lnSpc>
                <a:spcPct val="100000"/>
              </a:lnSpc>
              <a:buNone/>
            </a:pPr>
            <a:r>
              <a:rPr lang="en-US" sz="3200" b="1" u="none" strike="noStrike">
                <a:solidFill>
                  <a:srgbClr val="333F48"/>
                </a:solidFill>
                <a:effectLst/>
                <a:uFillTx/>
                <a:latin typeface="Arial Black"/>
              </a:rPr>
              <a:t>References (2/2)</a:t>
            </a:r>
            <a:endParaRPr lang="en-US" sz="3200" b="0" u="none" strike="noStrike">
              <a:solidFill>
                <a:srgbClr val="BE5700"/>
              </a:solidFill>
              <a:effectLst/>
              <a:uFillTx/>
              <a:latin typeface="Arial"/>
            </a:endParaRPr>
          </a:p>
        </p:txBody>
      </p:sp>
      <p:sp>
        <p:nvSpPr>
          <p:cNvPr id="333" name="TextBox 332"/>
          <p:cNvSpPr txBox="1"/>
          <p:nvPr/>
        </p:nvSpPr>
        <p:spPr>
          <a:xfrm>
            <a:off x="8512920" y="4596840"/>
            <a:ext cx="3832560" cy="427320"/>
          </a:xfrm>
          <a:prstGeom prst="rect">
            <a:avLst/>
          </a:prstGeom>
          <a:noFill/>
          <a:ln w="0">
            <a:noFill/>
          </a:ln>
        </p:spPr>
        <p:txBody>
          <a:bodyPr wrap="none" lIns="90000" tIns="45000" rIns="90000" bIns="45000" anchor="t">
            <a:spAutoFit/>
          </a:bodyPr>
          <a:lstStyle/>
          <a:p>
            <a:fld id="{0B7A54E1-F1C1-4B9C-AE0B-C9A4774CA5D8}" type="slidenum">
              <a:rPr lang="en-US" sz="1800" b="0" u="none" strike="noStrike">
                <a:solidFill>
                  <a:srgbClr val="000000"/>
                </a:solidFill>
                <a:effectLst/>
                <a:uFillTx/>
                <a:latin typeface="Arial"/>
              </a:rPr>
              <a:t>55</a:t>
            </a:fld>
            <a:endParaRPr lang="en-US" sz="1800" b="0" u="none" strike="noStrike">
              <a:solidFill>
                <a:srgbClr val="000000"/>
              </a:solidFill>
              <a:effectLst/>
              <a:uFillTx/>
              <a:latin typeface="Arial"/>
            </a:endParaRPr>
          </a:p>
        </p:txBody>
      </p:sp>
      <p:sp>
        <p:nvSpPr>
          <p:cNvPr id="334" name="PlaceHolder 2"/>
          <p:cNvSpPr>
            <a:spLocks noGrp="1"/>
          </p:cNvSpPr>
          <p:nvPr>
            <p:ph/>
          </p:nvPr>
        </p:nvSpPr>
        <p:spPr>
          <a:xfrm>
            <a:off x="228600" y="1236600"/>
            <a:ext cx="8458200" cy="2649600"/>
          </a:xfrm>
          <a:prstGeom prst="rect">
            <a:avLst/>
          </a:prstGeom>
          <a:noFill/>
          <a:ln w="0">
            <a:noFill/>
          </a:ln>
        </p:spPr>
        <p:txBody>
          <a:bodyPr lIns="91440" tIns="45720" rIns="91440" bIns="45720" anchor="t">
            <a:noAutofit/>
          </a:bodyPr>
          <a:lstStyle/>
          <a:p>
            <a:pPr indent="0">
              <a:spcBef>
                <a:spcPts val="1417"/>
              </a:spcBef>
              <a:buNone/>
            </a:pPr>
            <a:r>
              <a:rPr lang="en-US" sz="1800" b="0" u="none" strike="noStrike">
                <a:solidFill>
                  <a:srgbClr val="333F48"/>
                </a:solidFill>
                <a:effectLst/>
                <a:uFillTx/>
                <a:latin typeface="Arial"/>
              </a:rPr>
              <a:t>[4] R. Lacroix, "Autonomous Rover Navigation on Unknown Terrains Functions and Integration," in Experimental Robotics VII, 2001, pp. 501–510.</a:t>
            </a:r>
          </a:p>
          <a:p>
            <a:pPr indent="0">
              <a:spcBef>
                <a:spcPts val="1417"/>
              </a:spcBef>
              <a:buNone/>
            </a:pPr>
            <a:r>
              <a:rPr lang="en-US" sz="1800" b="0" u="none" strike="noStrike">
                <a:solidFill>
                  <a:srgbClr val="333F48"/>
                </a:solidFill>
                <a:effectLst/>
                <a:uFillTx/>
                <a:latin typeface="Arial"/>
              </a:rPr>
              <a:t>[5] Pedram Rabiee, Jesse B. Hoagg, "Guaranteed-Safe MPPI Through Composite Control Barrier Functions for Efficient Sampling in Multi-Constrained Robotic Systems," 2024.</a:t>
            </a:r>
          </a:p>
          <a:p>
            <a:pPr indent="0">
              <a:spcBef>
                <a:spcPts val="1417"/>
              </a:spcBef>
              <a:buNone/>
            </a:pPr>
            <a:r>
              <a:rPr lang="en-US" sz="1800" b="0" u="none" strike="noStrike">
                <a:solidFill>
                  <a:srgbClr val="333F48"/>
                </a:solidFill>
                <a:effectLst/>
                <a:uFillTx/>
                <a:latin typeface="Arial"/>
              </a:rPr>
              <a:t>[6] Steven Patrick, Efstathios Bakolas, "Path Integral Control with Rollout Clustering and Dynamic Obstacles," 2024.</a:t>
            </a:r>
          </a:p>
          <a:p>
            <a:pPr indent="0">
              <a:spcBef>
                <a:spcPts val="1417"/>
              </a:spcBef>
              <a:buNone/>
            </a:pPr>
            <a:endParaRPr lang="en-US" sz="1800" b="0" u="none" strike="noStrike">
              <a:solidFill>
                <a:srgbClr val="333F48"/>
              </a:solidFill>
              <a:effectLst/>
              <a:uFillTx/>
              <a:latin typeface="Arial"/>
            </a:endParaRPr>
          </a:p>
          <a:p>
            <a:pPr indent="0">
              <a:spcBef>
                <a:spcPts val="1417"/>
              </a:spcBef>
              <a:buNone/>
            </a:pPr>
            <a:endParaRPr lang="en-US" sz="1800" b="0" u="none" strike="noStrike">
              <a:solidFill>
                <a:srgbClr val="333F48"/>
              </a:solidFill>
              <a:effectLst/>
              <a:uFillTx/>
              <a:latin typeface="Arial"/>
            </a:endParaRPr>
          </a:p>
          <a:p>
            <a:pPr indent="0">
              <a:spcBef>
                <a:spcPts val="1417"/>
              </a:spcBef>
              <a:buNone/>
            </a:pPr>
            <a:endParaRPr lang="en-US" sz="1800" b="0" u="none" strike="noStrike">
              <a:solidFill>
                <a:srgbClr val="333F48"/>
              </a:solidFill>
              <a:effectLst/>
              <a:uFillTx/>
              <a:latin typeface="Arial"/>
            </a:endParaRPr>
          </a:p>
          <a:p>
            <a:pPr indent="0">
              <a:spcBef>
                <a:spcPts val="1417"/>
              </a:spcBef>
              <a:buNone/>
            </a:pPr>
            <a:endParaRPr lang="en-US" sz="1800" b="0" u="none" strike="noStrike">
              <a:solidFill>
                <a:srgbClr val="333F48"/>
              </a:solidFill>
              <a:effectLst/>
              <a:uFillTx/>
              <a:latin typeface="Arial"/>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10095</TotalTime>
  <Words>2375</Words>
  <Application>Microsoft Office PowerPoint</Application>
  <PresentationFormat>On-screen Show (16:9)</PresentationFormat>
  <Paragraphs>296</Paragraphs>
  <Slides>55</Slides>
  <Notes>7</Notes>
  <HiddenSlides>0</HiddenSlides>
  <MMClips>4</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Arial Black</vt:lpstr>
      <vt:lpstr>OpenSymbol</vt:lpstr>
      <vt:lpstr>Symbol</vt:lpstr>
      <vt:lpstr>TexMaths Calligraphic</vt:lpstr>
      <vt:lpstr>TexMaths Roman</vt:lpstr>
      <vt:lpstr>TexMaths Symbols</vt:lpstr>
      <vt:lpstr>Times New Roman</vt:lpstr>
      <vt:lpstr>Wingdings</vt:lpstr>
      <vt:lpstr>Office</vt:lpstr>
      <vt:lpstr>PowerPoint Presentation</vt:lpstr>
      <vt:lpstr>Contents</vt:lpstr>
      <vt:lpstr>PowerPoint Presentation</vt:lpstr>
      <vt:lpstr>Overview</vt:lpstr>
      <vt:lpstr>Existing Solutions (1)</vt:lpstr>
      <vt:lpstr>Existing Solutions (2)</vt:lpstr>
      <vt:lpstr>Enabling Online Motion Planning</vt:lpstr>
      <vt:lpstr>Model-Predictive Control (MPC)</vt:lpstr>
      <vt:lpstr>MPC - Mathematical Formulation</vt:lpstr>
      <vt:lpstr>Stochastic MPC and MPPI (1/2)</vt:lpstr>
      <vt:lpstr>Stochastic MPC and MPPI (2/2)</vt:lpstr>
      <vt:lpstr>PowerPoint Presentation</vt:lpstr>
      <vt:lpstr>Introduction to MPPI</vt:lpstr>
      <vt:lpstr>General SMPC Problem Formulation</vt:lpstr>
      <vt:lpstr>MPPI Solution Algorithm (1/2)</vt:lpstr>
      <vt:lpstr>MPPI Solution Algorithm (2/2)</vt:lpstr>
      <vt:lpstr>MPPI with Static Obstacle Handling</vt:lpstr>
      <vt:lpstr>Baseline MPPI – Deployment (1/4)</vt:lpstr>
      <vt:lpstr>Baseline MPPI – Deployment (2/4)</vt:lpstr>
      <vt:lpstr>Baseline MPPI – Deployment (3/4)</vt:lpstr>
      <vt:lpstr>Baseline MPPI – Deployment (4/4)</vt:lpstr>
      <vt:lpstr>PowerPoint Presentation</vt:lpstr>
      <vt:lpstr>Entrapment Problem</vt:lpstr>
      <vt:lpstr>Solution to Entrapment</vt:lpstr>
      <vt:lpstr>Covariance Adaptation (1/2)</vt:lpstr>
      <vt:lpstr>Covariance Adaptation (2/2)</vt:lpstr>
      <vt:lpstr>Dynamic Obstacle Modeling (1/2)</vt:lpstr>
      <vt:lpstr>Dynamic Obstacle Modeling (2/2)</vt:lpstr>
      <vt:lpstr>Dynamic Obstacle Handling</vt:lpstr>
      <vt:lpstr>Simulation of Dynamic MPPI (1/2)</vt:lpstr>
      <vt:lpstr>Simulation of Dynamic MPPI (2/2)</vt:lpstr>
      <vt:lpstr>PowerPoint Presentation</vt:lpstr>
      <vt:lpstr>Quantitative Terrain Evaluation (1/4)</vt:lpstr>
      <vt:lpstr>Quantitative Terrain Evaluation (2/4)</vt:lpstr>
      <vt:lpstr>Quantitative Terrain Evaluation (3/4)</vt:lpstr>
      <vt:lpstr>Quantitative Terrain Evaluation (4/4)</vt:lpstr>
      <vt:lpstr>Qualitative Terrain Evaluation (1/3)</vt:lpstr>
      <vt:lpstr>Qualitative Terrain Evaluation (2/3)</vt:lpstr>
      <vt:lpstr>Qualitative Terrain Evaluation (3/3)</vt:lpstr>
      <vt:lpstr>Waypoint-Heuristic Motion Planning (1/4)</vt:lpstr>
      <vt:lpstr>Waypoint-Heuristic Motion Planning (2/4)</vt:lpstr>
      <vt:lpstr>Waypoint-Heuristic Motion Planning (3/4)</vt:lpstr>
      <vt:lpstr>Waypoint-Heuristic Motion Planning (4/4)</vt:lpstr>
      <vt:lpstr>PowerPoint Presentation</vt:lpstr>
      <vt:lpstr>Algorithm Block Diagram</vt:lpstr>
      <vt:lpstr>Simulation Example (1/5)</vt:lpstr>
      <vt:lpstr>Simulation Example (2/5)</vt:lpstr>
      <vt:lpstr>Simulation Example (3/5)</vt:lpstr>
      <vt:lpstr>Simulation Example (4/5)</vt:lpstr>
      <vt:lpstr>Simulation Example (5/5)</vt:lpstr>
      <vt:lpstr>Results</vt:lpstr>
      <vt:lpstr>Future Work</vt:lpstr>
      <vt:lpstr>PowerPoint Presentation</vt:lpstr>
      <vt:lpstr>References (1/2)</vt:lpstr>
      <vt:lpstr>References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subject/>
  <dc:creator>University Marketing and Creative Services</dc:creator>
  <dc:description/>
  <cp:lastModifiedBy>Akhil G</cp:lastModifiedBy>
  <cp:revision>420</cp:revision>
  <cp:lastPrinted>2011-01-24T02:49:42Z</cp:lastPrinted>
  <dcterms:created xsi:type="dcterms:W3CDTF">2011-06-30T15:04:08Z</dcterms:created>
  <dcterms:modified xsi:type="dcterms:W3CDTF">2026-05-07T04:31:06Z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5</vt:r8>
  </property>
  <property fmtid="{D5CDD505-2E9C-101B-9397-08002B2CF9AE}" pid="3" name="PresentationFormat">
    <vt:lpwstr>On-screen Show (16:9)</vt:lpwstr>
  </property>
  <property fmtid="{D5CDD505-2E9C-101B-9397-08002B2CF9AE}" pid="4" name="Slides">
    <vt:r8>8</vt:r8>
  </property>
</Properties>
</file>